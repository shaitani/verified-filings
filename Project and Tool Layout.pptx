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21"/>
    <a:srgbClr val="FFFFFF"/>
    <a:srgbClr val="B17ED8"/>
    <a:srgbClr val="B0B0B0"/>
    <a:srgbClr val="F4B183"/>
    <a:srgbClr val="B4C7E7"/>
    <a:srgbClr val="F7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AEC65-3B98-6345-4C16-ED1964736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182A2C5-7A73-3DB2-4DD1-197E91DF6C5B}"/>
              </a:ext>
            </a:extLst>
          </p:cNvPr>
          <p:cNvSpPr/>
          <p:nvPr/>
        </p:nvSpPr>
        <p:spPr>
          <a:xfrm>
            <a:off x="4190128" y="3952550"/>
            <a:ext cx="1361961" cy="19502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“caddy:alpine”</a:t>
            </a:r>
          </a:p>
          <a:p>
            <a:pPr algn="ctr"/>
            <a:endParaRPr lang="en-US" sz="2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5D0154-9275-7858-6C49-C800DB167249}"/>
              </a:ext>
            </a:extLst>
          </p:cNvPr>
          <p:cNvSpPr/>
          <p:nvPr/>
        </p:nvSpPr>
        <p:spPr>
          <a:xfrm>
            <a:off x="7999996" y="1319396"/>
            <a:ext cx="1204074" cy="13132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r>
              <a:rPr lang="en-US" sz="900" b="1" dirty="0"/>
              <a:t>🐳</a:t>
            </a:r>
          </a:p>
          <a:p>
            <a:endParaRPr lang="en-US" sz="200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74AE4ED-1C08-76BE-F2E4-4F2624145F75}"/>
              </a:ext>
            </a:extLst>
          </p:cNvPr>
          <p:cNvSpPr/>
          <p:nvPr/>
        </p:nvSpPr>
        <p:spPr>
          <a:xfrm>
            <a:off x="3991324" y="1319396"/>
            <a:ext cx="3582830" cy="21884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“python:3.13-slim”</a:t>
            </a:r>
          </a:p>
          <a:p>
            <a:pPr algn="ctr"/>
            <a:endParaRPr lang="en-US" sz="200" i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BAEFE4A-8D34-CA13-BD6E-205310D6356D}"/>
              </a:ext>
            </a:extLst>
          </p:cNvPr>
          <p:cNvSpPr/>
          <p:nvPr/>
        </p:nvSpPr>
        <p:spPr>
          <a:xfrm>
            <a:off x="7999996" y="3507872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6B355C-7982-97C9-2B35-93572DD5AC98}"/>
              </a:ext>
            </a:extLst>
          </p:cNvPr>
          <p:cNvSpPr/>
          <p:nvPr/>
        </p:nvSpPr>
        <p:spPr>
          <a:xfrm>
            <a:off x="8059189" y="3555941"/>
            <a:ext cx="3714012" cy="12492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9918C49-6A57-37AE-A20E-CF1DC8DC3ADD}"/>
              </a:ext>
            </a:extLst>
          </p:cNvPr>
          <p:cNvSpPr/>
          <p:nvPr/>
        </p:nvSpPr>
        <p:spPr>
          <a:xfrm>
            <a:off x="9379265" y="3555940"/>
            <a:ext cx="1020305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740222D-2A35-EE1C-DA2F-C9D254AC42E4}"/>
              </a:ext>
            </a:extLst>
          </p:cNvPr>
          <p:cNvSpPr/>
          <p:nvPr/>
        </p:nvSpPr>
        <p:spPr>
          <a:xfrm>
            <a:off x="10481665" y="3555938"/>
            <a:ext cx="1222081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169A20-3607-4878-9868-AC7D3106E5B6}"/>
              </a:ext>
            </a:extLst>
          </p:cNvPr>
          <p:cNvSpPr/>
          <p:nvPr/>
        </p:nvSpPr>
        <p:spPr>
          <a:xfrm>
            <a:off x="11773201" y="3555942"/>
            <a:ext cx="202062" cy="1249274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C400ED-A1D1-98B2-554D-0095EC19BCE1}"/>
              </a:ext>
            </a:extLst>
          </p:cNvPr>
          <p:cNvSpPr/>
          <p:nvPr/>
        </p:nvSpPr>
        <p:spPr>
          <a:xfrm>
            <a:off x="289131" y="2934686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4EC8A3-F27D-267B-C2D7-3D2E75E31A82}"/>
              </a:ext>
            </a:extLst>
          </p:cNvPr>
          <p:cNvSpPr/>
          <p:nvPr/>
        </p:nvSpPr>
        <p:spPr>
          <a:xfrm>
            <a:off x="289131" y="1793612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1BAB05B-B55F-384A-6961-7BB5EF013628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405184" y="3135371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B58C6C6F-EE91-089F-EA14-A17A90605B49}"/>
              </a:ext>
            </a:extLst>
          </p:cNvPr>
          <p:cNvSpPr/>
          <p:nvPr/>
        </p:nvSpPr>
        <p:spPr>
          <a:xfrm>
            <a:off x="8129597" y="3555939"/>
            <a:ext cx="1167573" cy="102007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B27948CA-E4CF-2729-211D-66E1797C976A}"/>
              </a:ext>
            </a:extLst>
          </p:cNvPr>
          <p:cNvSpPr/>
          <p:nvPr/>
        </p:nvSpPr>
        <p:spPr>
          <a:xfrm rot="16200000">
            <a:off x="1725784" y="2841596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C1CE6106-0B66-3171-6219-313F2DB3FD76}"/>
              </a:ext>
            </a:extLst>
          </p:cNvPr>
          <p:cNvSpPr/>
          <p:nvPr/>
        </p:nvSpPr>
        <p:spPr>
          <a:xfrm rot="16200000">
            <a:off x="1710723" y="171558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5EE825B2-9BE9-CBC2-F2EB-AE70D921BE6A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5103687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(Web App)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5ABFD7C-8047-1744-6E35-0FE92F8A9237}"/>
              </a:ext>
            </a:extLst>
          </p:cNvPr>
          <p:cNvSpPr/>
          <p:nvPr/>
        </p:nvSpPr>
        <p:spPr>
          <a:xfrm>
            <a:off x="1963663" y="1677115"/>
            <a:ext cx="1022504" cy="341366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Client</a:t>
            </a:r>
            <a:endParaRPr lang="en-US" sz="1400" dirty="0"/>
          </a:p>
          <a:p>
            <a:pPr algn="ctr"/>
            <a:endParaRPr lang="en-US" sz="800" dirty="0"/>
          </a:p>
          <a:p>
            <a:pPr algn="ctr"/>
            <a:br>
              <a:rPr lang="en-US" sz="800" b="1" u="sng" dirty="0"/>
            </a:b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The HTML+JS pages a user interacts with to interface with the API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85D2EE65-92C0-CE5A-2337-0D48B3185910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405184" y="1994297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BD03DCB-AA87-E567-C5CE-8484550EF2AC}"/>
              </a:ext>
            </a:extLst>
          </p:cNvPr>
          <p:cNvSpPr/>
          <p:nvPr/>
        </p:nvSpPr>
        <p:spPr>
          <a:xfrm>
            <a:off x="6393310" y="1677116"/>
            <a:ext cx="1110885" cy="175123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 Pipeline</a:t>
            </a:r>
            <a:endParaRPr lang="en-US" sz="14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Takes a query string and produces an answer meant to be returned to the user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3DDA18EE-EBA5-71D4-6143-FFEF7FFBC3C1}"/>
              </a:ext>
            </a:extLst>
          </p:cNvPr>
          <p:cNvSpPr/>
          <p:nvPr/>
        </p:nvSpPr>
        <p:spPr>
          <a:xfrm rot="16200000">
            <a:off x="6426289" y="1857144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B0950B3-78D4-69C2-2294-8BC7043B4DB1}"/>
              </a:ext>
            </a:extLst>
          </p:cNvPr>
          <p:cNvSpPr txBox="1"/>
          <p:nvPr/>
        </p:nvSpPr>
        <p:spPr>
          <a:xfrm>
            <a:off x="5644221" y="2024843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BF8ECE2-6235-84CA-1DF5-BC7AF1D1FE51}"/>
              </a:ext>
            </a:extLst>
          </p:cNvPr>
          <p:cNvSpPr/>
          <p:nvPr/>
        </p:nvSpPr>
        <p:spPr>
          <a:xfrm>
            <a:off x="8171517" y="1367467"/>
            <a:ext cx="998858" cy="1218498"/>
          </a:xfrm>
          <a:prstGeom prst="rect">
            <a:avLst/>
          </a:prstGeom>
          <a:solidFill>
            <a:srgbClr val="F4B1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8B736F-A957-5F64-656F-8D69256243E6}"/>
              </a:ext>
            </a:extLst>
          </p:cNvPr>
          <p:cNvSpPr txBox="1"/>
          <p:nvPr/>
        </p:nvSpPr>
        <p:spPr>
          <a:xfrm>
            <a:off x="5565437" y="2934686"/>
            <a:ext cx="737772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D483037-9860-406C-BE6D-CA21303232EA}"/>
              </a:ext>
            </a:extLst>
          </p:cNvPr>
          <p:cNvSpPr/>
          <p:nvPr/>
        </p:nvSpPr>
        <p:spPr>
          <a:xfrm>
            <a:off x="4285400" y="1677115"/>
            <a:ext cx="1194727" cy="170683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API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dirty="0"/>
              <a:t>📚</a:t>
            </a:r>
            <a:r>
              <a:rPr lang="en-US" sz="800" b="1" u="sng" dirty="0"/>
              <a:t>openapi-typescript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Exposes REST API services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3A891E70-4A0D-ACF8-65DD-BB996E3244AD}"/>
              </a:ext>
            </a:extLst>
          </p:cNvPr>
          <p:cNvCxnSpPr>
            <a:cxnSpLocks/>
          </p:cNvCxnSpPr>
          <p:nvPr/>
        </p:nvCxnSpPr>
        <p:spPr>
          <a:xfrm>
            <a:off x="5476394" y="2207234"/>
            <a:ext cx="91691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3B4BA202-17B6-5B5C-0859-508CF5F6256D}"/>
              </a:ext>
            </a:extLst>
          </p:cNvPr>
          <p:cNvSpPr/>
          <p:nvPr/>
        </p:nvSpPr>
        <p:spPr>
          <a:xfrm>
            <a:off x="8000202" y="2710813"/>
            <a:ext cx="1053987" cy="4245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r>
              <a:rPr lang="en-US" sz="900" b="1" dirty="0"/>
              <a:t>🐳</a:t>
            </a:r>
          </a:p>
          <a:p>
            <a:pPr algn="ctr"/>
            <a:endParaRPr lang="en-US" sz="200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BCC2B6-C74A-2DE2-83B5-4B306E2FF2DC}"/>
              </a:ext>
            </a:extLst>
          </p:cNvPr>
          <p:cNvSpPr/>
          <p:nvPr/>
        </p:nvSpPr>
        <p:spPr>
          <a:xfrm>
            <a:off x="8171517" y="2736211"/>
            <a:ext cx="850581" cy="372461"/>
          </a:xfrm>
          <a:prstGeom prst="rect">
            <a:avLst/>
          </a:prstGeom>
          <a:solidFill>
            <a:srgbClr val="F4B1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BA23A2-9E0A-EF85-AE84-C67620465958}"/>
              </a:ext>
            </a:extLst>
          </p:cNvPr>
          <p:cNvCxnSpPr>
            <a:cxnSpLocks/>
          </p:cNvCxnSpPr>
          <p:nvPr/>
        </p:nvCxnSpPr>
        <p:spPr>
          <a:xfrm flipH="1">
            <a:off x="5483381" y="3135370"/>
            <a:ext cx="909930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C4D6691-A751-DA49-0A56-0EE36C6105F2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7504196" y="2922441"/>
            <a:ext cx="496006" cy="6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1480122E-229C-B491-3E8E-590CD91098D8}"/>
              </a:ext>
            </a:extLst>
          </p:cNvPr>
          <p:cNvSpPr/>
          <p:nvPr/>
        </p:nvSpPr>
        <p:spPr>
          <a:xfrm>
            <a:off x="4285400" y="4013034"/>
            <a:ext cx="1194727" cy="1534841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</a:p>
          <a:p>
            <a:pPr algn="ctr"/>
            <a:r>
              <a:rPr lang="en-US" sz="600" dirty="0"/>
              <a:t>(Caddy)</a:t>
            </a:r>
            <a:endParaRPr lang="en-US" sz="500" dirty="0"/>
          </a:p>
          <a:p>
            <a:pPr algn="ctr"/>
            <a:r>
              <a:rPr lang="en-US" sz="1100" u="sng" dirty="0"/>
              <a:t>web/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 22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ng-apexcharts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Serves the Client </a:t>
            </a:r>
          </a:p>
          <a:p>
            <a:pPr algn="ctr"/>
            <a:r>
              <a:rPr lang="en-US" sz="800" dirty="0"/>
              <a:t>HTML+JS pages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FE23C77-9F11-958A-0905-9E33B1CF083B}"/>
              </a:ext>
            </a:extLst>
          </p:cNvPr>
          <p:cNvCxnSpPr>
            <a:cxnSpLocks/>
            <a:stCxn id="74" idx="1"/>
          </p:cNvCxnSpPr>
          <p:nvPr/>
        </p:nvCxnSpPr>
        <p:spPr>
          <a:xfrm flipH="1">
            <a:off x="3010464" y="4780455"/>
            <a:ext cx="127493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BD89F9C4-E0A3-4696-2C7F-04DF17EAC057}"/>
              </a:ext>
            </a:extLst>
          </p:cNvPr>
          <p:cNvCxnSpPr>
            <a:cxnSpLocks/>
            <a:stCxn id="72" idx="0"/>
            <a:endCxn id="16" idx="0"/>
          </p:cNvCxnSpPr>
          <p:nvPr/>
        </p:nvCxnSpPr>
        <p:spPr>
          <a:xfrm rot="5400000" flipH="1" flipV="1">
            <a:off x="6563539" y="-361378"/>
            <a:ext cx="357719" cy="3719269"/>
          </a:xfrm>
          <a:prstGeom prst="bentConnector3">
            <a:avLst>
              <a:gd name="adj1" fmla="val 163905"/>
            </a:avLst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C2861F-785C-642F-E5A6-CD4C94ACA223}"/>
              </a:ext>
            </a:extLst>
          </p:cNvPr>
          <p:cNvSpPr txBox="1"/>
          <p:nvPr/>
        </p:nvSpPr>
        <p:spPr>
          <a:xfrm>
            <a:off x="3266505" y="4804373"/>
            <a:ext cx="816833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JSON + events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18FAA-AEBE-E7A7-CB24-80C4201B4236}"/>
              </a:ext>
            </a:extLst>
          </p:cNvPr>
          <p:cNvSpPr txBox="1"/>
          <p:nvPr/>
        </p:nvSpPr>
        <p:spPr>
          <a:xfrm>
            <a:off x="3318085" y="4968158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3DA346-7CB0-96D7-8EC5-FD9E1EA22013}"/>
              </a:ext>
            </a:extLst>
          </p:cNvPr>
          <p:cNvSpPr txBox="1"/>
          <p:nvPr/>
        </p:nvSpPr>
        <p:spPr>
          <a:xfrm>
            <a:off x="3213585" y="4576007"/>
            <a:ext cx="81683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00" i="0" dirty="0"/>
              <a:t>HTTP Requests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2EA57F-A625-2207-FF4A-A8C1D6F8B879}"/>
              </a:ext>
            </a:extLst>
          </p:cNvPr>
          <p:cNvSpPr txBox="1"/>
          <p:nvPr/>
        </p:nvSpPr>
        <p:spPr>
          <a:xfrm>
            <a:off x="4791970" y="3645572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/api/*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7CB8C70-34A9-BA52-6569-8902A81C5D57}"/>
              </a:ext>
            </a:extLst>
          </p:cNvPr>
          <p:cNvCxnSpPr>
            <a:cxnSpLocks/>
            <a:stCxn id="74" idx="0"/>
            <a:endCxn id="72" idx="2"/>
          </p:cNvCxnSpPr>
          <p:nvPr/>
        </p:nvCxnSpPr>
        <p:spPr>
          <a:xfrm flipV="1">
            <a:off x="4882764" y="3383947"/>
            <a:ext cx="0" cy="629087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A005EC75-6ED2-9062-08C5-B31A711C156A}"/>
              </a:ext>
            </a:extLst>
          </p:cNvPr>
          <p:cNvCxnSpPr>
            <a:cxnSpLocks/>
            <a:stCxn id="50" idx="1"/>
            <a:endCxn id="143" idx="2"/>
          </p:cNvCxnSpPr>
          <p:nvPr/>
        </p:nvCxnSpPr>
        <p:spPr>
          <a:xfrm rot="10800000">
            <a:off x="6948754" y="3428351"/>
            <a:ext cx="1051243" cy="904923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F263E383-04D9-4274-55DF-1B367571C0F0}"/>
              </a:ext>
            </a:extLst>
          </p:cNvPr>
          <p:cNvSpPr/>
          <p:nvPr/>
        </p:nvSpPr>
        <p:spPr>
          <a:xfrm rot="16200000">
            <a:off x="4150911" y="4072697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8" name="Flowchart: Off-page Connector 27">
            <a:extLst>
              <a:ext uri="{FF2B5EF4-FFF2-40B4-BE49-F238E27FC236}">
                <a16:creationId xmlns:a16="http://schemas.microsoft.com/office/drawing/2014/main" id="{3C23E572-F47B-64A0-F8DD-7D260DF9E656}"/>
              </a:ext>
            </a:extLst>
          </p:cNvPr>
          <p:cNvSpPr/>
          <p:nvPr/>
        </p:nvSpPr>
        <p:spPr>
          <a:xfrm rot="16200000">
            <a:off x="5353566" y="2923047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E13A9921-036D-16B5-52F3-0B666968F8B0}"/>
              </a:ext>
            </a:extLst>
          </p:cNvPr>
          <p:cNvSpPr/>
          <p:nvPr/>
        </p:nvSpPr>
        <p:spPr>
          <a:xfrm rot="16200000">
            <a:off x="5399276" y="1982657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7944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19C9-B69E-A21D-EA73-F65929C0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48">
            <a:extLst>
              <a:ext uri="{FF2B5EF4-FFF2-40B4-BE49-F238E27FC236}">
                <a16:creationId xmlns:a16="http://schemas.microsoft.com/office/drawing/2014/main" id="{FC10E233-D5E2-651A-1038-DCBEB7367256}"/>
              </a:ext>
            </a:extLst>
          </p:cNvPr>
          <p:cNvSpPr/>
          <p:nvPr/>
        </p:nvSpPr>
        <p:spPr>
          <a:xfrm>
            <a:off x="1302897" y="1034541"/>
            <a:ext cx="9349530" cy="2729851"/>
          </a:xfrm>
          <a:prstGeom prst="rect">
            <a:avLst/>
          </a:prstGeom>
          <a:solidFill>
            <a:srgbClr val="B17ED8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Pipeline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9C5CE47-1E8E-0C99-067C-C5B392C14A2E}"/>
              </a:ext>
            </a:extLst>
          </p:cNvPr>
          <p:cNvSpPr/>
          <p:nvPr/>
        </p:nvSpPr>
        <p:spPr>
          <a:xfrm>
            <a:off x="4126489" y="1735056"/>
            <a:ext cx="6406921" cy="1691989"/>
          </a:xfrm>
          <a:prstGeom prst="rect">
            <a:avLst/>
          </a:prstGeom>
          <a:solidFill>
            <a:schemeClr val="bg1">
              <a:alpha val="3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6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DB44C7-7895-8DDF-DAFC-DEFEF8F7178B}"/>
              </a:ext>
            </a:extLst>
          </p:cNvPr>
          <p:cNvSpPr txBox="1"/>
          <p:nvPr/>
        </p:nvSpPr>
        <p:spPr>
          <a:xfrm>
            <a:off x="3139381" y="1537574"/>
            <a:ext cx="9497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Refusal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AskRecord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3F9E9-32FA-82BB-BEE9-63DFD82299FF}"/>
              </a:ext>
            </a:extLst>
          </p:cNvPr>
          <p:cNvSpPr txBox="1"/>
          <p:nvPr/>
        </p:nvSpPr>
        <p:spPr>
          <a:xfrm>
            <a:off x="-27740" y="3111381"/>
            <a:ext cx="1330636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8" name="Title 1024">
            <a:extLst>
              <a:ext uri="{FF2B5EF4-FFF2-40B4-BE49-F238E27FC236}">
                <a16:creationId xmlns:a16="http://schemas.microsoft.com/office/drawing/2014/main" id="{EDFDF07F-6649-2322-EA71-954A0A2B68B1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66317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(Query Pipeline)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1DC958C-D4FA-DCDD-139A-67A8C909CAEA}"/>
              </a:ext>
            </a:extLst>
          </p:cNvPr>
          <p:cNvSpPr/>
          <p:nvPr/>
        </p:nvSpPr>
        <p:spPr>
          <a:xfrm>
            <a:off x="1883458" y="1502537"/>
            <a:ext cx="1074329" cy="21003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Job Chain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Manages pipeline for query response.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Compiles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  <a:r>
              <a:rPr lang="en-US" sz="800" dirty="0"/>
              <a:t> from answers, refusals, and clarifications.</a:t>
            </a:r>
            <a:endParaRPr lang="en-US" sz="16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54153D7-C55D-54D0-9FFC-9393D9882ABA}"/>
              </a:ext>
            </a:extLst>
          </p:cNvPr>
          <p:cNvCxnSpPr>
            <a:cxnSpLocks/>
          </p:cNvCxnSpPr>
          <p:nvPr/>
        </p:nvCxnSpPr>
        <p:spPr>
          <a:xfrm flipH="1">
            <a:off x="1046589" y="3196020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351D387-E38A-B197-5008-2F88EDCFA812}"/>
              </a:ext>
            </a:extLst>
          </p:cNvPr>
          <p:cNvSpPr txBox="1"/>
          <p:nvPr/>
        </p:nvSpPr>
        <p:spPr>
          <a:xfrm>
            <a:off x="362030" y="1927809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4DC7D7-33A0-A995-F27E-B00D4774DD4C}"/>
              </a:ext>
            </a:extLst>
          </p:cNvPr>
          <p:cNvCxnSpPr>
            <a:cxnSpLocks/>
          </p:cNvCxnSpPr>
          <p:nvPr/>
        </p:nvCxnSpPr>
        <p:spPr>
          <a:xfrm>
            <a:off x="1046589" y="2008601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0C56EF47-A4ED-F0F2-A51A-EF1B100C8689}"/>
              </a:ext>
            </a:extLst>
          </p:cNvPr>
          <p:cNvSpPr/>
          <p:nvPr/>
        </p:nvSpPr>
        <p:spPr>
          <a:xfrm>
            <a:off x="9266583" y="1882438"/>
            <a:ext cx="1101061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results for viewing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9EAFD57-6D17-2C34-F219-9BD0FABD8E29}"/>
              </a:ext>
            </a:extLst>
          </p:cNvPr>
          <p:cNvSpPr/>
          <p:nvPr/>
        </p:nvSpPr>
        <p:spPr>
          <a:xfrm>
            <a:off x="4312076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0886A4E-E86C-428F-612D-C74CE6466DE7}"/>
              </a:ext>
            </a:extLst>
          </p:cNvPr>
          <p:cNvSpPr/>
          <p:nvPr/>
        </p:nvSpPr>
        <p:spPr>
          <a:xfrm>
            <a:off x="5932835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700" dirty="0"/>
              <a:t>Normalizes </a:t>
            </a:r>
            <a:r>
              <a:rPr lang="en-US" sz="7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700" dirty="0"/>
              <a:t> (via aliases, embedding distances, etc…) to what is retrievable from the database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05B2E4-C5C8-9D29-7F0C-C63FBEE98E0D}"/>
              </a:ext>
            </a:extLst>
          </p:cNvPr>
          <p:cNvSpPr/>
          <p:nvPr/>
        </p:nvSpPr>
        <p:spPr>
          <a:xfrm>
            <a:off x="7588964" y="1882438"/>
            <a:ext cx="1094086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</a:t>
            </a:r>
            <a:br>
              <a:rPr lang="en-US" sz="1600" dirty="0"/>
            </a:br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26B9B01-14C7-4EA9-2BF8-16F291CA728B}"/>
              </a:ext>
            </a:extLst>
          </p:cNvPr>
          <p:cNvCxnSpPr>
            <a:cxnSpLocks/>
            <a:stCxn id="100" idx="1"/>
            <a:endCxn id="99" idx="3"/>
          </p:cNvCxnSpPr>
          <p:nvPr/>
        </p:nvCxnSpPr>
        <p:spPr>
          <a:xfrm flipH="1">
            <a:off x="7035089" y="2587501"/>
            <a:ext cx="55387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2D95B39-4184-507F-6CDC-3A9A0D40555D}"/>
              </a:ext>
            </a:extLst>
          </p:cNvPr>
          <p:cNvCxnSpPr>
            <a:cxnSpLocks/>
            <a:stCxn id="99" idx="1"/>
            <a:endCxn id="98" idx="3"/>
          </p:cNvCxnSpPr>
          <p:nvPr/>
        </p:nvCxnSpPr>
        <p:spPr>
          <a:xfrm flipH="1">
            <a:off x="5414330" y="2587501"/>
            <a:ext cx="51850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EB5FCE78-0C7F-DC8A-1BC1-3BE31142800C}"/>
              </a:ext>
            </a:extLst>
          </p:cNvPr>
          <p:cNvSpPr txBox="1"/>
          <p:nvPr/>
        </p:nvSpPr>
        <p:spPr>
          <a:xfrm>
            <a:off x="7069957" y="2427092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3580DDF-EF18-2F5B-FEF1-4B4FDF01DAA4}"/>
              </a:ext>
            </a:extLst>
          </p:cNvPr>
          <p:cNvSpPr txBox="1"/>
          <p:nvPr/>
        </p:nvSpPr>
        <p:spPr>
          <a:xfrm>
            <a:off x="5514092" y="2427167"/>
            <a:ext cx="34669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41C8D15-08E1-B59C-AD42-44A99A8B3675}"/>
              </a:ext>
            </a:extLst>
          </p:cNvPr>
          <p:cNvCxnSpPr>
            <a:cxnSpLocks/>
          </p:cNvCxnSpPr>
          <p:nvPr/>
        </p:nvCxnSpPr>
        <p:spPr>
          <a:xfrm flipH="1">
            <a:off x="8682157" y="2585880"/>
            <a:ext cx="5844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38F6DBD-DA3E-B858-D65A-4EAC4420210F}"/>
              </a:ext>
            </a:extLst>
          </p:cNvPr>
          <p:cNvSpPr txBox="1"/>
          <p:nvPr/>
        </p:nvSpPr>
        <p:spPr>
          <a:xfrm>
            <a:off x="8717025" y="2425471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57D60AF-37F0-18F2-6712-57B5468B443B}"/>
              </a:ext>
            </a:extLst>
          </p:cNvPr>
          <p:cNvCxnSpPr>
            <a:cxnSpLocks/>
          </p:cNvCxnSpPr>
          <p:nvPr/>
        </p:nvCxnSpPr>
        <p:spPr>
          <a:xfrm>
            <a:off x="2957787" y="2008600"/>
            <a:ext cx="1168702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562065-B2DB-5424-8209-2E6AD267DD08}"/>
              </a:ext>
            </a:extLst>
          </p:cNvPr>
          <p:cNvCxnSpPr>
            <a:cxnSpLocks/>
          </p:cNvCxnSpPr>
          <p:nvPr/>
        </p:nvCxnSpPr>
        <p:spPr>
          <a:xfrm>
            <a:off x="2957787" y="3196019"/>
            <a:ext cx="116870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C1384186-620F-14A6-A147-03D5B321C543}"/>
              </a:ext>
            </a:extLst>
          </p:cNvPr>
          <p:cNvSpPr txBox="1"/>
          <p:nvPr/>
        </p:nvSpPr>
        <p:spPr>
          <a:xfrm>
            <a:off x="3321095" y="3196019"/>
            <a:ext cx="50303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</a:t>
            </a:r>
          </a:p>
          <a:p>
            <a:pPr algn="ctr"/>
            <a:r>
              <a:rPr lang="en-US" dirty="0"/>
              <a:t>String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326A38D6-2ACC-CD3A-719A-B4C908A9A4AD}"/>
              </a:ext>
            </a:extLst>
          </p:cNvPr>
          <p:cNvSpPr/>
          <p:nvPr/>
        </p:nvSpPr>
        <p:spPr>
          <a:xfrm rot="16200000">
            <a:off x="1621026" y="2892143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5E639E39-B3A4-01ED-988B-718A368346BE}"/>
              </a:ext>
            </a:extLst>
          </p:cNvPr>
          <p:cNvSpPr/>
          <p:nvPr/>
        </p:nvSpPr>
        <p:spPr>
          <a:xfrm rot="16200000">
            <a:off x="7518123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F05350B0-5BD2-7A59-7FA5-D942D9417DB4}"/>
              </a:ext>
            </a:extLst>
          </p:cNvPr>
          <p:cNvSpPr/>
          <p:nvPr/>
        </p:nvSpPr>
        <p:spPr>
          <a:xfrm rot="16200000">
            <a:off x="5870446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35" name="Flowchart: Off-page Connector 134">
            <a:extLst>
              <a:ext uri="{FF2B5EF4-FFF2-40B4-BE49-F238E27FC236}">
                <a16:creationId xmlns:a16="http://schemas.microsoft.com/office/drawing/2014/main" id="{9FC44CE4-17CF-A95B-CBF1-1E3607ED01CF}"/>
              </a:ext>
            </a:extLst>
          </p:cNvPr>
          <p:cNvSpPr/>
          <p:nvPr/>
        </p:nvSpPr>
        <p:spPr>
          <a:xfrm rot="16200000">
            <a:off x="4214640" y="1844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37" name="Flowchart: Off-page Connector 136">
            <a:extLst>
              <a:ext uri="{FF2B5EF4-FFF2-40B4-BE49-F238E27FC236}">
                <a16:creationId xmlns:a16="http://schemas.microsoft.com/office/drawing/2014/main" id="{5ABECD12-6462-9C9C-9279-3CBD2EDAE57E}"/>
              </a:ext>
            </a:extLst>
          </p:cNvPr>
          <p:cNvSpPr/>
          <p:nvPr/>
        </p:nvSpPr>
        <p:spPr>
          <a:xfrm>
            <a:off x="3479171" y="1268120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E85C4C68-30E6-2816-1340-D29C5B1FD405}"/>
              </a:ext>
            </a:extLst>
          </p:cNvPr>
          <p:cNvSpPr/>
          <p:nvPr/>
        </p:nvSpPr>
        <p:spPr>
          <a:xfrm rot="16200000">
            <a:off x="9192071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70" name="Flowchart: Off-page Connector 169">
            <a:extLst>
              <a:ext uri="{FF2B5EF4-FFF2-40B4-BE49-F238E27FC236}">
                <a16:creationId xmlns:a16="http://schemas.microsoft.com/office/drawing/2014/main" id="{F0F81F5A-6138-7379-514D-1EC2C93DE62E}"/>
              </a:ext>
            </a:extLst>
          </p:cNvPr>
          <p:cNvSpPr/>
          <p:nvPr/>
        </p:nvSpPr>
        <p:spPr>
          <a:xfrm>
            <a:off x="553758" y="1694983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71" name="Flowchart: Off-page Connector 170">
            <a:extLst>
              <a:ext uri="{FF2B5EF4-FFF2-40B4-BE49-F238E27FC236}">
                <a16:creationId xmlns:a16="http://schemas.microsoft.com/office/drawing/2014/main" id="{14306686-A043-2F61-D21D-D555F01B689C}"/>
              </a:ext>
            </a:extLst>
          </p:cNvPr>
          <p:cNvSpPr/>
          <p:nvPr/>
        </p:nvSpPr>
        <p:spPr>
          <a:xfrm>
            <a:off x="3479171" y="2955615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19995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E0D83-8119-E82B-CA99-B9342FEC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E73DDC3C-908A-4491-D677-669A6CAE5244}"/>
              </a:ext>
            </a:extLst>
          </p:cNvPr>
          <p:cNvSpPr/>
          <p:nvPr/>
        </p:nvSpPr>
        <p:spPr>
          <a:xfrm>
            <a:off x="4098114" y="3744368"/>
            <a:ext cx="4932420" cy="2109127"/>
          </a:xfrm>
          <a:prstGeom prst="roundRect">
            <a:avLst>
              <a:gd name="adj" fmla="val 5996"/>
            </a:avLst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Build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62ABCF-6465-DFB0-05C3-695005C43686}"/>
              </a:ext>
            </a:extLst>
          </p:cNvPr>
          <p:cNvSpPr/>
          <p:nvPr/>
        </p:nvSpPr>
        <p:spPr>
          <a:xfrm>
            <a:off x="4897822" y="4081568"/>
            <a:ext cx="1635112" cy="148442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Angular CLI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7252D85-CAAC-DB4A-0095-44C0AAEDA212}"/>
              </a:ext>
            </a:extLst>
          </p:cNvPr>
          <p:cNvSpPr/>
          <p:nvPr/>
        </p:nvSpPr>
        <p:spPr>
          <a:xfrm>
            <a:off x="5187161" y="4459735"/>
            <a:ext cx="1121308" cy="9487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300" dirty="0"/>
          </a:p>
          <a:p>
            <a:pPr algn="ctr"/>
            <a:r>
              <a:rPr lang="en-US" sz="1100" dirty="0"/>
              <a:t>Angular </a:t>
            </a:r>
          </a:p>
          <a:p>
            <a:pPr algn="ctr"/>
            <a:r>
              <a:rPr lang="en-US" sz="1100" dirty="0"/>
              <a:t>Compiler</a:t>
            </a:r>
          </a:p>
        </p:txBody>
      </p:sp>
      <p:sp>
        <p:nvSpPr>
          <p:cNvPr id="8" name="Title 1024">
            <a:extLst>
              <a:ext uri="{FF2B5EF4-FFF2-40B4-BE49-F238E27FC236}">
                <a16:creationId xmlns:a16="http://schemas.microsoft.com/office/drawing/2014/main" id="{5E4304EA-1867-FA67-AD3A-E6BCE48DD203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113042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Web Server Setup + Overview (Production)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75BE4D-1EF4-F1F6-7D2E-04E70C2E6CFF}"/>
              </a:ext>
            </a:extLst>
          </p:cNvPr>
          <p:cNvSpPr/>
          <p:nvPr/>
        </p:nvSpPr>
        <p:spPr>
          <a:xfrm>
            <a:off x="495393" y="2059720"/>
            <a:ext cx="1022504" cy="264845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Client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494E3D-5A7F-6C83-1EB3-A0B1FCE2EBFD}"/>
              </a:ext>
            </a:extLst>
          </p:cNvPr>
          <p:cNvSpPr/>
          <p:nvPr/>
        </p:nvSpPr>
        <p:spPr>
          <a:xfrm>
            <a:off x="4897822" y="1139593"/>
            <a:ext cx="2133600" cy="191191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API Server</a:t>
            </a:r>
          </a:p>
          <a:p>
            <a:pPr algn="ctr"/>
            <a:r>
              <a:rPr lang="en-US" sz="1400" dirty="0"/>
              <a:t>(uvicorn + FastAPI)</a:t>
            </a:r>
          </a:p>
          <a:p>
            <a:pPr algn="ctr"/>
            <a:endParaRPr lang="en-US" sz="1400" dirty="0"/>
          </a:p>
          <a:p>
            <a:pPr algn="ctr"/>
            <a:r>
              <a:rPr lang="en-US" sz="900" dirty="0"/>
              <a:t>uvicorn = sets up the server</a:t>
            </a:r>
          </a:p>
          <a:p>
            <a:pPr algn="ctr"/>
            <a:r>
              <a:rPr lang="en-US" sz="900" dirty="0"/>
              <a:t>FastAPI = maps API requests to Python code</a:t>
            </a:r>
            <a:endParaRPr lang="en-US" sz="11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224A39-3D33-19B6-80A8-E20ACAE07553}"/>
              </a:ext>
            </a:extLst>
          </p:cNvPr>
          <p:cNvSpPr/>
          <p:nvPr/>
        </p:nvSpPr>
        <p:spPr>
          <a:xfrm>
            <a:off x="2687447" y="2754444"/>
            <a:ext cx="1194727" cy="134911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</a:p>
          <a:p>
            <a:pPr algn="ctr"/>
            <a:r>
              <a:rPr lang="en-US" sz="1400" dirty="0"/>
              <a:t>(Caddy)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9DBC32-9357-2C90-6437-601190DF46DF}"/>
              </a:ext>
            </a:extLst>
          </p:cNvPr>
          <p:cNvCxnSpPr>
            <a:cxnSpLocks/>
          </p:cNvCxnSpPr>
          <p:nvPr/>
        </p:nvCxnSpPr>
        <p:spPr>
          <a:xfrm flipH="1">
            <a:off x="6308469" y="4599057"/>
            <a:ext cx="124127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5B1A7DC2-A50F-BD1F-E3FD-FD8DCCB0B9AF}"/>
              </a:ext>
            </a:extLst>
          </p:cNvPr>
          <p:cNvSpPr txBox="1"/>
          <p:nvPr/>
        </p:nvSpPr>
        <p:spPr>
          <a:xfrm>
            <a:off x="6590998" y="4260502"/>
            <a:ext cx="80559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Angular Templates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50608-DDD1-A87C-0F8E-5AE20180D5EC}"/>
              </a:ext>
            </a:extLst>
          </p:cNvPr>
          <p:cNvSpPr txBox="1"/>
          <p:nvPr/>
        </p:nvSpPr>
        <p:spPr>
          <a:xfrm>
            <a:off x="1694255" y="3205571"/>
            <a:ext cx="816833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JSON + events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0EC690-9A6C-3574-0E58-340057310248}"/>
              </a:ext>
            </a:extLst>
          </p:cNvPr>
          <p:cNvSpPr/>
          <p:nvPr/>
        </p:nvSpPr>
        <p:spPr>
          <a:xfrm>
            <a:off x="7549738" y="4081569"/>
            <a:ext cx="1241269" cy="1484422"/>
          </a:xfrm>
          <a:prstGeom prst="rect">
            <a:avLst/>
          </a:prstGeom>
          <a:solidFill>
            <a:srgbClr val="FFC0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Web Code</a:t>
            </a:r>
          </a:p>
          <a:p>
            <a:pPr algn="ctr"/>
            <a:r>
              <a:rPr lang="en-US" sz="1000" dirty="0"/>
              <a:t>📚 </a:t>
            </a:r>
            <a:r>
              <a:rPr lang="en-US" sz="1000" b="1" u="sng" dirty="0"/>
              <a:t>Angular</a:t>
            </a:r>
          </a:p>
          <a:p>
            <a:pPr algn="ctr"/>
            <a:r>
              <a:rPr lang="en-US" sz="1000" dirty="0"/>
              <a:t>📚 </a:t>
            </a:r>
            <a:r>
              <a:rPr lang="en-US" sz="1000" b="1" u="sng" dirty="0"/>
              <a:t>various libs </a:t>
            </a:r>
          </a:p>
          <a:p>
            <a:pPr algn="ctr"/>
            <a:r>
              <a:rPr lang="en-US" sz="900" b="1" i="1" u="sng" dirty="0"/>
              <a:t>(e.g. charts, webstores, etc…)</a:t>
            </a:r>
            <a:endParaRPr lang="en-US" sz="1400" i="1" u="sng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9E87979-DC65-D8F0-F4A6-EF70FCC13A63}"/>
              </a:ext>
            </a:extLst>
          </p:cNvPr>
          <p:cNvCxnSpPr>
            <a:cxnSpLocks/>
          </p:cNvCxnSpPr>
          <p:nvPr/>
        </p:nvCxnSpPr>
        <p:spPr>
          <a:xfrm flipH="1">
            <a:off x="1517897" y="3429000"/>
            <a:ext cx="116955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C89E25A-1F61-9793-EBCA-2737AC655A09}"/>
              </a:ext>
            </a:extLst>
          </p:cNvPr>
          <p:cNvSpPr txBox="1"/>
          <p:nvPr/>
        </p:nvSpPr>
        <p:spPr>
          <a:xfrm>
            <a:off x="1767558" y="3489971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105EF8B-8CE0-6520-7456-E5F41597766C}"/>
              </a:ext>
            </a:extLst>
          </p:cNvPr>
          <p:cNvCxnSpPr>
            <a:cxnSpLocks/>
          </p:cNvCxnSpPr>
          <p:nvPr/>
        </p:nvCxnSpPr>
        <p:spPr>
          <a:xfrm flipH="1">
            <a:off x="6308469" y="5070829"/>
            <a:ext cx="124127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3407928-0390-2E9B-FC8E-1DDD3447C28F}"/>
              </a:ext>
            </a:extLst>
          </p:cNvPr>
          <p:cNvSpPr txBox="1"/>
          <p:nvPr/>
        </p:nvSpPr>
        <p:spPr>
          <a:xfrm>
            <a:off x="6590998" y="4889982"/>
            <a:ext cx="80559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TS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47973AE-F83C-A3D9-4FC3-742EBFBB6B10}"/>
              </a:ext>
            </a:extLst>
          </p:cNvPr>
          <p:cNvSpPr/>
          <p:nvPr/>
        </p:nvSpPr>
        <p:spPr>
          <a:xfrm>
            <a:off x="5340304" y="4924693"/>
            <a:ext cx="815022" cy="29227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tsc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F0C7F54-AA32-53B3-A1F2-DF62DB4B8DAC}"/>
              </a:ext>
            </a:extLst>
          </p:cNvPr>
          <p:cNvSpPr txBox="1"/>
          <p:nvPr/>
        </p:nvSpPr>
        <p:spPr>
          <a:xfrm>
            <a:off x="6590998" y="5239184"/>
            <a:ext cx="80559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9BB77FE-F358-DEAB-CD1E-8D1C5E183E81}"/>
              </a:ext>
            </a:extLst>
          </p:cNvPr>
          <p:cNvSpPr txBox="1"/>
          <p:nvPr/>
        </p:nvSpPr>
        <p:spPr>
          <a:xfrm>
            <a:off x="4850267" y="5588208"/>
            <a:ext cx="17950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Node.js </a:t>
            </a:r>
            <a:r>
              <a:rPr lang="en-US" sz="1050" i="0" dirty="0"/>
              <a:t>Runtime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E2D3868-9DA1-4C51-098E-021EF69E3C76}"/>
              </a:ext>
            </a:extLst>
          </p:cNvPr>
          <p:cNvSpPr txBox="1"/>
          <p:nvPr/>
        </p:nvSpPr>
        <p:spPr>
          <a:xfrm>
            <a:off x="5067074" y="3063075"/>
            <a:ext cx="17950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Python </a:t>
            </a:r>
            <a:r>
              <a:rPr lang="en-US" sz="1050" i="0" dirty="0"/>
              <a:t>Runtime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616A251-7504-2F8B-57F2-E0C651EBD173}"/>
              </a:ext>
            </a:extLst>
          </p:cNvPr>
          <p:cNvSpPr txBox="1"/>
          <p:nvPr/>
        </p:nvSpPr>
        <p:spPr>
          <a:xfrm>
            <a:off x="2667424" y="4118949"/>
            <a:ext cx="121475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Go </a:t>
            </a:r>
            <a:r>
              <a:rPr lang="en-US" sz="1050" i="0" dirty="0"/>
              <a:t>Runtime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9F577-D81F-780D-D351-5E3D1F94E885}"/>
              </a:ext>
            </a:extLst>
          </p:cNvPr>
          <p:cNvSpPr txBox="1"/>
          <p:nvPr/>
        </p:nvSpPr>
        <p:spPr>
          <a:xfrm>
            <a:off x="399270" y="4724501"/>
            <a:ext cx="121475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Browser</a:t>
            </a:r>
            <a:r>
              <a:rPr lang="en-US" sz="1050" i="0" dirty="0"/>
              <a:t> Runtime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84DFB570-0728-E7F6-53E4-B903A546F000}"/>
              </a:ext>
            </a:extLst>
          </p:cNvPr>
          <p:cNvCxnSpPr>
            <a:cxnSpLocks/>
          </p:cNvCxnSpPr>
          <p:nvPr/>
        </p:nvCxnSpPr>
        <p:spPr>
          <a:xfrm flipH="1">
            <a:off x="6527431" y="5430679"/>
            <a:ext cx="100363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6C97DD2-5066-9719-DB27-72927C397F4A}"/>
              </a:ext>
            </a:extLst>
          </p:cNvPr>
          <p:cNvSpPr/>
          <p:nvPr/>
        </p:nvSpPr>
        <p:spPr>
          <a:xfrm>
            <a:off x="5110292" y="2207908"/>
            <a:ext cx="592914" cy="69349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Job </a:t>
            </a:r>
          </a:p>
          <a:p>
            <a:pPr algn="ctr"/>
            <a:r>
              <a:rPr lang="en-US" sz="1200" dirty="0"/>
              <a:t>Runner</a:t>
            </a:r>
            <a:endParaRPr lang="en-US" sz="1100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B7C8766-2D31-46B4-2449-B34C3F54CE34}"/>
              </a:ext>
            </a:extLst>
          </p:cNvPr>
          <p:cNvSpPr/>
          <p:nvPr/>
        </p:nvSpPr>
        <p:spPr>
          <a:xfrm>
            <a:off x="6030254" y="2207908"/>
            <a:ext cx="834306" cy="69349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Query </a:t>
            </a:r>
          </a:p>
          <a:p>
            <a:pPr algn="ctr"/>
            <a:r>
              <a:rPr lang="en-US" sz="1200" dirty="0"/>
              <a:t>Pipeline</a:t>
            </a:r>
            <a:endParaRPr lang="en-US" sz="1100" dirty="0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20C0564A-DF24-9727-7344-62CABE709AF1}"/>
              </a:ext>
            </a:extLst>
          </p:cNvPr>
          <p:cNvCxnSpPr>
            <a:cxnSpLocks/>
            <a:stCxn id="181" idx="1"/>
            <a:endCxn id="180" idx="3"/>
          </p:cNvCxnSpPr>
          <p:nvPr/>
        </p:nvCxnSpPr>
        <p:spPr>
          <a:xfrm flipH="1">
            <a:off x="5703206" y="2554658"/>
            <a:ext cx="32704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F7DE3FA-3E17-6D71-888C-61149959A1DE}"/>
              </a:ext>
            </a:extLst>
          </p:cNvPr>
          <p:cNvCxnSpPr>
            <a:stCxn id="36" idx="3"/>
            <a:endCxn id="26" idx="1"/>
          </p:cNvCxnSpPr>
          <p:nvPr/>
        </p:nvCxnSpPr>
        <p:spPr>
          <a:xfrm flipV="1">
            <a:off x="3882174" y="2095549"/>
            <a:ext cx="1015648" cy="1333451"/>
          </a:xfrm>
          <a:prstGeom prst="bentConnector3">
            <a:avLst>
              <a:gd name="adj1" fmla="val 64458"/>
            </a:avLst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6CB1DB6-A46F-32AA-63C5-7AC68DE24DB0}"/>
              </a:ext>
            </a:extLst>
          </p:cNvPr>
          <p:cNvSpPr txBox="1"/>
          <p:nvPr/>
        </p:nvSpPr>
        <p:spPr>
          <a:xfrm>
            <a:off x="3943632" y="3205571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/api/*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1283FDE-C319-A20A-66F9-5AE78967A256}"/>
              </a:ext>
            </a:extLst>
          </p:cNvPr>
          <p:cNvSpPr txBox="1"/>
          <p:nvPr/>
        </p:nvSpPr>
        <p:spPr>
          <a:xfrm>
            <a:off x="4227593" y="4623533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4174DE66-9A99-EAAD-04F9-7CDF09B37AF9}"/>
              </a:ext>
            </a:extLst>
          </p:cNvPr>
          <p:cNvCxnSpPr>
            <a:cxnSpLocks/>
            <a:stCxn id="57" idx="1"/>
          </p:cNvCxnSpPr>
          <p:nvPr/>
        </p:nvCxnSpPr>
        <p:spPr>
          <a:xfrm rot="10800000">
            <a:off x="3889896" y="3882619"/>
            <a:ext cx="1007926" cy="941161"/>
          </a:xfrm>
          <a:prstGeom prst="bentConnector3">
            <a:avLst>
              <a:gd name="adj1" fmla="val 67217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205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1C334-E282-6245-304B-5E831FC89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024">
            <a:extLst>
              <a:ext uri="{FF2B5EF4-FFF2-40B4-BE49-F238E27FC236}">
                <a16:creationId xmlns:a16="http://schemas.microsoft.com/office/drawing/2014/main" id="{86579F43-2FFF-68F3-7AD4-CC820DA75A28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113042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Web Server Setup + Overview (Development)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E8EDB6-D5B6-9853-B0C8-6B2D6B611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390" y="826942"/>
            <a:ext cx="6761220" cy="560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188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33262</TotalTime>
  <Words>657</Words>
  <Application>Microsoft Office PowerPoint</Application>
  <PresentationFormat>Widescreen</PresentationFormat>
  <Paragraphs>247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65</cp:revision>
  <dcterms:created xsi:type="dcterms:W3CDTF">2026-08-29T16:39:18Z</dcterms:created>
  <dcterms:modified xsi:type="dcterms:W3CDTF">2026-10-03T03:15:23Z</dcterms:modified>
</cp:coreProperties>
</file>