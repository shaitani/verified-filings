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17ED8"/>
    <a:srgbClr val="B0B0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660"/>
  </p:normalViewPr>
  <p:slideViewPr>
    <p:cSldViewPr snapToGrid="0">
      <p:cViewPr varScale="1">
        <p:scale>
          <a:sx n="154" d="100"/>
          <a:sy n="154" d="100"/>
        </p:scale>
        <p:origin x="432"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D03E4-1409-C5BA-5B75-437119D7A2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EEF1637-53A7-F6CC-AF5F-403211B6F6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906C80-B59A-BA96-9565-7D80B50F065F}"/>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5" name="Footer Placeholder 4">
            <a:extLst>
              <a:ext uri="{FF2B5EF4-FFF2-40B4-BE49-F238E27FC236}">
                <a16:creationId xmlns:a16="http://schemas.microsoft.com/office/drawing/2014/main" id="{2A75FF1B-409F-0CD4-2DFB-C0E519C2F0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C8B54D-4DCD-37F6-4E41-782C0276137A}"/>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35696758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407D7-0805-4348-A50B-26EB1FBC72B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03F67FA-7064-242B-F0D9-6B7B11D39E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C60842-D45E-86BC-45D4-C1DA43677E7A}"/>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5" name="Footer Placeholder 4">
            <a:extLst>
              <a:ext uri="{FF2B5EF4-FFF2-40B4-BE49-F238E27FC236}">
                <a16:creationId xmlns:a16="http://schemas.microsoft.com/office/drawing/2014/main" id="{1AD18280-16CD-43A3-BAC8-5B49DCFDBD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62D37E-3DEE-A6C1-3DD6-7B5A71B339E7}"/>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3169054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30815-3988-4D63-D947-86DD85A783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C22BE9-BFE7-CF38-8320-594ED47FDA3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339658-32E2-006F-790C-98D0F4600DAE}"/>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5" name="Footer Placeholder 4">
            <a:extLst>
              <a:ext uri="{FF2B5EF4-FFF2-40B4-BE49-F238E27FC236}">
                <a16:creationId xmlns:a16="http://schemas.microsoft.com/office/drawing/2014/main" id="{9B51930A-8A44-D0AC-C14D-4B95E3E5A4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8039E6-5B14-2F63-6D1D-738A6E529221}"/>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23054284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9D759-BA35-F6C1-7BBB-6853EF5931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46FB61-39C7-7F31-BC15-5AF29CA41EB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6CAB8E-C18D-2961-7A5D-1B6CE632DEE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18E3D0A-3DA1-CEAE-5988-83F183055691}"/>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6" name="Footer Placeholder 5">
            <a:extLst>
              <a:ext uri="{FF2B5EF4-FFF2-40B4-BE49-F238E27FC236}">
                <a16:creationId xmlns:a16="http://schemas.microsoft.com/office/drawing/2014/main" id="{E0A4AFE2-9B25-0A04-57AF-081AC81DD10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02CC36-8B68-7A6D-2142-23245B44E815}"/>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5942447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1DCE9-66B4-A9EE-E12F-B3836ABA47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13CE75-03B2-760B-16D6-3496067259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82CF800-84CB-80D3-DAA6-BE04D69246A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A22CB69-5B21-BAEB-CD71-045A46CAC9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8AA9C1A-0902-50E1-4629-786D16DC01F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9697B13-53EB-92AA-F5C5-8AA0F4FDF19C}"/>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8" name="Footer Placeholder 7">
            <a:extLst>
              <a:ext uri="{FF2B5EF4-FFF2-40B4-BE49-F238E27FC236}">
                <a16:creationId xmlns:a16="http://schemas.microsoft.com/office/drawing/2014/main" id="{03288F89-C38F-1C44-65D5-C6E459E67E9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FB6D559-32E9-48A6-3FB1-5162331C5E8D}"/>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12367744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0856EA-87DC-315D-3E62-3BB44D8EB64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B1001FD-D538-FB52-70E0-A97587A0065E}"/>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4" name="Footer Placeholder 3">
            <a:extLst>
              <a:ext uri="{FF2B5EF4-FFF2-40B4-BE49-F238E27FC236}">
                <a16:creationId xmlns:a16="http://schemas.microsoft.com/office/drawing/2014/main" id="{58B71AD7-B1A7-1718-68C1-0DB6825911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2E19E17-0A8A-7D06-42E0-4A524F7AB89C}"/>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849702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11C90F2-AFB5-1883-951E-E03E774498C5}"/>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3" name="Footer Placeholder 2">
            <a:extLst>
              <a:ext uri="{FF2B5EF4-FFF2-40B4-BE49-F238E27FC236}">
                <a16:creationId xmlns:a16="http://schemas.microsoft.com/office/drawing/2014/main" id="{B796DC03-9292-193E-F104-19533ACFFD2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7981984-E89A-FAF8-484A-1662EC645D84}"/>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30829805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33898F-882B-2D26-4FE3-48B4135FA07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8138911-6B4F-CA2D-7C41-FD214329DB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D9BD33-44B6-FFD6-50A0-95ACDEC9F9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AE0C14-EA06-967C-322B-0EE0531D038F}"/>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6" name="Footer Placeholder 5">
            <a:extLst>
              <a:ext uri="{FF2B5EF4-FFF2-40B4-BE49-F238E27FC236}">
                <a16:creationId xmlns:a16="http://schemas.microsoft.com/office/drawing/2014/main" id="{1184BBEF-4EC7-39FF-5045-DDE131F65F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05D25D-9FC9-81FE-5ECE-374476A2026E}"/>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39762089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D60A2-9645-5131-C66C-AFD215E3FD8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7959AE0-90E1-D7F6-54D3-AA12B7DAE4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88EF64-D88F-F36A-8EE2-BBB454F2C9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AF3B7FC-961D-0141-44ED-E2C0709EFEEB}"/>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6" name="Footer Placeholder 5">
            <a:extLst>
              <a:ext uri="{FF2B5EF4-FFF2-40B4-BE49-F238E27FC236}">
                <a16:creationId xmlns:a16="http://schemas.microsoft.com/office/drawing/2014/main" id="{3C808282-A4F0-393E-E38F-131E58B15F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57482AA-9F6F-A7A9-13BE-35E0F5787F52}"/>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3539099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8BA3E-DEF7-CC9D-00F0-EF1E046473E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E989D7-B91E-0C77-6B27-93D942DBA68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4ACB26-3291-4613-CAA0-3CCA42ADF516}"/>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5" name="Footer Placeholder 4">
            <a:extLst>
              <a:ext uri="{FF2B5EF4-FFF2-40B4-BE49-F238E27FC236}">
                <a16:creationId xmlns:a16="http://schemas.microsoft.com/office/drawing/2014/main" id="{00A7A27A-15F7-4BCF-0084-8A3CFBEF2F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F467920-B52C-1586-6714-C29B782A7191}"/>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2445253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B6CE34-703A-5C72-D780-58BE40743E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9B5D134-DD0F-03B6-DCFB-61889E9E4B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845069-FF40-39D8-0E71-8DB5ECA677DC}"/>
              </a:ext>
            </a:extLst>
          </p:cNvPr>
          <p:cNvSpPr>
            <a:spLocks noGrp="1"/>
          </p:cNvSpPr>
          <p:nvPr>
            <p:ph type="dt" sz="half" idx="10"/>
          </p:nvPr>
        </p:nvSpPr>
        <p:spPr/>
        <p:txBody>
          <a:bodyPr/>
          <a:lstStyle/>
          <a:p>
            <a:fld id="{E779FE8C-703A-4904-A4E0-13778480428C}" type="datetimeFigureOut">
              <a:rPr lang="en-US" smtClean="0"/>
              <a:t>9/14/2026</a:t>
            </a:fld>
            <a:endParaRPr lang="en-US"/>
          </a:p>
        </p:txBody>
      </p:sp>
      <p:sp>
        <p:nvSpPr>
          <p:cNvPr id="5" name="Footer Placeholder 4">
            <a:extLst>
              <a:ext uri="{FF2B5EF4-FFF2-40B4-BE49-F238E27FC236}">
                <a16:creationId xmlns:a16="http://schemas.microsoft.com/office/drawing/2014/main" id="{D6B07194-52D7-077D-EFB6-A17850AD15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B1E86A-7B58-CF12-7568-370ADE0996C1}"/>
              </a:ext>
            </a:extLst>
          </p:cNvPr>
          <p:cNvSpPr>
            <a:spLocks noGrp="1"/>
          </p:cNvSpPr>
          <p:nvPr>
            <p:ph type="sldNum" sz="quarter" idx="12"/>
          </p:nvPr>
        </p:nvSpPr>
        <p:spPr/>
        <p:txBody>
          <a:bodyPr/>
          <a:lstStyle/>
          <a:p>
            <a:fld id="{DD9AB307-D7BF-4924-BB24-100D21C051A0}" type="slidenum">
              <a:rPr lang="en-US" smtClean="0"/>
              <a:t>‹#›</a:t>
            </a:fld>
            <a:endParaRPr lang="en-US"/>
          </a:p>
        </p:txBody>
      </p:sp>
    </p:spTree>
    <p:extLst>
      <p:ext uri="{BB962C8B-B14F-4D97-AF65-F5344CB8AC3E}">
        <p14:creationId xmlns:p14="http://schemas.microsoft.com/office/powerpoint/2010/main" val="3783387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5D90474-2B9C-5267-48E5-FC282BFDFD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12B3DE6-1A82-D5D6-9D15-A511FE6191B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0D5346-3721-413D-42E3-C69BE99CB4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779FE8C-703A-4904-A4E0-13778480428C}" type="datetimeFigureOut">
              <a:rPr lang="en-US" smtClean="0"/>
              <a:t>9/14/2026</a:t>
            </a:fld>
            <a:endParaRPr lang="en-US"/>
          </a:p>
        </p:txBody>
      </p:sp>
      <p:sp>
        <p:nvSpPr>
          <p:cNvPr id="5" name="Footer Placeholder 4">
            <a:extLst>
              <a:ext uri="{FF2B5EF4-FFF2-40B4-BE49-F238E27FC236}">
                <a16:creationId xmlns:a16="http://schemas.microsoft.com/office/drawing/2014/main" id="{A8400991-DE83-E935-32DB-021826F0BF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8E601DD-CC45-6C57-F876-16651C96C06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D9AB307-D7BF-4924-BB24-100D21C051A0}" type="slidenum">
              <a:rPr lang="en-US" smtClean="0"/>
              <a:t>‹#›</a:t>
            </a:fld>
            <a:endParaRPr lang="en-US"/>
          </a:p>
        </p:txBody>
      </p:sp>
    </p:spTree>
    <p:extLst>
      <p:ext uri="{BB962C8B-B14F-4D97-AF65-F5344CB8AC3E}">
        <p14:creationId xmlns:p14="http://schemas.microsoft.com/office/powerpoint/2010/main" val="106844303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Rectangle 72">
            <a:extLst>
              <a:ext uri="{FF2B5EF4-FFF2-40B4-BE49-F238E27FC236}">
                <a16:creationId xmlns:a16="http://schemas.microsoft.com/office/drawing/2014/main" id="{1C37FB3A-8823-595A-E49C-1F3D559F712D}"/>
              </a:ext>
            </a:extLst>
          </p:cNvPr>
          <p:cNvSpPr/>
          <p:nvPr/>
        </p:nvSpPr>
        <p:spPr>
          <a:xfrm>
            <a:off x="2097659" y="149458"/>
            <a:ext cx="3492379" cy="1656606"/>
          </a:xfrm>
          <a:prstGeom prst="rect">
            <a:avLst/>
          </a:prstGeom>
          <a:solidFill>
            <a:schemeClr val="bg1">
              <a:lumMod val="95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dirty="0">
              <a:solidFill>
                <a:schemeClr val="tx1"/>
              </a:solidFill>
            </a:endParaRPr>
          </a:p>
        </p:txBody>
      </p:sp>
      <p:sp>
        <p:nvSpPr>
          <p:cNvPr id="15" name="Rectangle 14">
            <a:extLst>
              <a:ext uri="{FF2B5EF4-FFF2-40B4-BE49-F238E27FC236}">
                <a16:creationId xmlns:a16="http://schemas.microsoft.com/office/drawing/2014/main" id="{9BCFF54A-ABDC-829F-D38E-19DC6F0A6EAE}"/>
              </a:ext>
            </a:extLst>
          </p:cNvPr>
          <p:cNvSpPr/>
          <p:nvPr/>
        </p:nvSpPr>
        <p:spPr>
          <a:xfrm>
            <a:off x="6874294" y="1766629"/>
            <a:ext cx="1314542" cy="1426968"/>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45720" rIns="0" bIns="0" rtlCol="0" anchor="t"/>
          <a:lstStyle/>
          <a:p>
            <a:pPr algn="ctr"/>
            <a:r>
              <a:rPr lang="en-US" sz="900" b="1" dirty="0"/>
              <a:t>🐳 Docker Container</a:t>
            </a:r>
          </a:p>
          <a:p>
            <a:pPr algn="ctr"/>
            <a:r>
              <a:rPr lang="en-US" sz="900" i="1" dirty="0"/>
              <a:t>“pgvector/pgvector:pg17”</a:t>
            </a:r>
          </a:p>
        </p:txBody>
      </p:sp>
      <p:sp>
        <p:nvSpPr>
          <p:cNvPr id="3" name="Rectangle 2">
            <a:extLst>
              <a:ext uri="{FF2B5EF4-FFF2-40B4-BE49-F238E27FC236}">
                <a16:creationId xmlns:a16="http://schemas.microsoft.com/office/drawing/2014/main" id="{CAAC8FDD-2CDB-1421-3C89-7271865A8AA6}"/>
              </a:ext>
            </a:extLst>
          </p:cNvPr>
          <p:cNvSpPr/>
          <p:nvPr/>
        </p:nvSpPr>
        <p:spPr>
          <a:xfrm>
            <a:off x="6874294" y="549197"/>
            <a:ext cx="1314542" cy="922951"/>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45720" rIns="0" bIns="0" rtlCol="0" anchor="t"/>
          <a:lstStyle/>
          <a:p>
            <a:pPr algn="ctr"/>
            <a:r>
              <a:rPr lang="en-US" sz="900" b="1" dirty="0"/>
              <a:t>🐳 Docker Container</a:t>
            </a:r>
          </a:p>
          <a:p>
            <a:pPr algn="ctr"/>
            <a:r>
              <a:rPr lang="en-US" sz="900" i="1" dirty="0"/>
              <a:t>“dpage/pgadmin4”</a:t>
            </a:r>
          </a:p>
        </p:txBody>
      </p:sp>
      <p:sp>
        <p:nvSpPr>
          <p:cNvPr id="97" name="Rectangle 96">
            <a:extLst>
              <a:ext uri="{FF2B5EF4-FFF2-40B4-BE49-F238E27FC236}">
                <a16:creationId xmlns:a16="http://schemas.microsoft.com/office/drawing/2014/main" id="{3648F25D-F87B-BA73-4E34-C9B47F8DEFFF}"/>
              </a:ext>
            </a:extLst>
          </p:cNvPr>
          <p:cNvSpPr/>
          <p:nvPr/>
        </p:nvSpPr>
        <p:spPr>
          <a:xfrm>
            <a:off x="6933487" y="2216982"/>
            <a:ext cx="1196156" cy="895688"/>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en-US" sz="1600" dirty="0"/>
              <a:t>PostgreSQL Server</a:t>
            </a:r>
          </a:p>
        </p:txBody>
      </p:sp>
      <p:sp>
        <p:nvSpPr>
          <p:cNvPr id="4" name="Thought Bubble: Cloud 3">
            <a:extLst>
              <a:ext uri="{FF2B5EF4-FFF2-40B4-BE49-F238E27FC236}">
                <a16:creationId xmlns:a16="http://schemas.microsoft.com/office/drawing/2014/main" id="{AC1FB946-271A-7F06-1F3D-5F01BA6B3672}"/>
              </a:ext>
            </a:extLst>
          </p:cNvPr>
          <p:cNvSpPr/>
          <p:nvPr/>
        </p:nvSpPr>
        <p:spPr>
          <a:xfrm>
            <a:off x="481515" y="184470"/>
            <a:ext cx="1177564" cy="660952"/>
          </a:xfrm>
          <a:prstGeom prst="cloudCallout">
            <a:avLst>
              <a:gd name="adj1" fmla="val 964"/>
              <a:gd name="adj2" fmla="val 11151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solidFill>
                  <a:schemeClr val="tx1"/>
                </a:solidFill>
              </a:rPr>
              <a:t>SEC</a:t>
            </a:r>
          </a:p>
        </p:txBody>
      </p:sp>
      <p:sp>
        <p:nvSpPr>
          <p:cNvPr id="5" name="Rectangle 4">
            <a:extLst>
              <a:ext uri="{FF2B5EF4-FFF2-40B4-BE49-F238E27FC236}">
                <a16:creationId xmlns:a16="http://schemas.microsoft.com/office/drawing/2014/main" id="{A74C31EA-1C5A-D9F3-DE5D-D532F60566A9}"/>
              </a:ext>
            </a:extLst>
          </p:cNvPr>
          <p:cNvSpPr/>
          <p:nvPr/>
        </p:nvSpPr>
        <p:spPr>
          <a:xfrm>
            <a:off x="509643" y="1332477"/>
            <a:ext cx="1121308" cy="1361588"/>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dirty="0"/>
              <a:t>Retrieval Client</a:t>
            </a:r>
          </a:p>
          <a:p>
            <a:pPr algn="ctr"/>
            <a:r>
              <a:rPr lang="en-US" sz="1100" dirty="0"/>
              <a:t>📚 </a:t>
            </a:r>
            <a:r>
              <a:rPr lang="en-US" sz="1100" u="sng" dirty="0"/>
              <a:t>httpx</a:t>
            </a:r>
            <a:endParaRPr lang="en-US" u="sng" dirty="0"/>
          </a:p>
          <a:p>
            <a:pPr algn="ctr"/>
            <a:endParaRPr lang="en-US" sz="1050" dirty="0"/>
          </a:p>
          <a:p>
            <a:pPr algn="ctr"/>
            <a:r>
              <a:rPr lang="en-US" sz="1000" dirty="0"/>
              <a:t>= grabs data from site + stores locally</a:t>
            </a:r>
          </a:p>
        </p:txBody>
      </p:sp>
      <p:sp>
        <p:nvSpPr>
          <p:cNvPr id="6" name="Rectangle 5">
            <a:extLst>
              <a:ext uri="{FF2B5EF4-FFF2-40B4-BE49-F238E27FC236}">
                <a16:creationId xmlns:a16="http://schemas.microsoft.com/office/drawing/2014/main" id="{416172B8-57BB-0D77-7612-743EB92E5282}"/>
              </a:ext>
            </a:extLst>
          </p:cNvPr>
          <p:cNvSpPr/>
          <p:nvPr/>
        </p:nvSpPr>
        <p:spPr>
          <a:xfrm>
            <a:off x="509643" y="2927983"/>
            <a:ext cx="1121308" cy="548974"/>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HTTP Cache</a:t>
            </a:r>
          </a:p>
        </p:txBody>
      </p:sp>
      <p:cxnSp>
        <p:nvCxnSpPr>
          <p:cNvPr id="8" name="Straight Arrow Connector 7">
            <a:extLst>
              <a:ext uri="{FF2B5EF4-FFF2-40B4-BE49-F238E27FC236}">
                <a16:creationId xmlns:a16="http://schemas.microsoft.com/office/drawing/2014/main" id="{09C46E33-DA6D-C2D1-A479-21267E9A4CC8}"/>
              </a:ext>
            </a:extLst>
          </p:cNvPr>
          <p:cNvCxnSpPr>
            <a:cxnSpLocks/>
            <a:stCxn id="5" idx="2"/>
            <a:endCxn id="6" idx="0"/>
          </p:cNvCxnSpPr>
          <p:nvPr/>
        </p:nvCxnSpPr>
        <p:spPr>
          <a:xfrm>
            <a:off x="1070297" y="2694065"/>
            <a:ext cx="0" cy="233918"/>
          </a:xfrm>
          <a:prstGeom prst="straightConnector1">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3D486B51-56A3-85DE-929B-5ECA1F88C008}"/>
              </a:ext>
            </a:extLst>
          </p:cNvPr>
          <p:cNvSpPr/>
          <p:nvPr/>
        </p:nvSpPr>
        <p:spPr>
          <a:xfrm>
            <a:off x="509643" y="3665676"/>
            <a:ext cx="1121308" cy="95783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JSONs</a:t>
            </a:r>
            <a:endParaRPr lang="en-US" sz="1200" dirty="0">
              <a:solidFill>
                <a:schemeClr val="tx1"/>
              </a:solidFill>
            </a:endParaRPr>
          </a:p>
          <a:p>
            <a:pPr algn="ctr"/>
            <a:r>
              <a:rPr lang="en-US" sz="1100" dirty="0">
                <a:solidFill>
                  <a:schemeClr val="tx1"/>
                </a:solidFill>
              </a:rPr>
              <a:t>(Submissions + XBRL)</a:t>
            </a:r>
          </a:p>
        </p:txBody>
      </p:sp>
      <p:cxnSp>
        <p:nvCxnSpPr>
          <p:cNvPr id="12" name="Straight Arrow Connector 11">
            <a:extLst>
              <a:ext uri="{FF2B5EF4-FFF2-40B4-BE49-F238E27FC236}">
                <a16:creationId xmlns:a16="http://schemas.microsoft.com/office/drawing/2014/main" id="{235F020E-037C-F85F-539F-6183F10D6F3C}"/>
              </a:ext>
            </a:extLst>
          </p:cNvPr>
          <p:cNvCxnSpPr>
            <a:cxnSpLocks/>
            <a:stCxn id="6" idx="2"/>
            <a:endCxn id="11" idx="0"/>
          </p:cNvCxnSpPr>
          <p:nvPr/>
        </p:nvCxnSpPr>
        <p:spPr>
          <a:xfrm>
            <a:off x="1070297" y="3476957"/>
            <a:ext cx="0" cy="188719"/>
          </a:xfrm>
          <a:prstGeom prst="straightConnector1">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A3076D25-8CEE-9646-810A-41A2213E6726}"/>
              </a:ext>
            </a:extLst>
          </p:cNvPr>
          <p:cNvSpPr/>
          <p:nvPr/>
        </p:nvSpPr>
        <p:spPr>
          <a:xfrm>
            <a:off x="536339" y="1352500"/>
            <a:ext cx="393791" cy="106792"/>
          </a:xfrm>
          <a:prstGeom prst="rect">
            <a:avLst/>
          </a:prstGeom>
          <a:solidFill>
            <a:srgbClr val="7030A0"/>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.py script</a:t>
            </a:r>
          </a:p>
        </p:txBody>
      </p:sp>
      <p:sp>
        <p:nvSpPr>
          <p:cNvPr id="22" name="Rectangle 21">
            <a:extLst>
              <a:ext uri="{FF2B5EF4-FFF2-40B4-BE49-F238E27FC236}">
                <a16:creationId xmlns:a16="http://schemas.microsoft.com/office/drawing/2014/main" id="{364D00D2-941A-8B09-7718-5B11749968F7}"/>
              </a:ext>
            </a:extLst>
          </p:cNvPr>
          <p:cNvSpPr/>
          <p:nvPr/>
        </p:nvSpPr>
        <p:spPr>
          <a:xfrm>
            <a:off x="2485670" y="382618"/>
            <a:ext cx="1256228" cy="1301519"/>
          </a:xfrm>
          <a:prstGeom prst="rect">
            <a:avLst/>
          </a:prstGeom>
          <a:solidFill>
            <a:srgbClr val="B17ED8"/>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endParaRPr lang="en-US" sz="900" dirty="0"/>
          </a:p>
          <a:p>
            <a:pPr algn="ctr"/>
            <a:r>
              <a:rPr lang="en-US" dirty="0"/>
              <a:t>DB Models</a:t>
            </a:r>
          </a:p>
          <a:p>
            <a:pPr algn="ctr"/>
            <a:r>
              <a:rPr lang="en-US" sz="1100" dirty="0"/>
              <a:t>📚 </a:t>
            </a:r>
            <a:r>
              <a:rPr lang="en-US" sz="1100" b="1" u="sng" dirty="0"/>
              <a:t>SQLAlchemy</a:t>
            </a:r>
            <a:endParaRPr lang="en-US" sz="1200" b="1" u="sng" dirty="0"/>
          </a:p>
          <a:p>
            <a:pPr algn="ctr"/>
            <a:r>
              <a:rPr lang="en-US" sz="1000" i="1" dirty="0"/>
              <a:t>[ORM features]</a:t>
            </a:r>
          </a:p>
          <a:p>
            <a:pPr algn="ctr"/>
            <a:endParaRPr lang="en-US" sz="1200" dirty="0"/>
          </a:p>
          <a:p>
            <a:pPr algn="ctr"/>
            <a:r>
              <a:rPr lang="en-US" sz="1200" dirty="0"/>
              <a:t>= full def. of DB tables</a:t>
            </a:r>
          </a:p>
        </p:txBody>
      </p:sp>
      <p:sp>
        <p:nvSpPr>
          <p:cNvPr id="23" name="Rectangle 22">
            <a:extLst>
              <a:ext uri="{FF2B5EF4-FFF2-40B4-BE49-F238E27FC236}">
                <a16:creationId xmlns:a16="http://schemas.microsoft.com/office/drawing/2014/main" id="{27C00856-EFA1-9B34-94C3-604CA6A2EACE}"/>
              </a:ext>
            </a:extLst>
          </p:cNvPr>
          <p:cNvSpPr/>
          <p:nvPr/>
        </p:nvSpPr>
        <p:spPr>
          <a:xfrm>
            <a:off x="2512366" y="402642"/>
            <a:ext cx="468643" cy="106792"/>
          </a:xfrm>
          <a:prstGeom prst="rect">
            <a:avLst/>
          </a:prstGeom>
          <a:solidFill>
            <a:srgbClr val="B17ED8"/>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.py Classes</a:t>
            </a:r>
          </a:p>
        </p:txBody>
      </p:sp>
      <p:sp>
        <p:nvSpPr>
          <p:cNvPr id="24" name="Rectangle 23">
            <a:extLst>
              <a:ext uri="{FF2B5EF4-FFF2-40B4-BE49-F238E27FC236}">
                <a16:creationId xmlns:a16="http://schemas.microsoft.com/office/drawing/2014/main" id="{B6B29512-177E-E14A-AE56-6D351F134797}"/>
              </a:ext>
            </a:extLst>
          </p:cNvPr>
          <p:cNvSpPr/>
          <p:nvPr/>
        </p:nvSpPr>
        <p:spPr>
          <a:xfrm>
            <a:off x="4115345" y="382617"/>
            <a:ext cx="1256225" cy="1301519"/>
          </a:xfrm>
          <a:prstGeom prst="rect">
            <a:avLst/>
          </a:prstGeom>
          <a:solidFill>
            <a:srgbClr val="B17ED8"/>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endParaRPr lang="en-US" sz="900" dirty="0"/>
          </a:p>
          <a:p>
            <a:pPr algn="ctr"/>
            <a:r>
              <a:rPr lang="en-US" dirty="0"/>
              <a:t>DB Schemas</a:t>
            </a:r>
            <a:r>
              <a:rPr lang="en-US" sz="1100" dirty="0"/>
              <a:t>*</a:t>
            </a:r>
            <a:endParaRPr lang="en-US" dirty="0"/>
          </a:p>
          <a:p>
            <a:pPr algn="ctr"/>
            <a:r>
              <a:rPr lang="en-US" sz="1100" dirty="0"/>
              <a:t>📚 </a:t>
            </a:r>
            <a:r>
              <a:rPr lang="en-US" sz="1100" b="1" u="sng" dirty="0"/>
              <a:t>Pydantic</a:t>
            </a:r>
            <a:endParaRPr lang="en-US" sz="1200" b="1" u="sng" dirty="0"/>
          </a:p>
          <a:p>
            <a:pPr algn="ctr"/>
            <a:endParaRPr lang="en-US" sz="1100" dirty="0"/>
          </a:p>
          <a:p>
            <a:pPr algn="ctr"/>
            <a:endParaRPr lang="en-US" sz="1100" dirty="0"/>
          </a:p>
          <a:p>
            <a:pPr algn="ctr"/>
            <a:r>
              <a:rPr lang="en-US" sz="1200" dirty="0"/>
              <a:t>= full </a:t>
            </a:r>
            <a:r>
              <a:rPr lang="en-US" sz="1200" u="sng" dirty="0"/>
              <a:t>C</a:t>
            </a:r>
            <a:r>
              <a:rPr lang="en-US" sz="1200" dirty="0"/>
              <a:t>RUD def. </a:t>
            </a:r>
          </a:p>
          <a:p>
            <a:pPr algn="ctr"/>
            <a:r>
              <a:rPr lang="en-US" sz="1200" dirty="0"/>
              <a:t>for DB Models</a:t>
            </a:r>
          </a:p>
        </p:txBody>
      </p:sp>
      <p:sp>
        <p:nvSpPr>
          <p:cNvPr id="26" name="Rectangle 25">
            <a:extLst>
              <a:ext uri="{FF2B5EF4-FFF2-40B4-BE49-F238E27FC236}">
                <a16:creationId xmlns:a16="http://schemas.microsoft.com/office/drawing/2014/main" id="{6ADA0233-98EE-002E-0424-5789D9F350B8}"/>
              </a:ext>
            </a:extLst>
          </p:cNvPr>
          <p:cNvSpPr/>
          <p:nvPr/>
        </p:nvSpPr>
        <p:spPr>
          <a:xfrm>
            <a:off x="4142042" y="411469"/>
            <a:ext cx="468643" cy="106884"/>
          </a:xfrm>
          <a:prstGeom prst="rect">
            <a:avLst/>
          </a:prstGeom>
          <a:solidFill>
            <a:srgbClr val="B17ED8"/>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.py Classes</a:t>
            </a:r>
          </a:p>
        </p:txBody>
      </p:sp>
      <p:cxnSp>
        <p:nvCxnSpPr>
          <p:cNvPr id="28" name="Straight Connector 27">
            <a:extLst>
              <a:ext uri="{FF2B5EF4-FFF2-40B4-BE49-F238E27FC236}">
                <a16:creationId xmlns:a16="http://schemas.microsoft.com/office/drawing/2014/main" id="{C5419D62-D42D-8BD9-5B51-2E3513C3CF06}"/>
              </a:ext>
            </a:extLst>
          </p:cNvPr>
          <p:cNvCxnSpPr>
            <a:cxnSpLocks/>
            <a:stCxn id="22" idx="3"/>
            <a:endCxn id="24" idx="1"/>
          </p:cNvCxnSpPr>
          <p:nvPr/>
        </p:nvCxnSpPr>
        <p:spPr>
          <a:xfrm flipV="1">
            <a:off x="3741898" y="1033377"/>
            <a:ext cx="373447" cy="1"/>
          </a:xfrm>
          <a:prstGeom prst="line">
            <a:avLst/>
          </a:prstGeom>
          <a:ln w="38100">
            <a:solidFill>
              <a:srgbClr val="B17ED8"/>
            </a:solidFill>
            <a:prstDash val="sysDot"/>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224BAD58-B4F3-1659-77BA-CF132D8185D8}"/>
              </a:ext>
            </a:extLst>
          </p:cNvPr>
          <p:cNvSpPr/>
          <p:nvPr/>
        </p:nvSpPr>
        <p:spPr>
          <a:xfrm>
            <a:off x="2467882" y="1967324"/>
            <a:ext cx="1256227" cy="862212"/>
          </a:xfrm>
          <a:prstGeom prst="rect">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endParaRPr lang="en-US" sz="900" dirty="0"/>
          </a:p>
          <a:p>
            <a:pPr algn="ctr"/>
            <a:r>
              <a:rPr lang="en-US" sz="1100" dirty="0"/>
              <a:t>📚 </a:t>
            </a:r>
            <a:r>
              <a:rPr lang="en-US" sz="1100" b="1" u="sng" dirty="0"/>
              <a:t>Alembic</a:t>
            </a:r>
            <a:endParaRPr lang="en-US" sz="1050" dirty="0"/>
          </a:p>
          <a:p>
            <a:pPr algn="ctr"/>
            <a:r>
              <a:rPr lang="en-US" sz="700" i="1" dirty="0"/>
              <a:t>Uses DB Models to create .py scripts to interact with the DB. </a:t>
            </a:r>
          </a:p>
          <a:p>
            <a:pPr algn="ctr"/>
            <a:endParaRPr lang="en-US" sz="700" i="1" dirty="0"/>
          </a:p>
          <a:p>
            <a:pPr algn="ctr"/>
            <a:r>
              <a:rPr lang="en-US" sz="700" i="1" dirty="0"/>
              <a:t>One .py script per revision of the table, so migrations are built in.</a:t>
            </a:r>
          </a:p>
        </p:txBody>
      </p:sp>
      <p:sp>
        <p:nvSpPr>
          <p:cNvPr id="31" name="Rectangle 30">
            <a:extLst>
              <a:ext uri="{FF2B5EF4-FFF2-40B4-BE49-F238E27FC236}">
                <a16:creationId xmlns:a16="http://schemas.microsoft.com/office/drawing/2014/main" id="{0BE29473-1C83-BE93-4761-E6F6DF9E7F2B}"/>
              </a:ext>
            </a:extLst>
          </p:cNvPr>
          <p:cNvSpPr/>
          <p:nvPr/>
        </p:nvSpPr>
        <p:spPr>
          <a:xfrm>
            <a:off x="2494578" y="1987348"/>
            <a:ext cx="548737" cy="106790"/>
          </a:xfrm>
          <a:prstGeom prst="rect">
            <a:avLst/>
          </a:prstGeom>
          <a:solidFill>
            <a:srgbClr val="0070C0"/>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Console cmd</a:t>
            </a:r>
          </a:p>
        </p:txBody>
      </p:sp>
      <p:sp>
        <p:nvSpPr>
          <p:cNvPr id="39" name="Rectangle 38">
            <a:extLst>
              <a:ext uri="{FF2B5EF4-FFF2-40B4-BE49-F238E27FC236}">
                <a16:creationId xmlns:a16="http://schemas.microsoft.com/office/drawing/2014/main" id="{CB8C5D96-3572-ED9D-3C46-499AF5791C7B}"/>
              </a:ext>
            </a:extLst>
          </p:cNvPr>
          <p:cNvSpPr/>
          <p:nvPr/>
        </p:nvSpPr>
        <p:spPr>
          <a:xfrm>
            <a:off x="4096597" y="1967324"/>
            <a:ext cx="1257184" cy="862209"/>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bg1"/>
                </a:solidFill>
              </a:rPr>
              <a:t>Python Scripts</a:t>
            </a:r>
          </a:p>
          <a:p>
            <a:pPr algn="ctr"/>
            <a:r>
              <a:rPr lang="en-US" sz="1200" dirty="0">
                <a:solidFill>
                  <a:schemeClr val="bg1"/>
                </a:solidFill>
              </a:rPr>
              <a:t>📚 </a:t>
            </a:r>
            <a:r>
              <a:rPr lang="en-US" sz="1200" u="sng" dirty="0">
                <a:solidFill>
                  <a:schemeClr val="bg1"/>
                </a:solidFill>
              </a:rPr>
              <a:t>SQLAlchemy</a:t>
            </a:r>
          </a:p>
          <a:p>
            <a:pPr algn="ctr"/>
            <a:r>
              <a:rPr lang="en-US" sz="1100" i="1" dirty="0">
                <a:solidFill>
                  <a:schemeClr val="bg1"/>
                </a:solidFill>
              </a:rPr>
              <a:t>[Core features]</a:t>
            </a:r>
          </a:p>
          <a:p>
            <a:pPr algn="ctr"/>
            <a:endParaRPr lang="en-US" sz="900" dirty="0">
              <a:solidFill>
                <a:schemeClr val="bg1"/>
              </a:solidFill>
            </a:endParaRPr>
          </a:p>
          <a:p>
            <a:pPr algn="ctr"/>
            <a:r>
              <a:rPr lang="en-US" sz="900" dirty="0">
                <a:solidFill>
                  <a:schemeClr val="bg1"/>
                </a:solidFill>
              </a:rPr>
              <a:t>= create empty tables</a:t>
            </a:r>
          </a:p>
        </p:txBody>
      </p:sp>
      <p:cxnSp>
        <p:nvCxnSpPr>
          <p:cNvPr id="40" name="Straight Arrow Connector 39">
            <a:extLst>
              <a:ext uri="{FF2B5EF4-FFF2-40B4-BE49-F238E27FC236}">
                <a16:creationId xmlns:a16="http://schemas.microsoft.com/office/drawing/2014/main" id="{1AD9706D-EA7F-72ED-ECE2-A572DE446AF6}"/>
              </a:ext>
            </a:extLst>
          </p:cNvPr>
          <p:cNvCxnSpPr>
            <a:cxnSpLocks/>
            <a:stCxn id="30" idx="3"/>
            <a:endCxn id="39" idx="1"/>
          </p:cNvCxnSpPr>
          <p:nvPr/>
        </p:nvCxnSpPr>
        <p:spPr>
          <a:xfrm flipV="1">
            <a:off x="3724109" y="2398429"/>
            <a:ext cx="372488" cy="1"/>
          </a:xfrm>
          <a:prstGeom prst="straightConnector1">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868C1553-8B20-D677-F8CD-C7BFBCDD1FFA}"/>
              </a:ext>
            </a:extLst>
          </p:cNvPr>
          <p:cNvCxnSpPr>
            <a:cxnSpLocks/>
          </p:cNvCxnSpPr>
          <p:nvPr/>
        </p:nvCxnSpPr>
        <p:spPr>
          <a:xfrm>
            <a:off x="1630951" y="3891416"/>
            <a:ext cx="836929" cy="0"/>
          </a:xfrm>
          <a:prstGeom prst="straightConnector1">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18ADDC4F-4E2B-6DBC-599E-3234D89DA381}"/>
              </a:ext>
            </a:extLst>
          </p:cNvPr>
          <p:cNvSpPr/>
          <p:nvPr/>
        </p:nvSpPr>
        <p:spPr>
          <a:xfrm>
            <a:off x="2467880" y="3281155"/>
            <a:ext cx="1483159" cy="1397845"/>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endParaRPr lang="en-US" sz="1100" dirty="0"/>
          </a:p>
          <a:p>
            <a:pPr algn="ctr"/>
            <a:r>
              <a:rPr lang="en-US" sz="1600" dirty="0"/>
              <a:t>Data Loader</a:t>
            </a:r>
          </a:p>
          <a:p>
            <a:pPr algn="ctr"/>
            <a:r>
              <a:rPr lang="en-US" sz="1050" dirty="0"/>
              <a:t>📚 </a:t>
            </a:r>
            <a:r>
              <a:rPr lang="en-US" sz="1050" b="1" u="sng" dirty="0"/>
              <a:t>SQLAlchemy</a:t>
            </a:r>
          </a:p>
          <a:p>
            <a:pPr algn="ctr"/>
            <a:r>
              <a:rPr lang="en-US" sz="1050" i="1" dirty="0"/>
              <a:t>[Core features]</a:t>
            </a:r>
          </a:p>
          <a:p>
            <a:pPr algn="ctr"/>
            <a:endParaRPr lang="en-US" sz="1600" dirty="0"/>
          </a:p>
          <a:p>
            <a:pPr algn="ctr"/>
            <a:r>
              <a:rPr lang="en-US" sz="1100" dirty="0"/>
              <a:t>= uses Pydantic schemas to </a:t>
            </a:r>
            <a:r>
              <a:rPr lang="en-US" sz="1100" u="sng" dirty="0"/>
              <a:t>C</a:t>
            </a:r>
            <a:r>
              <a:rPr lang="en-US" sz="1100" dirty="0"/>
              <a:t>reate DB entries</a:t>
            </a:r>
          </a:p>
        </p:txBody>
      </p:sp>
      <p:sp>
        <p:nvSpPr>
          <p:cNvPr id="57" name="Rectangle 56">
            <a:extLst>
              <a:ext uri="{FF2B5EF4-FFF2-40B4-BE49-F238E27FC236}">
                <a16:creationId xmlns:a16="http://schemas.microsoft.com/office/drawing/2014/main" id="{6EFBF2C6-D8B2-6371-8BF3-2F3E1EEBEC33}"/>
              </a:ext>
            </a:extLst>
          </p:cNvPr>
          <p:cNvSpPr/>
          <p:nvPr/>
        </p:nvSpPr>
        <p:spPr>
          <a:xfrm>
            <a:off x="2494577" y="3301178"/>
            <a:ext cx="393791" cy="105966"/>
          </a:xfrm>
          <a:prstGeom prst="rect">
            <a:avLst/>
          </a:prstGeom>
          <a:solidFill>
            <a:srgbClr val="7030A0"/>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.py script</a:t>
            </a:r>
          </a:p>
        </p:txBody>
      </p:sp>
      <p:sp>
        <p:nvSpPr>
          <p:cNvPr id="71" name="Rectangle 70">
            <a:extLst>
              <a:ext uri="{FF2B5EF4-FFF2-40B4-BE49-F238E27FC236}">
                <a16:creationId xmlns:a16="http://schemas.microsoft.com/office/drawing/2014/main" id="{DA968180-27A3-3E9A-375B-8DE4CA2771B5}"/>
              </a:ext>
            </a:extLst>
          </p:cNvPr>
          <p:cNvSpPr/>
          <p:nvPr/>
        </p:nvSpPr>
        <p:spPr>
          <a:xfrm>
            <a:off x="3951039" y="3281155"/>
            <a:ext cx="1454713" cy="1397845"/>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91440" tIns="0" rIns="0" bIns="0" rtlCol="0" anchor="ctr"/>
          <a:lstStyle/>
          <a:p>
            <a:pPr marL="228600" indent="-228600">
              <a:buAutoNum type="arabicPeriod"/>
            </a:pPr>
            <a:r>
              <a:rPr lang="en-US" sz="1100" dirty="0"/>
              <a:t>Format data</a:t>
            </a:r>
          </a:p>
          <a:p>
            <a:pPr marL="228600" indent="-228600">
              <a:buFontTx/>
              <a:buAutoNum type="arabicPeriod"/>
            </a:pPr>
            <a:r>
              <a:rPr lang="en-US" sz="1100" dirty="0"/>
              <a:t>Validate data</a:t>
            </a:r>
          </a:p>
          <a:p>
            <a:pPr marL="228600" indent="-228600">
              <a:buFontTx/>
              <a:buAutoNum type="arabicPeriod"/>
            </a:pPr>
            <a:r>
              <a:rPr lang="en-US" sz="1100" dirty="0"/>
              <a:t>Create DB session</a:t>
            </a:r>
            <a:endParaRPr lang="en-US" sz="900" dirty="0"/>
          </a:p>
          <a:p>
            <a:pPr marL="228600" indent="-228600">
              <a:buAutoNum type="arabicPeriod"/>
            </a:pPr>
            <a:r>
              <a:rPr lang="en-US" sz="1100" dirty="0"/>
              <a:t>Insert data (DML)</a:t>
            </a:r>
          </a:p>
          <a:p>
            <a:pPr marL="228600" indent="-228600">
              <a:buAutoNum type="arabicPeriod"/>
            </a:pPr>
            <a:r>
              <a:rPr lang="en-US" sz="1100" dirty="0"/>
              <a:t>Close DB session</a:t>
            </a:r>
          </a:p>
        </p:txBody>
      </p:sp>
      <p:cxnSp>
        <p:nvCxnSpPr>
          <p:cNvPr id="99" name="Straight Arrow Connector 98">
            <a:extLst>
              <a:ext uri="{FF2B5EF4-FFF2-40B4-BE49-F238E27FC236}">
                <a16:creationId xmlns:a16="http://schemas.microsoft.com/office/drawing/2014/main" id="{6ADBAB5C-DE88-EF69-101B-8D2E4902AEAA}"/>
              </a:ext>
            </a:extLst>
          </p:cNvPr>
          <p:cNvCxnSpPr>
            <a:cxnSpLocks/>
            <a:stCxn id="39" idx="3"/>
          </p:cNvCxnSpPr>
          <p:nvPr/>
        </p:nvCxnSpPr>
        <p:spPr>
          <a:xfrm>
            <a:off x="5353781" y="2398429"/>
            <a:ext cx="1370627" cy="0"/>
          </a:xfrm>
          <a:prstGeom prst="straightConnector1">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24" name="Flowchart: Off-page Connector 123">
            <a:extLst>
              <a:ext uri="{FF2B5EF4-FFF2-40B4-BE49-F238E27FC236}">
                <a16:creationId xmlns:a16="http://schemas.microsoft.com/office/drawing/2014/main" id="{FFF72933-46A1-BED1-D03A-C066DE79B3F5}"/>
              </a:ext>
            </a:extLst>
          </p:cNvPr>
          <p:cNvSpPr/>
          <p:nvPr/>
        </p:nvSpPr>
        <p:spPr>
          <a:xfrm rot="16200000">
            <a:off x="3858657" y="288588"/>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1400" b="1" dirty="0"/>
              <a:t>3</a:t>
            </a:r>
          </a:p>
        </p:txBody>
      </p:sp>
      <p:sp>
        <p:nvSpPr>
          <p:cNvPr id="126" name="Flowchart: Off-page Connector 125">
            <a:extLst>
              <a:ext uri="{FF2B5EF4-FFF2-40B4-BE49-F238E27FC236}">
                <a16:creationId xmlns:a16="http://schemas.microsoft.com/office/drawing/2014/main" id="{20EA467F-5D98-E1BD-6A83-6CF223ABC153}"/>
              </a:ext>
            </a:extLst>
          </p:cNvPr>
          <p:cNvSpPr/>
          <p:nvPr/>
        </p:nvSpPr>
        <p:spPr>
          <a:xfrm rot="16200000">
            <a:off x="2228981" y="269026"/>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1400" b="1" dirty="0"/>
              <a:t>2</a:t>
            </a:r>
          </a:p>
        </p:txBody>
      </p:sp>
      <p:sp>
        <p:nvSpPr>
          <p:cNvPr id="127" name="Flowchart: Off-page Connector 126">
            <a:extLst>
              <a:ext uri="{FF2B5EF4-FFF2-40B4-BE49-F238E27FC236}">
                <a16:creationId xmlns:a16="http://schemas.microsoft.com/office/drawing/2014/main" id="{B83CCE7B-8833-91AF-39C7-C901ED114F09}"/>
              </a:ext>
            </a:extLst>
          </p:cNvPr>
          <p:cNvSpPr/>
          <p:nvPr/>
        </p:nvSpPr>
        <p:spPr>
          <a:xfrm rot="16200000">
            <a:off x="2234394" y="1853733"/>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1400" b="1" dirty="0"/>
              <a:t>5</a:t>
            </a:r>
          </a:p>
        </p:txBody>
      </p:sp>
      <p:sp>
        <p:nvSpPr>
          <p:cNvPr id="128" name="Flowchart: Off-page Connector 127">
            <a:extLst>
              <a:ext uri="{FF2B5EF4-FFF2-40B4-BE49-F238E27FC236}">
                <a16:creationId xmlns:a16="http://schemas.microsoft.com/office/drawing/2014/main" id="{42F75857-E87E-058F-51C8-1D399174B498}"/>
              </a:ext>
            </a:extLst>
          </p:cNvPr>
          <p:cNvSpPr/>
          <p:nvPr/>
        </p:nvSpPr>
        <p:spPr>
          <a:xfrm>
            <a:off x="5790609" y="1950899"/>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sz="1400" b="1" dirty="0"/>
              <a:t>6</a:t>
            </a:r>
          </a:p>
        </p:txBody>
      </p:sp>
      <p:sp>
        <p:nvSpPr>
          <p:cNvPr id="133" name="Flowchart: Off-page Connector 132">
            <a:extLst>
              <a:ext uri="{FF2B5EF4-FFF2-40B4-BE49-F238E27FC236}">
                <a16:creationId xmlns:a16="http://schemas.microsoft.com/office/drawing/2014/main" id="{30A73FCB-2CE0-1B09-BC6B-F51C1868D9BF}"/>
              </a:ext>
            </a:extLst>
          </p:cNvPr>
          <p:cNvSpPr/>
          <p:nvPr/>
        </p:nvSpPr>
        <p:spPr>
          <a:xfrm rot="16200000">
            <a:off x="2209722" y="3166900"/>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1400" b="1" dirty="0"/>
              <a:t>7</a:t>
            </a:r>
          </a:p>
        </p:txBody>
      </p:sp>
      <p:sp>
        <p:nvSpPr>
          <p:cNvPr id="134" name="Flowchart: Off-page Connector 133">
            <a:extLst>
              <a:ext uri="{FF2B5EF4-FFF2-40B4-BE49-F238E27FC236}">
                <a16:creationId xmlns:a16="http://schemas.microsoft.com/office/drawing/2014/main" id="{60790620-000B-44A0-F9C3-20F3163B41BC}"/>
              </a:ext>
            </a:extLst>
          </p:cNvPr>
          <p:cNvSpPr/>
          <p:nvPr/>
        </p:nvSpPr>
        <p:spPr>
          <a:xfrm rot="16200000">
            <a:off x="267933" y="1218884"/>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1400" b="1" dirty="0"/>
              <a:t>1</a:t>
            </a:r>
          </a:p>
        </p:txBody>
      </p:sp>
      <p:sp>
        <p:nvSpPr>
          <p:cNvPr id="136" name="TextBox 135">
            <a:extLst>
              <a:ext uri="{FF2B5EF4-FFF2-40B4-BE49-F238E27FC236}">
                <a16:creationId xmlns:a16="http://schemas.microsoft.com/office/drawing/2014/main" id="{7897557C-84DE-28C0-EADC-46D499135460}"/>
              </a:ext>
            </a:extLst>
          </p:cNvPr>
          <p:cNvSpPr txBox="1"/>
          <p:nvPr/>
        </p:nvSpPr>
        <p:spPr>
          <a:xfrm>
            <a:off x="5643612" y="2207796"/>
            <a:ext cx="452047" cy="169277"/>
          </a:xfrm>
          <a:prstGeom prst="rect">
            <a:avLst/>
          </a:prstGeom>
          <a:noFill/>
        </p:spPr>
        <p:txBody>
          <a:bodyPr wrap="none" lIns="0" tIns="0" rIns="0" bIns="0" rtlCol="0">
            <a:spAutoFit/>
          </a:bodyPr>
          <a:lstStyle/>
          <a:p>
            <a:r>
              <a:rPr lang="en-US" sz="1100" i="1" dirty="0"/>
              <a:t>execute</a:t>
            </a:r>
          </a:p>
        </p:txBody>
      </p:sp>
      <p:sp>
        <p:nvSpPr>
          <p:cNvPr id="144" name="Rectangle 143">
            <a:extLst>
              <a:ext uri="{FF2B5EF4-FFF2-40B4-BE49-F238E27FC236}">
                <a16:creationId xmlns:a16="http://schemas.microsoft.com/office/drawing/2014/main" id="{7650598A-6719-CF54-C48F-A07EA23EDB3C}"/>
              </a:ext>
            </a:extLst>
          </p:cNvPr>
          <p:cNvSpPr/>
          <p:nvPr/>
        </p:nvSpPr>
        <p:spPr>
          <a:xfrm>
            <a:off x="6933487" y="143148"/>
            <a:ext cx="1196156" cy="321580"/>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solidFill>
                  <a:schemeClr val="tx1"/>
                </a:solidFill>
              </a:rPr>
              <a:t>.env file</a:t>
            </a:r>
          </a:p>
          <a:p>
            <a:pPr algn="ctr"/>
            <a:r>
              <a:rPr lang="en-US" sz="800" dirty="0">
                <a:solidFill>
                  <a:schemeClr val="tx1"/>
                </a:solidFill>
              </a:rPr>
              <a:t>= admin creds, et al</a:t>
            </a:r>
          </a:p>
        </p:txBody>
      </p:sp>
      <p:sp>
        <p:nvSpPr>
          <p:cNvPr id="151" name="Rectangle 150">
            <a:extLst>
              <a:ext uri="{FF2B5EF4-FFF2-40B4-BE49-F238E27FC236}">
                <a16:creationId xmlns:a16="http://schemas.microsoft.com/office/drawing/2014/main" id="{A1F35192-1F23-1A7E-F982-7D8C8411CE14}"/>
              </a:ext>
            </a:extLst>
          </p:cNvPr>
          <p:cNvSpPr/>
          <p:nvPr/>
        </p:nvSpPr>
        <p:spPr>
          <a:xfrm>
            <a:off x="4096597" y="2829534"/>
            <a:ext cx="1249962" cy="118721"/>
          </a:xfrm>
          <a:prstGeom prst="rect">
            <a:avLst/>
          </a:prstGeom>
          <a:solidFill>
            <a:srgbClr val="B0B0B0"/>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DDL = data def. language</a:t>
            </a:r>
          </a:p>
        </p:txBody>
      </p:sp>
      <p:sp>
        <p:nvSpPr>
          <p:cNvPr id="152" name="Rectangle 151">
            <a:extLst>
              <a:ext uri="{FF2B5EF4-FFF2-40B4-BE49-F238E27FC236}">
                <a16:creationId xmlns:a16="http://schemas.microsoft.com/office/drawing/2014/main" id="{1FCB8362-7307-7200-10E2-DA71601A0359}"/>
              </a:ext>
            </a:extLst>
          </p:cNvPr>
          <p:cNvSpPr/>
          <p:nvPr/>
        </p:nvSpPr>
        <p:spPr>
          <a:xfrm>
            <a:off x="3951039" y="4679000"/>
            <a:ext cx="1454713" cy="135515"/>
          </a:xfrm>
          <a:prstGeom prst="rect">
            <a:avLst/>
          </a:prstGeom>
          <a:solidFill>
            <a:srgbClr val="B0B0B0"/>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DML = data manip. language</a:t>
            </a:r>
          </a:p>
        </p:txBody>
      </p:sp>
      <p:sp>
        <p:nvSpPr>
          <p:cNvPr id="154" name="Rectangle 153">
            <a:extLst>
              <a:ext uri="{FF2B5EF4-FFF2-40B4-BE49-F238E27FC236}">
                <a16:creationId xmlns:a16="http://schemas.microsoft.com/office/drawing/2014/main" id="{476FAA6E-532E-811B-061E-21BC7C89326A}"/>
              </a:ext>
            </a:extLst>
          </p:cNvPr>
          <p:cNvSpPr/>
          <p:nvPr/>
        </p:nvSpPr>
        <p:spPr>
          <a:xfrm>
            <a:off x="241235" y="6465515"/>
            <a:ext cx="5345841" cy="249337"/>
          </a:xfrm>
          <a:prstGeom prst="rect">
            <a:avLst/>
          </a:prstGeom>
          <a:solidFill>
            <a:schemeClr val="bg1"/>
          </a:solidFill>
          <a:ln w="6350" cap="rnd"/>
        </p:spPr>
        <p:style>
          <a:lnRef idx="2">
            <a:schemeClr val="accent1">
              <a:shade val="15000"/>
            </a:schemeClr>
          </a:lnRef>
          <a:fillRef idx="1">
            <a:schemeClr val="accent1"/>
          </a:fillRef>
          <a:effectRef idx="0">
            <a:schemeClr val="accent1"/>
          </a:effectRef>
          <a:fontRef idx="minor">
            <a:schemeClr val="lt1"/>
          </a:fontRef>
        </p:style>
        <p:txBody>
          <a:bodyPr lIns="91440" tIns="0" rIns="0" bIns="0" rtlCol="0" anchor="ctr"/>
          <a:lstStyle/>
          <a:p>
            <a:r>
              <a:rPr lang="en-US" sz="800" dirty="0">
                <a:solidFill>
                  <a:schemeClr val="tx1"/>
                </a:solidFill>
              </a:rPr>
              <a:t>* Schemas in common parlance refers actually to the DB Models created for SQLAlchemy, but Pydantic uses it to refer to these Data Transfer Objects which define the interface boundary for the underlying DB Models</a:t>
            </a:r>
          </a:p>
        </p:txBody>
      </p:sp>
      <p:sp>
        <p:nvSpPr>
          <p:cNvPr id="158" name="Rectangle 157">
            <a:extLst>
              <a:ext uri="{FF2B5EF4-FFF2-40B4-BE49-F238E27FC236}">
                <a16:creationId xmlns:a16="http://schemas.microsoft.com/office/drawing/2014/main" id="{B0430F05-8A2C-8D80-2161-C4CC2231EF01}"/>
              </a:ext>
            </a:extLst>
          </p:cNvPr>
          <p:cNvSpPr/>
          <p:nvPr/>
        </p:nvSpPr>
        <p:spPr>
          <a:xfrm>
            <a:off x="6934365" y="929641"/>
            <a:ext cx="1196156" cy="500584"/>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endParaRPr lang="en-US" sz="600" dirty="0"/>
          </a:p>
          <a:p>
            <a:pPr algn="ctr"/>
            <a:r>
              <a:rPr lang="en-US" sz="1200" dirty="0"/>
              <a:t>DB Web Viewer</a:t>
            </a:r>
          </a:p>
          <a:p>
            <a:pPr algn="ctr"/>
            <a:r>
              <a:rPr lang="en-US" sz="1100" dirty="0"/>
              <a:t>📚 </a:t>
            </a:r>
            <a:r>
              <a:rPr lang="en-US" sz="1100" b="1" u="sng" dirty="0"/>
              <a:t>pg-admin</a:t>
            </a:r>
            <a:endParaRPr lang="en-US" sz="1100" dirty="0"/>
          </a:p>
        </p:txBody>
      </p:sp>
      <p:cxnSp>
        <p:nvCxnSpPr>
          <p:cNvPr id="159" name="Straight Arrow Connector 158">
            <a:extLst>
              <a:ext uri="{FF2B5EF4-FFF2-40B4-BE49-F238E27FC236}">
                <a16:creationId xmlns:a16="http://schemas.microsoft.com/office/drawing/2014/main" id="{A1CFC8EC-97A6-89F7-7896-FC2523FC381B}"/>
              </a:ext>
            </a:extLst>
          </p:cNvPr>
          <p:cNvCxnSpPr>
            <a:cxnSpLocks/>
            <a:stCxn id="3" idx="2"/>
            <a:endCxn id="15" idx="0"/>
          </p:cNvCxnSpPr>
          <p:nvPr/>
        </p:nvCxnSpPr>
        <p:spPr>
          <a:xfrm>
            <a:off x="7531565" y="1472148"/>
            <a:ext cx="0" cy="294481"/>
          </a:xfrm>
          <a:prstGeom prst="straightConnector1">
            <a:avLst/>
          </a:prstGeom>
          <a:ln w="127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91F4102F-EE91-ED5F-D7CB-CA4F588BB5A7}"/>
              </a:ext>
            </a:extLst>
          </p:cNvPr>
          <p:cNvSpPr/>
          <p:nvPr/>
        </p:nvSpPr>
        <p:spPr>
          <a:xfrm>
            <a:off x="7065871" y="2776537"/>
            <a:ext cx="931388" cy="206948"/>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100" dirty="0"/>
              <a:t>📚 </a:t>
            </a:r>
            <a:r>
              <a:rPr lang="en-US" sz="1100" b="1" u="sng" dirty="0"/>
              <a:t>pg-vector</a:t>
            </a:r>
          </a:p>
        </p:txBody>
      </p:sp>
      <p:sp>
        <p:nvSpPr>
          <p:cNvPr id="37" name="Flowchart: Off-page Connector 36">
            <a:extLst>
              <a:ext uri="{FF2B5EF4-FFF2-40B4-BE49-F238E27FC236}">
                <a16:creationId xmlns:a16="http://schemas.microsoft.com/office/drawing/2014/main" id="{A1051958-E2DE-29E1-E221-338CBEA4536B}"/>
              </a:ext>
            </a:extLst>
          </p:cNvPr>
          <p:cNvSpPr/>
          <p:nvPr/>
        </p:nvSpPr>
        <p:spPr>
          <a:xfrm rot="16200000">
            <a:off x="6632644" y="429057"/>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1400" b="1" dirty="0"/>
              <a:t>4</a:t>
            </a:r>
          </a:p>
        </p:txBody>
      </p:sp>
      <p:sp>
        <p:nvSpPr>
          <p:cNvPr id="38" name="Flowchart: Off-page Connector 37">
            <a:extLst>
              <a:ext uri="{FF2B5EF4-FFF2-40B4-BE49-F238E27FC236}">
                <a16:creationId xmlns:a16="http://schemas.microsoft.com/office/drawing/2014/main" id="{82D3151C-F370-4949-4E46-2EFDE6393040}"/>
              </a:ext>
            </a:extLst>
          </p:cNvPr>
          <p:cNvSpPr/>
          <p:nvPr/>
        </p:nvSpPr>
        <p:spPr>
          <a:xfrm rot="16200000">
            <a:off x="6632644" y="1976210"/>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1400" b="1" dirty="0"/>
              <a:t>4</a:t>
            </a:r>
          </a:p>
        </p:txBody>
      </p:sp>
      <p:sp>
        <p:nvSpPr>
          <p:cNvPr id="14" name="Rectangle 13">
            <a:extLst>
              <a:ext uri="{FF2B5EF4-FFF2-40B4-BE49-F238E27FC236}">
                <a16:creationId xmlns:a16="http://schemas.microsoft.com/office/drawing/2014/main" id="{7B3D0089-C192-CA16-D91B-29EDF91F0A0B}"/>
              </a:ext>
            </a:extLst>
          </p:cNvPr>
          <p:cNvSpPr/>
          <p:nvPr/>
        </p:nvSpPr>
        <p:spPr>
          <a:xfrm>
            <a:off x="6874294" y="3241987"/>
            <a:ext cx="1314542" cy="74068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45720" rIns="0" bIns="0" rtlCol="0" anchor="t"/>
          <a:lstStyle/>
          <a:p>
            <a:pPr algn="ctr"/>
            <a:r>
              <a:rPr lang="en-US" sz="900" b="1" dirty="0"/>
              <a:t>🐳 Docker Container</a:t>
            </a:r>
          </a:p>
          <a:p>
            <a:pPr algn="ctr"/>
            <a:r>
              <a:rPr lang="en-US" sz="900" i="1" dirty="0"/>
              <a:t>“pgvector/pgvector:pg17”</a:t>
            </a:r>
          </a:p>
        </p:txBody>
      </p:sp>
      <p:sp>
        <p:nvSpPr>
          <p:cNvPr id="16" name="Rectangle 15">
            <a:extLst>
              <a:ext uri="{FF2B5EF4-FFF2-40B4-BE49-F238E27FC236}">
                <a16:creationId xmlns:a16="http://schemas.microsoft.com/office/drawing/2014/main" id="{587C3EA7-BCBD-F703-4C04-1F10B55FC777}"/>
              </a:ext>
            </a:extLst>
          </p:cNvPr>
          <p:cNvSpPr/>
          <p:nvPr/>
        </p:nvSpPr>
        <p:spPr>
          <a:xfrm>
            <a:off x="6933487" y="3578390"/>
            <a:ext cx="1196156" cy="356069"/>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en-US" sz="1050" b="1" dirty="0"/>
              <a:t>Test</a:t>
            </a:r>
            <a:r>
              <a:rPr lang="en-US" sz="900" dirty="0"/>
              <a:t> PostgreSQL Server</a:t>
            </a:r>
          </a:p>
        </p:txBody>
      </p:sp>
      <p:sp>
        <p:nvSpPr>
          <p:cNvPr id="17" name="Rectangle 16">
            <a:extLst>
              <a:ext uri="{FF2B5EF4-FFF2-40B4-BE49-F238E27FC236}">
                <a16:creationId xmlns:a16="http://schemas.microsoft.com/office/drawing/2014/main" id="{2B814015-7DE2-E6CF-83DF-F2CFE2A7AB61}"/>
              </a:ext>
            </a:extLst>
          </p:cNvPr>
          <p:cNvSpPr/>
          <p:nvPr/>
        </p:nvSpPr>
        <p:spPr>
          <a:xfrm>
            <a:off x="7141181" y="3760923"/>
            <a:ext cx="780768" cy="14956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800" dirty="0"/>
              <a:t>📚 </a:t>
            </a:r>
            <a:r>
              <a:rPr lang="en-US" sz="800" b="1" u="sng" dirty="0"/>
              <a:t>pg-vector</a:t>
            </a:r>
          </a:p>
        </p:txBody>
      </p:sp>
      <p:sp>
        <p:nvSpPr>
          <p:cNvPr id="19" name="Rectangle 18">
            <a:extLst>
              <a:ext uri="{FF2B5EF4-FFF2-40B4-BE49-F238E27FC236}">
                <a16:creationId xmlns:a16="http://schemas.microsoft.com/office/drawing/2014/main" id="{A1E4815B-12EB-5B81-7205-419D7DA693D5}"/>
              </a:ext>
            </a:extLst>
          </p:cNvPr>
          <p:cNvSpPr/>
          <p:nvPr/>
        </p:nvSpPr>
        <p:spPr>
          <a:xfrm>
            <a:off x="8594372" y="2371990"/>
            <a:ext cx="993676" cy="740680"/>
          </a:xfrm>
          <a:prstGeom prst="rect">
            <a:avLst/>
          </a:prstGeom>
          <a:solidFill>
            <a:schemeClr val="bg1">
              <a:lumMod val="95000"/>
            </a:schemeClr>
          </a:solid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tx1"/>
                </a:solidFill>
              </a:rPr>
              <a:t>On disk</a:t>
            </a:r>
          </a:p>
        </p:txBody>
      </p:sp>
      <p:grpSp>
        <p:nvGrpSpPr>
          <p:cNvPr id="20" name="Group 19">
            <a:extLst>
              <a:ext uri="{FF2B5EF4-FFF2-40B4-BE49-F238E27FC236}">
                <a16:creationId xmlns:a16="http://schemas.microsoft.com/office/drawing/2014/main" id="{CC8943CF-9BDA-943E-7ABF-BA2E147A52A4}"/>
              </a:ext>
            </a:extLst>
          </p:cNvPr>
          <p:cNvGrpSpPr/>
          <p:nvPr/>
        </p:nvGrpSpPr>
        <p:grpSpPr>
          <a:xfrm>
            <a:off x="8757367" y="2624410"/>
            <a:ext cx="680794" cy="433282"/>
            <a:chOff x="8227377" y="3019807"/>
            <a:chExt cx="680794" cy="785917"/>
          </a:xfrm>
        </p:grpSpPr>
        <p:sp>
          <p:nvSpPr>
            <p:cNvPr id="21" name="Flowchart: Magnetic Disk 20">
              <a:extLst>
                <a:ext uri="{FF2B5EF4-FFF2-40B4-BE49-F238E27FC236}">
                  <a16:creationId xmlns:a16="http://schemas.microsoft.com/office/drawing/2014/main" id="{D916B6ED-0FC3-F870-6017-EB076408A9BA}"/>
                </a:ext>
              </a:extLst>
            </p:cNvPr>
            <p:cNvSpPr/>
            <p:nvPr/>
          </p:nvSpPr>
          <p:spPr>
            <a:xfrm>
              <a:off x="8227377" y="3458653"/>
              <a:ext cx="680794" cy="347071"/>
            </a:xfrm>
            <a:prstGeom prst="flowChartMagneticDisk">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lowchart: Magnetic Disk 24">
              <a:extLst>
                <a:ext uri="{FF2B5EF4-FFF2-40B4-BE49-F238E27FC236}">
                  <a16:creationId xmlns:a16="http://schemas.microsoft.com/office/drawing/2014/main" id="{CF8DF804-5F62-9364-1A0F-B5B8FB9D3AE2}"/>
                </a:ext>
              </a:extLst>
            </p:cNvPr>
            <p:cNvSpPr/>
            <p:nvPr/>
          </p:nvSpPr>
          <p:spPr>
            <a:xfrm>
              <a:off x="8227377" y="3235058"/>
              <a:ext cx="680794" cy="347071"/>
            </a:xfrm>
            <a:prstGeom prst="flowChartMagneticDisk">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lowchart: Magnetic Disk 28">
              <a:extLst>
                <a:ext uri="{FF2B5EF4-FFF2-40B4-BE49-F238E27FC236}">
                  <a16:creationId xmlns:a16="http://schemas.microsoft.com/office/drawing/2014/main" id="{A8A091E6-56B1-41BE-00E9-F708DF430EB6}"/>
                </a:ext>
              </a:extLst>
            </p:cNvPr>
            <p:cNvSpPr/>
            <p:nvPr/>
          </p:nvSpPr>
          <p:spPr>
            <a:xfrm>
              <a:off x="8227377" y="3019807"/>
              <a:ext cx="680794" cy="347071"/>
            </a:xfrm>
            <a:prstGeom prst="flowChartMagneticDisk">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2" name="Straight Arrow Connector 31">
            <a:extLst>
              <a:ext uri="{FF2B5EF4-FFF2-40B4-BE49-F238E27FC236}">
                <a16:creationId xmlns:a16="http://schemas.microsoft.com/office/drawing/2014/main" id="{24D0FA54-77BE-D97F-B793-0D61F01A3D24}"/>
              </a:ext>
            </a:extLst>
          </p:cNvPr>
          <p:cNvCxnSpPr>
            <a:cxnSpLocks/>
          </p:cNvCxnSpPr>
          <p:nvPr/>
        </p:nvCxnSpPr>
        <p:spPr>
          <a:xfrm>
            <a:off x="8129643" y="2864143"/>
            <a:ext cx="627724" cy="0"/>
          </a:xfrm>
          <a:prstGeom prst="straightConnector1">
            <a:avLst/>
          </a:prstGeom>
          <a:ln w="127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A704E17B-8006-1E54-EA84-DCC843A8BAA2}"/>
              </a:ext>
            </a:extLst>
          </p:cNvPr>
          <p:cNvSpPr/>
          <p:nvPr/>
        </p:nvSpPr>
        <p:spPr>
          <a:xfrm>
            <a:off x="6874294" y="4154220"/>
            <a:ext cx="1314542" cy="175566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45720" rIns="0" bIns="0" rtlCol="0" anchor="t"/>
          <a:lstStyle/>
          <a:p>
            <a:pPr algn="ctr"/>
            <a:r>
              <a:rPr lang="en-US" sz="900" b="1" dirty="0"/>
              <a:t>🐳 Docker Container</a:t>
            </a:r>
          </a:p>
          <a:p>
            <a:pPr algn="ctr"/>
            <a:r>
              <a:rPr lang="en-US" sz="900" i="1" dirty="0"/>
              <a:t>“ollama/ollama:latest”</a:t>
            </a:r>
          </a:p>
        </p:txBody>
      </p:sp>
      <p:sp>
        <p:nvSpPr>
          <p:cNvPr id="51" name="Rectangle 50">
            <a:extLst>
              <a:ext uri="{FF2B5EF4-FFF2-40B4-BE49-F238E27FC236}">
                <a16:creationId xmlns:a16="http://schemas.microsoft.com/office/drawing/2014/main" id="{24279042-094F-6602-009C-0DF3E4513282}"/>
              </a:ext>
            </a:extLst>
          </p:cNvPr>
          <p:cNvSpPr/>
          <p:nvPr/>
        </p:nvSpPr>
        <p:spPr>
          <a:xfrm>
            <a:off x="6933487" y="4604573"/>
            <a:ext cx="1196156" cy="1112474"/>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lstStyle/>
          <a:p>
            <a:pPr algn="ctr"/>
            <a:r>
              <a:rPr lang="en-US" sz="1600" dirty="0"/>
              <a:t>Ollama</a:t>
            </a:r>
          </a:p>
        </p:txBody>
      </p:sp>
      <p:sp>
        <p:nvSpPr>
          <p:cNvPr id="52" name="Rectangle 51">
            <a:extLst>
              <a:ext uri="{FF2B5EF4-FFF2-40B4-BE49-F238E27FC236}">
                <a16:creationId xmlns:a16="http://schemas.microsoft.com/office/drawing/2014/main" id="{777C000F-3064-393F-A13D-62223B40936B}"/>
              </a:ext>
            </a:extLst>
          </p:cNvPr>
          <p:cNvSpPr/>
          <p:nvPr/>
        </p:nvSpPr>
        <p:spPr>
          <a:xfrm>
            <a:off x="7006259" y="4932631"/>
            <a:ext cx="1050612" cy="336133"/>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 </a:t>
            </a:r>
            <a:r>
              <a:rPr lang="en-US" sz="900" b="1" u="sng" dirty="0"/>
              <a:t>nomic-embed-text-v1.5</a:t>
            </a:r>
          </a:p>
        </p:txBody>
      </p:sp>
      <p:sp>
        <p:nvSpPr>
          <p:cNvPr id="54" name="Rectangle 53">
            <a:extLst>
              <a:ext uri="{FF2B5EF4-FFF2-40B4-BE49-F238E27FC236}">
                <a16:creationId xmlns:a16="http://schemas.microsoft.com/office/drawing/2014/main" id="{85663D04-32E6-5B27-2015-8CEE4F7B89B4}"/>
              </a:ext>
            </a:extLst>
          </p:cNvPr>
          <p:cNvSpPr/>
          <p:nvPr/>
        </p:nvSpPr>
        <p:spPr>
          <a:xfrm>
            <a:off x="2467880" y="4911207"/>
            <a:ext cx="2937872" cy="728112"/>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dirty="0"/>
              <a:t>Embedder</a:t>
            </a:r>
          </a:p>
          <a:p>
            <a:pPr algn="ctr"/>
            <a:r>
              <a:rPr lang="en-US" sz="1100" dirty="0"/>
              <a:t>📚 </a:t>
            </a:r>
            <a:r>
              <a:rPr lang="en-US" sz="1100" b="1" u="sng" dirty="0"/>
              <a:t>Ollama</a:t>
            </a:r>
            <a:r>
              <a:rPr lang="en-US" sz="1100" dirty="0"/>
              <a:t>  📚 </a:t>
            </a:r>
            <a:r>
              <a:rPr lang="en-US" sz="1100" b="1" u="sng" dirty="0"/>
              <a:t>SQLAlchemy</a:t>
            </a:r>
            <a:r>
              <a:rPr lang="en-US" sz="1100" u="sng" dirty="0"/>
              <a:t> </a:t>
            </a:r>
            <a:endParaRPr lang="en-US" u="sng" dirty="0"/>
          </a:p>
          <a:p>
            <a:pPr algn="ctr"/>
            <a:endParaRPr lang="en-US" sz="100" dirty="0"/>
          </a:p>
          <a:p>
            <a:pPr algn="ctr"/>
            <a:r>
              <a:rPr lang="en-US" sz="800" dirty="0"/>
              <a:t>= Inserts vector representations for desired rows in database </a:t>
            </a:r>
          </a:p>
          <a:p>
            <a:pPr algn="ctr"/>
            <a:r>
              <a:rPr lang="en-US" sz="800" dirty="0"/>
              <a:t>using chosen embedding model</a:t>
            </a:r>
          </a:p>
        </p:txBody>
      </p:sp>
      <p:sp>
        <p:nvSpPr>
          <p:cNvPr id="55" name="Rectangle 54">
            <a:extLst>
              <a:ext uri="{FF2B5EF4-FFF2-40B4-BE49-F238E27FC236}">
                <a16:creationId xmlns:a16="http://schemas.microsoft.com/office/drawing/2014/main" id="{C1C9CCAC-37F8-DC7C-4604-D6711AF5E90B}"/>
              </a:ext>
            </a:extLst>
          </p:cNvPr>
          <p:cNvSpPr/>
          <p:nvPr/>
        </p:nvSpPr>
        <p:spPr>
          <a:xfrm>
            <a:off x="2494576" y="4931230"/>
            <a:ext cx="393792" cy="101326"/>
          </a:xfrm>
          <a:prstGeom prst="rect">
            <a:avLst/>
          </a:prstGeom>
          <a:solidFill>
            <a:srgbClr val="7030A0"/>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.py script</a:t>
            </a:r>
          </a:p>
        </p:txBody>
      </p:sp>
      <p:sp>
        <p:nvSpPr>
          <p:cNvPr id="60" name="Rectangle 59">
            <a:extLst>
              <a:ext uri="{FF2B5EF4-FFF2-40B4-BE49-F238E27FC236}">
                <a16:creationId xmlns:a16="http://schemas.microsoft.com/office/drawing/2014/main" id="{D12C56A1-944F-954F-2B8C-35C033490727}"/>
              </a:ext>
            </a:extLst>
          </p:cNvPr>
          <p:cNvSpPr/>
          <p:nvPr/>
        </p:nvSpPr>
        <p:spPr>
          <a:xfrm>
            <a:off x="6724408" y="2216984"/>
            <a:ext cx="202062" cy="895686"/>
          </a:xfrm>
          <a:prstGeom prst="rect">
            <a:avLst/>
          </a:prstGeom>
          <a:solidFill>
            <a:srgbClr val="B17ED8"/>
          </a:solidFill>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ctr"/>
          <a:lstStyle/>
          <a:p>
            <a:pPr algn="ctr"/>
            <a:r>
              <a:rPr lang="en-US" sz="900" dirty="0"/>
              <a:t>📚 asyncpg</a:t>
            </a:r>
          </a:p>
        </p:txBody>
      </p:sp>
      <p:cxnSp>
        <p:nvCxnSpPr>
          <p:cNvPr id="62" name="Connector: Elbow 61">
            <a:extLst>
              <a:ext uri="{FF2B5EF4-FFF2-40B4-BE49-F238E27FC236}">
                <a16:creationId xmlns:a16="http://schemas.microsoft.com/office/drawing/2014/main" id="{8D1ABD79-5421-CDF6-AB3A-BE283788495B}"/>
              </a:ext>
            </a:extLst>
          </p:cNvPr>
          <p:cNvCxnSpPr>
            <a:cxnSpLocks/>
          </p:cNvCxnSpPr>
          <p:nvPr/>
        </p:nvCxnSpPr>
        <p:spPr>
          <a:xfrm flipV="1">
            <a:off x="5405752" y="2530534"/>
            <a:ext cx="1318656" cy="1318793"/>
          </a:xfrm>
          <a:prstGeom prst="bentConnector3">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4" name="Connector: Elbow 63">
            <a:extLst>
              <a:ext uri="{FF2B5EF4-FFF2-40B4-BE49-F238E27FC236}">
                <a16:creationId xmlns:a16="http://schemas.microsoft.com/office/drawing/2014/main" id="{11751A89-E551-A2BD-9E1D-6EBB198937B5}"/>
              </a:ext>
            </a:extLst>
          </p:cNvPr>
          <p:cNvCxnSpPr>
            <a:cxnSpLocks/>
          </p:cNvCxnSpPr>
          <p:nvPr/>
        </p:nvCxnSpPr>
        <p:spPr>
          <a:xfrm flipV="1">
            <a:off x="5405752" y="2682744"/>
            <a:ext cx="1318656" cy="2312605"/>
          </a:xfrm>
          <a:prstGeom prst="bentConnector3">
            <a:avLst>
              <a:gd name="adj1" fmla="val 59906"/>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0E25E5C5-8A27-B764-B166-E43986428E9E}"/>
              </a:ext>
            </a:extLst>
          </p:cNvPr>
          <p:cNvCxnSpPr>
            <a:cxnSpLocks/>
            <a:stCxn id="52" idx="1"/>
          </p:cNvCxnSpPr>
          <p:nvPr/>
        </p:nvCxnSpPr>
        <p:spPr>
          <a:xfrm flipH="1">
            <a:off x="5405752" y="5100698"/>
            <a:ext cx="1600507" cy="0"/>
          </a:xfrm>
          <a:prstGeom prst="line">
            <a:avLst/>
          </a:prstGeom>
          <a:ln w="127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89" name="Rectangle 88">
            <a:extLst>
              <a:ext uri="{FF2B5EF4-FFF2-40B4-BE49-F238E27FC236}">
                <a16:creationId xmlns:a16="http://schemas.microsoft.com/office/drawing/2014/main" id="{DAB55712-B2D3-23FC-BFC7-359CEB972480}"/>
              </a:ext>
            </a:extLst>
          </p:cNvPr>
          <p:cNvSpPr/>
          <p:nvPr/>
        </p:nvSpPr>
        <p:spPr>
          <a:xfrm>
            <a:off x="7006259" y="5334429"/>
            <a:ext cx="1050612" cy="304890"/>
          </a:xfrm>
          <a:prstGeom prst="rect">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b="1" i="1" dirty="0"/>
              <a:t>Local LLM</a:t>
            </a:r>
          </a:p>
          <a:p>
            <a:pPr algn="ctr"/>
            <a:r>
              <a:rPr lang="en-US" sz="900" dirty="0"/>
              <a:t>📚 </a:t>
            </a:r>
            <a:r>
              <a:rPr lang="en-US" sz="900" b="1" u="sng" dirty="0"/>
              <a:t>Qwen2.5-Coder</a:t>
            </a:r>
          </a:p>
        </p:txBody>
      </p:sp>
      <p:sp>
        <p:nvSpPr>
          <p:cNvPr id="90" name="Rectangle 89">
            <a:extLst>
              <a:ext uri="{FF2B5EF4-FFF2-40B4-BE49-F238E27FC236}">
                <a16:creationId xmlns:a16="http://schemas.microsoft.com/office/drawing/2014/main" id="{E9A11068-2F85-B8AC-D139-7A94970A6B6F}"/>
              </a:ext>
            </a:extLst>
          </p:cNvPr>
          <p:cNvSpPr/>
          <p:nvPr/>
        </p:nvSpPr>
        <p:spPr>
          <a:xfrm>
            <a:off x="8966865" y="3520030"/>
            <a:ext cx="1947624" cy="509053"/>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lIns="0" tIns="45720" rIns="0" bIns="0" rtlCol="0" anchor="t"/>
          <a:lstStyle/>
          <a:p>
            <a:pPr algn="ctr"/>
            <a:r>
              <a:rPr lang="en-US" sz="1100" b="1" dirty="0"/>
              <a:t>User-facing LLM</a:t>
            </a:r>
          </a:p>
          <a:p>
            <a:pPr algn="ctr"/>
            <a:r>
              <a:rPr lang="en-US" sz="1200" dirty="0">
                <a:solidFill>
                  <a:schemeClr val="tx1"/>
                </a:solidFill>
              </a:rPr>
              <a:t>📚 …</a:t>
            </a:r>
          </a:p>
        </p:txBody>
      </p:sp>
      <p:sp>
        <p:nvSpPr>
          <p:cNvPr id="92" name="Rectangle 91">
            <a:extLst>
              <a:ext uri="{FF2B5EF4-FFF2-40B4-BE49-F238E27FC236}">
                <a16:creationId xmlns:a16="http://schemas.microsoft.com/office/drawing/2014/main" id="{D286EDA6-6361-ED43-DE75-245CF0C6A8BC}"/>
              </a:ext>
            </a:extLst>
          </p:cNvPr>
          <p:cNvSpPr/>
          <p:nvPr/>
        </p:nvSpPr>
        <p:spPr>
          <a:xfrm>
            <a:off x="8966865" y="4547422"/>
            <a:ext cx="1947624" cy="1106552"/>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dirty="0"/>
              <a:t>Query Handler</a:t>
            </a:r>
          </a:p>
          <a:p>
            <a:pPr algn="ctr"/>
            <a:r>
              <a:rPr lang="en-US" sz="1100" dirty="0"/>
              <a:t>📚 </a:t>
            </a:r>
            <a:r>
              <a:rPr lang="en-US" sz="1100" b="1" u="sng" dirty="0"/>
              <a:t>Ollama</a:t>
            </a:r>
            <a:r>
              <a:rPr lang="en-US" sz="1100" dirty="0"/>
              <a:t>  📚 ???</a:t>
            </a:r>
          </a:p>
          <a:p>
            <a:pPr algn="ctr"/>
            <a:endParaRPr lang="en-US" sz="100" dirty="0"/>
          </a:p>
          <a:p>
            <a:pPr algn="ctr"/>
            <a:r>
              <a:rPr lang="en-US" sz="800" dirty="0"/>
              <a:t>= Receives queries from user, determines relevant Concepts, then uses Local LLM to get the data from PostgreSQL (read-only guard)</a:t>
            </a:r>
          </a:p>
        </p:txBody>
      </p:sp>
      <p:sp>
        <p:nvSpPr>
          <p:cNvPr id="93" name="Rectangle 92">
            <a:extLst>
              <a:ext uri="{FF2B5EF4-FFF2-40B4-BE49-F238E27FC236}">
                <a16:creationId xmlns:a16="http://schemas.microsoft.com/office/drawing/2014/main" id="{C470D739-A7E4-B20F-87C7-38FAB125269A}"/>
              </a:ext>
            </a:extLst>
          </p:cNvPr>
          <p:cNvSpPr/>
          <p:nvPr/>
        </p:nvSpPr>
        <p:spPr>
          <a:xfrm>
            <a:off x="8998217" y="4599603"/>
            <a:ext cx="393792" cy="101326"/>
          </a:xfrm>
          <a:prstGeom prst="rect">
            <a:avLst/>
          </a:prstGeom>
          <a:solidFill>
            <a:srgbClr val="7030A0"/>
          </a:solidFill>
          <a:ln w="6350" cap="rnd"/>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700" dirty="0"/>
              <a:t>.py script</a:t>
            </a:r>
          </a:p>
        </p:txBody>
      </p:sp>
      <p:cxnSp>
        <p:nvCxnSpPr>
          <p:cNvPr id="100" name="Straight Arrow Connector 99">
            <a:extLst>
              <a:ext uri="{FF2B5EF4-FFF2-40B4-BE49-F238E27FC236}">
                <a16:creationId xmlns:a16="http://schemas.microsoft.com/office/drawing/2014/main" id="{048236B6-BEC2-3063-49AB-C4D8F7E5E371}"/>
              </a:ext>
            </a:extLst>
          </p:cNvPr>
          <p:cNvCxnSpPr>
            <a:cxnSpLocks/>
            <a:stCxn id="90" idx="2"/>
            <a:endCxn id="92" idx="0"/>
          </p:cNvCxnSpPr>
          <p:nvPr/>
        </p:nvCxnSpPr>
        <p:spPr>
          <a:xfrm>
            <a:off x="9940677" y="4029083"/>
            <a:ext cx="0" cy="518339"/>
          </a:xfrm>
          <a:prstGeom prst="straightConnector1">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11A63202-9707-9FE3-CE76-F449C5D46B48}"/>
              </a:ext>
            </a:extLst>
          </p:cNvPr>
          <p:cNvCxnSpPr>
            <a:cxnSpLocks/>
            <a:stCxn id="92" idx="1"/>
            <a:endCxn id="52" idx="3"/>
          </p:cNvCxnSpPr>
          <p:nvPr/>
        </p:nvCxnSpPr>
        <p:spPr>
          <a:xfrm flipH="1">
            <a:off x="8056871" y="5100698"/>
            <a:ext cx="909994" cy="0"/>
          </a:xfrm>
          <a:prstGeom prst="straightConnector1">
            <a:avLst/>
          </a:prstGeom>
          <a:ln w="127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8822856E-54E9-6C62-EE17-9702CBA202C2}"/>
              </a:ext>
            </a:extLst>
          </p:cNvPr>
          <p:cNvCxnSpPr>
            <a:cxnSpLocks/>
          </p:cNvCxnSpPr>
          <p:nvPr/>
        </p:nvCxnSpPr>
        <p:spPr>
          <a:xfrm>
            <a:off x="8129643" y="3112670"/>
            <a:ext cx="837222" cy="1441161"/>
          </a:xfrm>
          <a:prstGeom prst="straightConnector1">
            <a:avLst/>
          </a:prstGeom>
          <a:ln w="127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31" name="Flowchart: Off-page Connector 130">
            <a:extLst>
              <a:ext uri="{FF2B5EF4-FFF2-40B4-BE49-F238E27FC236}">
                <a16:creationId xmlns:a16="http://schemas.microsoft.com/office/drawing/2014/main" id="{8DB5FFE1-B20F-BC4A-F98A-1DB0CDA11B3B}"/>
              </a:ext>
            </a:extLst>
          </p:cNvPr>
          <p:cNvSpPr/>
          <p:nvPr/>
        </p:nvSpPr>
        <p:spPr>
          <a:xfrm rot="16200000">
            <a:off x="2209722" y="4781767"/>
            <a:ext cx="186884" cy="240280"/>
          </a:xfrm>
          <a:prstGeom prst="flowChartOffpageConnector">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r>
              <a:rPr lang="en-US" sz="1400" b="1" dirty="0"/>
              <a:t>8</a:t>
            </a:r>
          </a:p>
        </p:txBody>
      </p:sp>
      <p:sp>
        <p:nvSpPr>
          <p:cNvPr id="137" name="Rectangle 136">
            <a:extLst>
              <a:ext uri="{FF2B5EF4-FFF2-40B4-BE49-F238E27FC236}">
                <a16:creationId xmlns:a16="http://schemas.microsoft.com/office/drawing/2014/main" id="{C12A4E2B-6096-150E-DA86-68333E328721}"/>
              </a:ext>
            </a:extLst>
          </p:cNvPr>
          <p:cNvSpPr/>
          <p:nvPr/>
        </p:nvSpPr>
        <p:spPr>
          <a:xfrm>
            <a:off x="8966865" y="5751982"/>
            <a:ext cx="1947624" cy="829702"/>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1050" b="1" dirty="0"/>
              <a:t>Concept Mapper</a:t>
            </a:r>
          </a:p>
          <a:p>
            <a:pPr algn="ctr"/>
            <a:endParaRPr lang="en-US" sz="300" dirty="0"/>
          </a:p>
          <a:p>
            <a:pPr algn="ctr"/>
            <a:r>
              <a:rPr lang="en-US" sz="900" dirty="0"/>
              <a:t>Uses arcane SEC-specific knowledge of Concept usage to determine Concepts when the traditional match will be incorrect</a:t>
            </a:r>
          </a:p>
          <a:p>
            <a:pPr algn="ctr"/>
            <a:endParaRPr lang="en-US" sz="500" dirty="0"/>
          </a:p>
        </p:txBody>
      </p:sp>
      <p:cxnSp>
        <p:nvCxnSpPr>
          <p:cNvPr id="138" name="Straight Arrow Connector 137">
            <a:extLst>
              <a:ext uri="{FF2B5EF4-FFF2-40B4-BE49-F238E27FC236}">
                <a16:creationId xmlns:a16="http://schemas.microsoft.com/office/drawing/2014/main" id="{218F14AF-9931-3060-84FB-55E3AD301B67}"/>
              </a:ext>
            </a:extLst>
          </p:cNvPr>
          <p:cNvCxnSpPr>
            <a:cxnSpLocks/>
          </p:cNvCxnSpPr>
          <p:nvPr/>
        </p:nvCxnSpPr>
        <p:spPr>
          <a:xfrm flipH="1">
            <a:off x="8056871" y="5492584"/>
            <a:ext cx="909994" cy="0"/>
          </a:xfrm>
          <a:prstGeom prst="straightConnector1">
            <a:avLst/>
          </a:prstGeom>
          <a:ln w="127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75368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10572</TotalTime>
  <Words>345</Words>
  <Application>Microsoft Office PowerPoint</Application>
  <PresentationFormat>Widescreen</PresentationFormat>
  <Paragraphs>99</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Calibri Light</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Shaitani .</dc:creator>
  <cp:lastModifiedBy>Shaitani .</cp:lastModifiedBy>
  <cp:revision>26</cp:revision>
  <dcterms:created xsi:type="dcterms:W3CDTF">2026-08-29T16:39:18Z</dcterms:created>
  <dcterms:modified xsi:type="dcterms:W3CDTF">2026-09-17T03:46:00Z</dcterms:modified>
</cp:coreProperties>
</file>