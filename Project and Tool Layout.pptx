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0B0B0"/>
    <a:srgbClr val="B17E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43" d="100"/>
          <a:sy n="143" d="100"/>
        </p:scale>
        <p:origin x="120" y="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D03E4-1409-C5BA-5B75-437119D7A2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EEF1637-53A7-F6CC-AF5F-403211B6F6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906C80-B59A-BA96-9565-7D80B50F06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75FF1B-409F-0CD4-2DFB-C0E519C2F0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C8B54D-4DCD-37F6-4E41-782C027613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675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407D7-0805-4348-A50B-26EB1FBC7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3F67FA-7064-242B-F0D9-6B7B11D39E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C60842-D45E-86BC-45D4-C1DA43677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D18280-16CD-43A3-BAC8-5B49DCFDB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62D37E-3DEE-A6C1-3DD6-7B5A71B33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90546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230815-3988-4D63-D947-86DD85A78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C22BE9-BFE7-CF38-8320-594ED47FDA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339658-32E2-006F-790C-98D0F4600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51930A-8A44-D0AC-C14D-4B95E3E5A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8039E6-5B14-2F63-6D1D-738A6E529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4284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9D759-BA35-F6C1-7BBB-6853EF593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46FB61-39C7-7F31-BC15-5AF29CA41E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6CAB8E-C18D-2961-7A5D-1B6CE632DE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8E3D0A-3DA1-CEAE-5988-83F183055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A4AFE2-9B25-0A04-57AF-081AC81DD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02CC36-8B68-7A6D-2142-23245B44E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42447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1DCE9-66B4-A9EE-E12F-B3836ABA4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13CE75-03B2-760B-16D6-3496067259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2CF800-84CB-80D3-DAA6-BE04D69246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A22CB69-5B21-BAEB-CD71-045A46CAC9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AA9C1A-0902-50E1-4629-786D16DC01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9697B13-53EB-92AA-F5C5-8AA0F4FDF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3288F89-C38F-1C44-65D5-C6E459E67E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B6D559-32E9-48A6-3FB1-5162331C5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67744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856EA-87DC-315D-3E62-3BB44D8EB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1001FD-D538-FB52-70E0-A97587A00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B71AD7-B1A7-1718-68C1-0DB6825911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E19E17-0A8A-7D06-42E0-4A524F7AB8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70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1C90F2-AFB5-1883-951E-E03E774498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796DC03-9292-193E-F104-19533ACFF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981984-E89A-FAF8-484A-1662EC645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29805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3898F-882B-2D26-4FE3-48B4135FA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38911-6B4F-CA2D-7C41-FD214329DB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D9BD33-44B6-FFD6-50A0-95ACDEC9F9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AE0C14-EA06-967C-322B-0EE0531D0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84BBEF-4EC7-39FF-5045-DDE131F65F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5D25D-9FC9-81FE-5ECE-374476A20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208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D60A2-9645-5131-C66C-AFD215E3FD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959AE0-90E1-D7F6-54D3-AA12B7DAE4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88EF64-D88F-F36A-8EE2-BBB454F2C9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F3B7FC-961D-0141-44ED-E2C0709EF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808282-A4F0-393E-E38F-131E58B15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7482AA-9F6F-A7A9-13BE-35E0F5787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90995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8BA3E-DEF7-CC9D-00F0-EF1E04647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E989D7-B91E-0C77-6B27-93D942DBA6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4ACB26-3291-4613-CAA0-3CCA42ADF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A7A27A-15F7-4BCF-0084-8A3CFBEF2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467920-B52C-1586-6714-C29B782A7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2539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B6CE34-703A-5C72-D780-58BE40743E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B5D134-DD0F-03B6-DCFB-61889E9E4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845069-FF40-39D8-0E71-8DB5ECA677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79FE8C-703A-4904-A4E0-13778480428C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B07194-52D7-077D-EFB6-A17850AD1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B1E86A-7B58-CF12-7568-370ADE099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3875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D90474-2B9C-5267-48E5-FC282BFDFD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2B3DE6-1A82-D5D6-9D15-A511FE6191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0D5346-3721-413D-42E3-C69BE99CB4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79FE8C-703A-4904-A4E0-13778480428C}" type="datetimeFigureOut">
              <a:rPr lang="en-US" smtClean="0"/>
              <a:t>8/29/2026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400991-DE83-E935-32DB-021826F0BF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E601DD-CC45-6C57-F876-16651C96C0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9AB307-D7BF-4924-BB24-100D21C051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443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Rectangle 96">
            <a:extLst>
              <a:ext uri="{FF2B5EF4-FFF2-40B4-BE49-F238E27FC236}">
                <a16:creationId xmlns:a16="http://schemas.microsoft.com/office/drawing/2014/main" id="{3648F25D-F87B-BA73-4E34-C9B47F8DEFFF}"/>
              </a:ext>
            </a:extLst>
          </p:cNvPr>
          <p:cNvSpPr/>
          <p:nvPr/>
        </p:nvSpPr>
        <p:spPr>
          <a:xfrm>
            <a:off x="6699799" y="1475054"/>
            <a:ext cx="1196156" cy="437176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600" dirty="0"/>
          </a:p>
          <a:p>
            <a:pPr algn="ctr"/>
            <a:r>
              <a:rPr lang="en-US" sz="1600" dirty="0"/>
              <a:t>PostgreSQL Server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pg-admin GUI</a:t>
            </a:r>
            <a:endParaRPr lang="en-US" sz="1100" dirty="0"/>
          </a:p>
        </p:txBody>
      </p:sp>
      <p:sp>
        <p:nvSpPr>
          <p:cNvPr id="4" name="Thought Bubble: Cloud 3">
            <a:extLst>
              <a:ext uri="{FF2B5EF4-FFF2-40B4-BE49-F238E27FC236}">
                <a16:creationId xmlns:a16="http://schemas.microsoft.com/office/drawing/2014/main" id="{AC1FB946-271A-7F06-1F3D-5F01BA6B3672}"/>
              </a:ext>
            </a:extLst>
          </p:cNvPr>
          <p:cNvSpPr/>
          <p:nvPr/>
        </p:nvSpPr>
        <p:spPr>
          <a:xfrm>
            <a:off x="722032" y="327047"/>
            <a:ext cx="1177564" cy="660952"/>
          </a:xfrm>
          <a:prstGeom prst="cloudCallout">
            <a:avLst>
              <a:gd name="adj1" fmla="val 964"/>
              <a:gd name="adj2" fmla="val 111512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</a:rPr>
              <a:t>SEC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74C31EA-1C5A-D9F3-DE5D-D532F60566A9}"/>
              </a:ext>
            </a:extLst>
          </p:cNvPr>
          <p:cNvSpPr/>
          <p:nvPr/>
        </p:nvSpPr>
        <p:spPr>
          <a:xfrm>
            <a:off x="750160" y="1475054"/>
            <a:ext cx="1121308" cy="136158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/>
              <a:t>Retrieval Client</a:t>
            </a:r>
          </a:p>
          <a:p>
            <a:pPr algn="ctr"/>
            <a:r>
              <a:rPr lang="en-US" sz="1100" dirty="0"/>
              <a:t>📚 </a:t>
            </a:r>
            <a:r>
              <a:rPr lang="en-US" sz="1100" u="sng" dirty="0"/>
              <a:t>httpx</a:t>
            </a:r>
            <a:endParaRPr lang="en-US" u="sng" dirty="0"/>
          </a:p>
          <a:p>
            <a:pPr algn="ctr"/>
            <a:endParaRPr lang="en-US" sz="1050" dirty="0"/>
          </a:p>
          <a:p>
            <a:pPr algn="ctr"/>
            <a:r>
              <a:rPr lang="en-US" sz="1000" dirty="0"/>
              <a:t>= grabs data from site + stores locally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16172B8-57BB-0D77-7612-743EB92E5282}"/>
              </a:ext>
            </a:extLst>
          </p:cNvPr>
          <p:cNvSpPr/>
          <p:nvPr/>
        </p:nvSpPr>
        <p:spPr>
          <a:xfrm>
            <a:off x="750160" y="3131739"/>
            <a:ext cx="1121308" cy="54897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HTTP Cache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9C46E33-DA6D-C2D1-A479-21267E9A4CC8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1310814" y="2836642"/>
            <a:ext cx="0" cy="295097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3D486B51-56A3-85DE-929B-5ECA1F88C008}"/>
              </a:ext>
            </a:extLst>
          </p:cNvPr>
          <p:cNvSpPr/>
          <p:nvPr/>
        </p:nvSpPr>
        <p:spPr>
          <a:xfrm>
            <a:off x="750160" y="4005286"/>
            <a:ext cx="1121308" cy="18415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JSONs</a:t>
            </a:r>
            <a:endParaRPr lang="en-US" sz="1200" dirty="0">
              <a:solidFill>
                <a:schemeClr val="tx1"/>
              </a:solidFill>
            </a:endParaRPr>
          </a:p>
          <a:p>
            <a:pPr algn="ctr"/>
            <a:r>
              <a:rPr lang="en-US" sz="1100" dirty="0">
                <a:solidFill>
                  <a:schemeClr val="tx1"/>
                </a:solidFill>
              </a:rPr>
              <a:t>(Submissions + XBRL)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35F020E-037C-F85F-539F-6183F10D6F3C}"/>
              </a:ext>
            </a:extLst>
          </p:cNvPr>
          <p:cNvCxnSpPr>
            <a:cxnSpLocks/>
            <a:stCxn id="6" idx="2"/>
            <a:endCxn id="11" idx="0"/>
          </p:cNvCxnSpPr>
          <p:nvPr/>
        </p:nvCxnSpPr>
        <p:spPr>
          <a:xfrm>
            <a:off x="1310814" y="3680713"/>
            <a:ext cx="0" cy="324573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3076D25-8CEE-9646-810A-41A2213E6726}"/>
              </a:ext>
            </a:extLst>
          </p:cNvPr>
          <p:cNvSpPr/>
          <p:nvPr/>
        </p:nvSpPr>
        <p:spPr>
          <a:xfrm>
            <a:off x="776856" y="1495077"/>
            <a:ext cx="393791" cy="106792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64D00D2-941A-8B09-7718-5B11749968F7}"/>
              </a:ext>
            </a:extLst>
          </p:cNvPr>
          <p:cNvSpPr/>
          <p:nvPr/>
        </p:nvSpPr>
        <p:spPr>
          <a:xfrm>
            <a:off x="2708398" y="1475053"/>
            <a:ext cx="1256228" cy="1301519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dirty="0"/>
              <a:t>DB Models</a:t>
            </a:r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SQLAlchemy</a:t>
            </a:r>
            <a:endParaRPr lang="en-US" sz="1200" b="1" u="sng" dirty="0"/>
          </a:p>
          <a:p>
            <a:pPr algn="ctr"/>
            <a:r>
              <a:rPr lang="en-US" sz="1000" i="1" dirty="0"/>
              <a:t>[ORM features]</a:t>
            </a:r>
          </a:p>
          <a:p>
            <a:pPr algn="ctr"/>
            <a:endParaRPr lang="en-US" sz="1200" dirty="0"/>
          </a:p>
          <a:p>
            <a:pPr algn="ctr"/>
            <a:r>
              <a:rPr lang="en-US" sz="1200" dirty="0"/>
              <a:t>= full def. of DB tables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7C00856-EFA1-9B34-94C3-604CA6A2EACE}"/>
              </a:ext>
            </a:extLst>
          </p:cNvPr>
          <p:cNvSpPr/>
          <p:nvPr/>
        </p:nvSpPr>
        <p:spPr>
          <a:xfrm>
            <a:off x="2735094" y="1495077"/>
            <a:ext cx="468643" cy="106792"/>
          </a:xfrm>
          <a:prstGeom prst="rect">
            <a:avLst/>
          </a:prstGeom>
          <a:solidFill>
            <a:srgbClr val="B17ED8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Classes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6B29512-177E-E14A-AE56-6D351F134797}"/>
              </a:ext>
            </a:extLst>
          </p:cNvPr>
          <p:cNvSpPr/>
          <p:nvPr/>
        </p:nvSpPr>
        <p:spPr>
          <a:xfrm>
            <a:off x="2708397" y="3029953"/>
            <a:ext cx="1256225" cy="1205979"/>
          </a:xfrm>
          <a:prstGeom prst="rect">
            <a:avLst/>
          </a:prstGeom>
          <a:solidFill>
            <a:srgbClr val="B17ED8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dirty="0"/>
              <a:t>DB Schemas</a:t>
            </a:r>
            <a:r>
              <a:rPr lang="en-US" sz="1100" dirty="0"/>
              <a:t>*</a:t>
            </a:r>
            <a:endParaRPr lang="en-US" dirty="0"/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Pydantic</a:t>
            </a:r>
            <a:endParaRPr lang="en-US" sz="1200" b="1" u="sng" dirty="0"/>
          </a:p>
          <a:p>
            <a:pPr algn="ctr"/>
            <a:endParaRPr lang="en-US" sz="1200" dirty="0"/>
          </a:p>
          <a:p>
            <a:pPr algn="ctr"/>
            <a:r>
              <a:rPr lang="en-US" sz="1200" dirty="0"/>
              <a:t>= full </a:t>
            </a:r>
            <a:r>
              <a:rPr lang="en-US" sz="1200" u="sng" dirty="0"/>
              <a:t>C</a:t>
            </a:r>
            <a:r>
              <a:rPr lang="en-US" sz="1200" dirty="0"/>
              <a:t>RUD def. </a:t>
            </a:r>
          </a:p>
          <a:p>
            <a:pPr algn="ctr"/>
            <a:r>
              <a:rPr lang="en-US" sz="1200" dirty="0"/>
              <a:t>for DB Models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ADA0233-98EE-002E-0424-5789D9F350B8}"/>
              </a:ext>
            </a:extLst>
          </p:cNvPr>
          <p:cNvSpPr/>
          <p:nvPr/>
        </p:nvSpPr>
        <p:spPr>
          <a:xfrm>
            <a:off x="2735094" y="3058805"/>
            <a:ext cx="468643" cy="106884"/>
          </a:xfrm>
          <a:prstGeom prst="rect">
            <a:avLst/>
          </a:prstGeom>
          <a:solidFill>
            <a:srgbClr val="B17ED8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Classes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5419D62-D42D-8BD9-5B51-2E3513C3CF06}"/>
              </a:ext>
            </a:extLst>
          </p:cNvPr>
          <p:cNvCxnSpPr>
            <a:cxnSpLocks/>
            <a:stCxn id="22" idx="2"/>
            <a:endCxn id="24" idx="0"/>
          </p:cNvCxnSpPr>
          <p:nvPr/>
        </p:nvCxnSpPr>
        <p:spPr>
          <a:xfrm flipH="1">
            <a:off x="3336510" y="2776572"/>
            <a:ext cx="2" cy="253381"/>
          </a:xfrm>
          <a:prstGeom prst="line">
            <a:avLst/>
          </a:prstGeom>
          <a:ln w="38100">
            <a:solidFill>
              <a:srgbClr val="B17ED8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24BAD58-B4F3-1659-77BA-CF132D8185D8}"/>
              </a:ext>
            </a:extLst>
          </p:cNvPr>
          <p:cNvSpPr/>
          <p:nvPr/>
        </p:nvSpPr>
        <p:spPr>
          <a:xfrm>
            <a:off x="4390043" y="1475052"/>
            <a:ext cx="1256227" cy="687469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900" dirty="0"/>
          </a:p>
          <a:p>
            <a:pPr algn="ctr"/>
            <a:r>
              <a:rPr lang="en-US" sz="1100" dirty="0"/>
              <a:t>📚 </a:t>
            </a:r>
            <a:r>
              <a:rPr lang="en-US" sz="1100" b="1" u="sng" dirty="0"/>
              <a:t>Alembic</a:t>
            </a:r>
            <a:endParaRPr lang="en-US" sz="1050" dirty="0"/>
          </a:p>
          <a:p>
            <a:pPr algn="ctr"/>
            <a:r>
              <a:rPr lang="en-US" sz="700" i="1" dirty="0"/>
              <a:t>Creates SQL Scripts, </a:t>
            </a:r>
          </a:p>
          <a:p>
            <a:pPr algn="ctr"/>
            <a:r>
              <a:rPr lang="en-US" sz="700" i="1" dirty="0"/>
              <a:t>also maintains field </a:t>
            </a:r>
          </a:p>
          <a:p>
            <a:pPr algn="ctr"/>
            <a:r>
              <a:rPr lang="en-US" sz="700" i="1" dirty="0"/>
              <a:t>history in a file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BE29473-1C83-BE93-4761-E6F6DF9E7F2B}"/>
              </a:ext>
            </a:extLst>
          </p:cNvPr>
          <p:cNvSpPr/>
          <p:nvPr/>
        </p:nvSpPr>
        <p:spPr>
          <a:xfrm>
            <a:off x="4416739" y="1495076"/>
            <a:ext cx="548737" cy="106790"/>
          </a:xfrm>
          <a:prstGeom prst="rect">
            <a:avLst/>
          </a:prstGeom>
          <a:solidFill>
            <a:srgbClr val="0070C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Console cmd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5D63EDA-B8E8-A96D-4F52-2B2F83DD340F}"/>
              </a:ext>
            </a:extLst>
          </p:cNvPr>
          <p:cNvCxnSpPr>
            <a:cxnSpLocks/>
            <a:endCxn id="30" idx="1"/>
          </p:cNvCxnSpPr>
          <p:nvPr/>
        </p:nvCxnSpPr>
        <p:spPr>
          <a:xfrm>
            <a:off x="3964622" y="1818787"/>
            <a:ext cx="425421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CB8C5D96-3572-ED9D-3C46-499AF5791C7B}"/>
              </a:ext>
            </a:extLst>
          </p:cNvPr>
          <p:cNvSpPr/>
          <p:nvPr/>
        </p:nvSpPr>
        <p:spPr>
          <a:xfrm>
            <a:off x="4390042" y="2443683"/>
            <a:ext cx="1256227" cy="5456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SQL Scripts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= creates empty tables</a:t>
            </a:r>
            <a:endParaRPr lang="en-US" sz="1200" dirty="0">
              <a:solidFill>
                <a:schemeClr val="tx1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AD9706D-EA7F-72ED-ECE2-A572DE446AF6}"/>
              </a:ext>
            </a:extLst>
          </p:cNvPr>
          <p:cNvCxnSpPr>
            <a:cxnSpLocks/>
            <a:stCxn id="30" idx="2"/>
            <a:endCxn id="39" idx="0"/>
          </p:cNvCxnSpPr>
          <p:nvPr/>
        </p:nvCxnSpPr>
        <p:spPr>
          <a:xfrm flipH="1">
            <a:off x="5018156" y="2162521"/>
            <a:ext cx="1" cy="281162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68C1553-8B20-D677-F8CD-C7BFBCDD1FFA}"/>
              </a:ext>
            </a:extLst>
          </p:cNvPr>
          <p:cNvCxnSpPr>
            <a:cxnSpLocks/>
          </p:cNvCxnSpPr>
          <p:nvPr/>
        </p:nvCxnSpPr>
        <p:spPr>
          <a:xfrm>
            <a:off x="1871468" y="5059235"/>
            <a:ext cx="836929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18ADDC4F-4E2B-6DBC-599E-3234D89DA381}"/>
              </a:ext>
            </a:extLst>
          </p:cNvPr>
          <p:cNvSpPr/>
          <p:nvPr/>
        </p:nvSpPr>
        <p:spPr>
          <a:xfrm>
            <a:off x="2708397" y="4448974"/>
            <a:ext cx="1483159" cy="139784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t"/>
          <a:lstStyle/>
          <a:p>
            <a:pPr algn="ctr"/>
            <a:endParaRPr lang="en-US" sz="1100" dirty="0"/>
          </a:p>
          <a:p>
            <a:pPr algn="ctr"/>
            <a:r>
              <a:rPr lang="en-US" sz="1600" dirty="0"/>
              <a:t>Data Loader</a:t>
            </a:r>
          </a:p>
          <a:p>
            <a:pPr algn="ctr"/>
            <a:r>
              <a:rPr lang="en-US" sz="1050" dirty="0"/>
              <a:t>📚 </a:t>
            </a:r>
            <a:r>
              <a:rPr lang="en-US" sz="1050" b="1" u="sng" dirty="0"/>
              <a:t>SQLAlchemy</a:t>
            </a:r>
          </a:p>
          <a:p>
            <a:pPr algn="ctr"/>
            <a:r>
              <a:rPr lang="en-US" sz="1050" i="1" dirty="0"/>
              <a:t>[Insertion features]</a:t>
            </a:r>
          </a:p>
          <a:p>
            <a:pPr algn="ctr"/>
            <a:endParaRPr lang="en-US" sz="1600" dirty="0"/>
          </a:p>
          <a:p>
            <a:pPr algn="ctr"/>
            <a:r>
              <a:rPr lang="en-US" sz="1100" dirty="0"/>
              <a:t>= uses schemas to </a:t>
            </a:r>
          </a:p>
          <a:p>
            <a:pPr algn="ctr"/>
            <a:r>
              <a:rPr lang="en-US" sz="1100" u="sng" dirty="0"/>
              <a:t>C</a:t>
            </a:r>
            <a:r>
              <a:rPr lang="en-US" sz="1100" dirty="0"/>
              <a:t>reate DB entries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6EFBF2C6-D8B2-6371-8BF3-2F3E1EEBEC33}"/>
              </a:ext>
            </a:extLst>
          </p:cNvPr>
          <p:cNvSpPr/>
          <p:nvPr/>
        </p:nvSpPr>
        <p:spPr>
          <a:xfrm>
            <a:off x="2735094" y="4468997"/>
            <a:ext cx="393791" cy="105966"/>
          </a:xfrm>
          <a:prstGeom prst="rect">
            <a:avLst/>
          </a:prstGeom>
          <a:solidFill>
            <a:srgbClr val="7030A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.py script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A968180-27A3-3E9A-375B-8DE4CA2771B5}"/>
              </a:ext>
            </a:extLst>
          </p:cNvPr>
          <p:cNvSpPr/>
          <p:nvPr/>
        </p:nvSpPr>
        <p:spPr>
          <a:xfrm>
            <a:off x="4191556" y="4448974"/>
            <a:ext cx="1454713" cy="1397845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0" rIns="0" bIns="0" rtlCol="0" anchor="ctr"/>
          <a:lstStyle/>
          <a:p>
            <a:pPr marL="228600" indent="-228600">
              <a:buAutoNum type="arabicPeriod"/>
            </a:pPr>
            <a:r>
              <a:rPr lang="en-US" sz="1100" dirty="0"/>
              <a:t>Format data</a:t>
            </a:r>
          </a:p>
          <a:p>
            <a:pPr marL="228600" indent="-228600">
              <a:buFontTx/>
              <a:buAutoNum type="arabicPeriod"/>
            </a:pPr>
            <a:r>
              <a:rPr lang="en-US" sz="1100" dirty="0"/>
              <a:t>Validate data</a:t>
            </a:r>
          </a:p>
          <a:p>
            <a:pPr marL="228600" indent="-228600">
              <a:buFontTx/>
              <a:buAutoNum type="arabicPeriod"/>
            </a:pPr>
            <a:r>
              <a:rPr lang="en-US" sz="1100" dirty="0"/>
              <a:t>Create DB session</a:t>
            </a:r>
            <a:endParaRPr lang="en-US" sz="900" dirty="0"/>
          </a:p>
          <a:p>
            <a:pPr marL="228600" indent="-228600">
              <a:buAutoNum type="arabicPeriod"/>
            </a:pPr>
            <a:r>
              <a:rPr lang="en-US" sz="1100" dirty="0"/>
              <a:t>Insert data (DML)</a:t>
            </a:r>
          </a:p>
          <a:p>
            <a:pPr marL="228600" indent="-228600">
              <a:buAutoNum type="arabicPeriod"/>
            </a:pPr>
            <a:r>
              <a:rPr lang="en-US" sz="1100" dirty="0"/>
              <a:t>Close DB session</a:t>
            </a:r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CC0DCC2B-F0ED-C44D-F912-30A273744E6B}"/>
              </a:ext>
            </a:extLst>
          </p:cNvPr>
          <p:cNvGrpSpPr/>
          <p:nvPr/>
        </p:nvGrpSpPr>
        <p:grpSpPr>
          <a:xfrm>
            <a:off x="6957480" y="2443683"/>
            <a:ext cx="680794" cy="785917"/>
            <a:chOff x="8227377" y="3019807"/>
            <a:chExt cx="680794" cy="785917"/>
          </a:xfrm>
        </p:grpSpPr>
        <p:sp>
          <p:nvSpPr>
            <p:cNvPr id="91" name="Flowchart: Magnetic Disk 90">
              <a:extLst>
                <a:ext uri="{FF2B5EF4-FFF2-40B4-BE49-F238E27FC236}">
                  <a16:creationId xmlns:a16="http://schemas.microsoft.com/office/drawing/2014/main" id="{961F415A-E701-B16B-43F7-898098F54C01}"/>
                </a:ext>
              </a:extLst>
            </p:cNvPr>
            <p:cNvSpPr/>
            <p:nvPr/>
          </p:nvSpPr>
          <p:spPr>
            <a:xfrm>
              <a:off x="8227377" y="3458653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Flowchart: Magnetic Disk 93">
              <a:extLst>
                <a:ext uri="{FF2B5EF4-FFF2-40B4-BE49-F238E27FC236}">
                  <a16:creationId xmlns:a16="http://schemas.microsoft.com/office/drawing/2014/main" id="{CCE88E27-7F8B-4843-638A-CC2FD96BA271}"/>
                </a:ext>
              </a:extLst>
            </p:cNvPr>
            <p:cNvSpPr/>
            <p:nvPr/>
          </p:nvSpPr>
          <p:spPr>
            <a:xfrm>
              <a:off x="8227377" y="3235058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Flowchart: Magnetic Disk 94">
              <a:extLst>
                <a:ext uri="{FF2B5EF4-FFF2-40B4-BE49-F238E27FC236}">
                  <a16:creationId xmlns:a16="http://schemas.microsoft.com/office/drawing/2014/main" id="{D809B7D5-7C3B-9CF8-6B19-ABDC31BC3418}"/>
                </a:ext>
              </a:extLst>
            </p:cNvPr>
            <p:cNvSpPr/>
            <p:nvPr/>
          </p:nvSpPr>
          <p:spPr>
            <a:xfrm>
              <a:off x="8227377" y="3019807"/>
              <a:ext cx="680794" cy="347071"/>
            </a:xfrm>
            <a:prstGeom prst="flowChartMagneticDisk">
              <a:avLst/>
            </a:prstGeom>
            <a:solidFill>
              <a:schemeClr val="accent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6ADBAB5C-DE88-EF69-101B-8D2E4902AEAA}"/>
              </a:ext>
            </a:extLst>
          </p:cNvPr>
          <p:cNvCxnSpPr>
            <a:cxnSpLocks/>
            <a:stCxn id="39" idx="3"/>
          </p:cNvCxnSpPr>
          <p:nvPr/>
        </p:nvCxnSpPr>
        <p:spPr>
          <a:xfrm>
            <a:off x="5646269" y="2716483"/>
            <a:ext cx="1053530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4B31FD5A-7DA6-457D-A863-359E5362F9F7}"/>
              </a:ext>
            </a:extLst>
          </p:cNvPr>
          <p:cNvCxnSpPr>
            <a:cxnSpLocks/>
            <a:stCxn id="71" idx="3"/>
          </p:cNvCxnSpPr>
          <p:nvPr/>
        </p:nvCxnSpPr>
        <p:spPr>
          <a:xfrm>
            <a:off x="5646269" y="5147897"/>
            <a:ext cx="1053530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Flowchart: Off-page Connector 123">
            <a:extLst>
              <a:ext uri="{FF2B5EF4-FFF2-40B4-BE49-F238E27FC236}">
                <a16:creationId xmlns:a16="http://schemas.microsoft.com/office/drawing/2014/main" id="{FFF72933-46A1-BED1-D03A-C066DE79B3F5}"/>
              </a:ext>
            </a:extLst>
          </p:cNvPr>
          <p:cNvSpPr/>
          <p:nvPr/>
        </p:nvSpPr>
        <p:spPr>
          <a:xfrm rot="16200000">
            <a:off x="2451709" y="2935924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3</a:t>
            </a:r>
          </a:p>
        </p:txBody>
      </p:sp>
      <p:sp>
        <p:nvSpPr>
          <p:cNvPr id="126" name="Flowchart: Off-page Connector 125">
            <a:extLst>
              <a:ext uri="{FF2B5EF4-FFF2-40B4-BE49-F238E27FC236}">
                <a16:creationId xmlns:a16="http://schemas.microsoft.com/office/drawing/2014/main" id="{20EA467F-5D98-E1BD-6A83-6CF223ABC153}"/>
              </a:ext>
            </a:extLst>
          </p:cNvPr>
          <p:cNvSpPr/>
          <p:nvPr/>
        </p:nvSpPr>
        <p:spPr>
          <a:xfrm rot="16200000">
            <a:off x="2451709" y="1361461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2</a:t>
            </a:r>
          </a:p>
        </p:txBody>
      </p:sp>
      <p:sp>
        <p:nvSpPr>
          <p:cNvPr id="127" name="Flowchart: Off-page Connector 126">
            <a:extLst>
              <a:ext uri="{FF2B5EF4-FFF2-40B4-BE49-F238E27FC236}">
                <a16:creationId xmlns:a16="http://schemas.microsoft.com/office/drawing/2014/main" id="{B83CCE7B-8833-91AF-39C7-C901ED114F09}"/>
              </a:ext>
            </a:extLst>
          </p:cNvPr>
          <p:cNvSpPr/>
          <p:nvPr/>
        </p:nvSpPr>
        <p:spPr>
          <a:xfrm rot="16200000">
            <a:off x="4156555" y="1361461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4</a:t>
            </a:r>
          </a:p>
        </p:txBody>
      </p:sp>
      <p:sp>
        <p:nvSpPr>
          <p:cNvPr id="128" name="Flowchart: Off-page Connector 127">
            <a:extLst>
              <a:ext uri="{FF2B5EF4-FFF2-40B4-BE49-F238E27FC236}">
                <a16:creationId xmlns:a16="http://schemas.microsoft.com/office/drawing/2014/main" id="{42F75857-E87E-058F-51C8-1D399174B498}"/>
              </a:ext>
            </a:extLst>
          </p:cNvPr>
          <p:cNvSpPr/>
          <p:nvPr/>
        </p:nvSpPr>
        <p:spPr>
          <a:xfrm>
            <a:off x="6074182" y="2272527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en-US" sz="1400" b="1" dirty="0"/>
              <a:t>5</a:t>
            </a:r>
          </a:p>
        </p:txBody>
      </p:sp>
      <p:sp>
        <p:nvSpPr>
          <p:cNvPr id="133" name="Flowchart: Off-page Connector 132">
            <a:extLst>
              <a:ext uri="{FF2B5EF4-FFF2-40B4-BE49-F238E27FC236}">
                <a16:creationId xmlns:a16="http://schemas.microsoft.com/office/drawing/2014/main" id="{30A73FCB-2CE0-1B09-BC6B-F51C1868D9BF}"/>
              </a:ext>
            </a:extLst>
          </p:cNvPr>
          <p:cNvSpPr/>
          <p:nvPr/>
        </p:nvSpPr>
        <p:spPr>
          <a:xfrm rot="16200000">
            <a:off x="2450239" y="4334719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6</a:t>
            </a:r>
          </a:p>
        </p:txBody>
      </p:sp>
      <p:sp>
        <p:nvSpPr>
          <p:cNvPr id="134" name="Flowchart: Off-page Connector 133">
            <a:extLst>
              <a:ext uri="{FF2B5EF4-FFF2-40B4-BE49-F238E27FC236}">
                <a16:creationId xmlns:a16="http://schemas.microsoft.com/office/drawing/2014/main" id="{60790620-000B-44A0-F9C3-20F3163B41BC}"/>
              </a:ext>
            </a:extLst>
          </p:cNvPr>
          <p:cNvSpPr/>
          <p:nvPr/>
        </p:nvSpPr>
        <p:spPr>
          <a:xfrm rot="16200000">
            <a:off x="508450" y="1361461"/>
            <a:ext cx="186884" cy="240280"/>
          </a:xfrm>
          <a:prstGeom prst="flowChartOffpageConnector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sz="1400" b="1" dirty="0"/>
              <a:t>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7897557C-84DE-28C0-EADC-46D499135460}"/>
              </a:ext>
            </a:extLst>
          </p:cNvPr>
          <p:cNvSpPr txBox="1"/>
          <p:nvPr/>
        </p:nvSpPr>
        <p:spPr>
          <a:xfrm>
            <a:off x="5927185" y="2529424"/>
            <a:ext cx="452047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1100" i="1" dirty="0"/>
              <a:t>execute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7650598A-6719-CF54-C48F-A07EA23EDB3C}"/>
              </a:ext>
            </a:extLst>
          </p:cNvPr>
          <p:cNvSpPr/>
          <p:nvPr/>
        </p:nvSpPr>
        <p:spPr>
          <a:xfrm>
            <a:off x="6699800" y="1023326"/>
            <a:ext cx="1196156" cy="32158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.env file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= admin creds, et al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82C30CE7-750F-EA4E-A684-D28105A3966B}"/>
              </a:ext>
            </a:extLst>
          </p:cNvPr>
          <p:cNvSpPr/>
          <p:nvPr/>
        </p:nvSpPr>
        <p:spPr>
          <a:xfrm>
            <a:off x="7023549" y="3324719"/>
            <a:ext cx="548656" cy="208561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/>
              <a:t>admin</a:t>
            </a:r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A1F35192-1F23-1A7E-F982-7D8C8411CE14}"/>
              </a:ext>
            </a:extLst>
          </p:cNvPr>
          <p:cNvSpPr/>
          <p:nvPr/>
        </p:nvSpPr>
        <p:spPr>
          <a:xfrm>
            <a:off x="4581610" y="3022272"/>
            <a:ext cx="873082" cy="248173"/>
          </a:xfrm>
          <a:prstGeom prst="rect">
            <a:avLst/>
          </a:prstGeom>
          <a:solidFill>
            <a:srgbClr val="B0B0B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DDL = </a:t>
            </a:r>
          </a:p>
          <a:p>
            <a:pPr algn="ctr"/>
            <a:r>
              <a:rPr lang="en-US" sz="700" dirty="0"/>
              <a:t>data def. language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1FCB8362-7307-7200-10E2-DA71601A0359}"/>
              </a:ext>
            </a:extLst>
          </p:cNvPr>
          <p:cNvSpPr/>
          <p:nvPr/>
        </p:nvSpPr>
        <p:spPr>
          <a:xfrm>
            <a:off x="4581609" y="5900631"/>
            <a:ext cx="873083" cy="249337"/>
          </a:xfrm>
          <a:prstGeom prst="rect">
            <a:avLst/>
          </a:prstGeom>
          <a:solidFill>
            <a:srgbClr val="B0B0B0"/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700" dirty="0"/>
              <a:t>DML = </a:t>
            </a:r>
          </a:p>
          <a:p>
            <a:pPr algn="ctr"/>
            <a:r>
              <a:rPr lang="en-US" sz="700" dirty="0"/>
              <a:t>data manip. language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476FAA6E-532E-811B-061E-21BC7C89326A}"/>
              </a:ext>
            </a:extLst>
          </p:cNvPr>
          <p:cNvSpPr/>
          <p:nvPr/>
        </p:nvSpPr>
        <p:spPr>
          <a:xfrm>
            <a:off x="750159" y="6406284"/>
            <a:ext cx="5345841" cy="249337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6350" cap="rnd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0" rIns="0" bIns="0" rtlCol="0" anchor="ctr"/>
          <a:lstStyle/>
          <a:p>
            <a:r>
              <a:rPr lang="en-US" sz="800" dirty="0">
                <a:solidFill>
                  <a:schemeClr val="tx1"/>
                </a:solidFill>
              </a:rPr>
              <a:t>* Schemas in common parlance refers actually to the DB Models created for SQLAlchemy , but Pydantic uses it to refer to these Data Transfer Objects which define the interface boundary for the underlying DB Models</a:t>
            </a:r>
          </a:p>
        </p:txBody>
      </p:sp>
    </p:spTree>
    <p:extLst>
      <p:ext uri="{BB962C8B-B14F-4D97-AF65-F5344CB8AC3E}">
        <p14:creationId xmlns:p14="http://schemas.microsoft.com/office/powerpoint/2010/main" val="4675368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1767</TotalTime>
  <Words>182</Words>
  <Application>Microsoft Office PowerPoint</Application>
  <PresentationFormat>Widescreen</PresentationFormat>
  <Paragraphs>62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Shaitani .</dc:creator>
  <cp:lastModifiedBy>Shaitani .</cp:lastModifiedBy>
  <cp:revision>10</cp:revision>
  <dcterms:created xsi:type="dcterms:W3CDTF">2026-08-29T16:39:18Z</dcterms:created>
  <dcterms:modified xsi:type="dcterms:W3CDTF">2026-08-30T22:06:53Z</dcterms:modified>
</cp:coreProperties>
</file>