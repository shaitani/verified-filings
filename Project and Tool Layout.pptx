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A5A5"/>
    <a:srgbClr val="B17ED8"/>
    <a:srgbClr val="B0B0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32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3086994" y="770182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7863629" y="2387353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7863629" y="1169921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7922822" y="2837706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1470850" y="805194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1498978" y="1953201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1498978" y="3548707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059632" y="3314789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1498978" y="4286400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2059632" y="4097681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1525674" y="1973224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3475005" y="1003342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3501701" y="1023366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5104680" y="1003341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5131377" y="1032193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4731233" y="1654101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3457217" y="2588048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3483913" y="2608072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5085932" y="2588048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4713444" y="3019153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2620286" y="4512140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3457215" y="3901879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3483912" y="3921902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940374" y="3901879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6343116" y="3019153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847992" y="90931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3218316" y="88975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3223729" y="247445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779944" y="257162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3199057" y="37876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1257268" y="1839608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6632947" y="2828520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7922822" y="763872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5085932" y="3450258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940374" y="5299724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7923700" y="1550365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8520900" y="2092872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8055206" y="3397261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7621979" y="104978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7621979" y="259693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7863629" y="3862711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7922822" y="4199114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8130516" y="4381647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9583707" y="2606088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9746702" y="2858508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9118978" y="309824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7863629" y="4774943"/>
            <a:ext cx="1314542" cy="19044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7922822" y="5225297"/>
            <a:ext cx="1196156" cy="13919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995594" y="5553355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3457215" y="5531931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3483911" y="5551954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7713743" y="2837708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6395087" y="3151258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6395087" y="3303468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6395087" y="5721422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995594" y="5955153"/>
            <a:ext cx="1050612" cy="61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3199057" y="540249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E492C8C-E2EB-4DCC-8FC4-C53AECC1962C}"/>
              </a:ext>
            </a:extLst>
          </p:cNvPr>
          <p:cNvSpPr/>
          <p:nvPr/>
        </p:nvSpPr>
        <p:spPr>
          <a:xfrm>
            <a:off x="9583707" y="5769777"/>
            <a:ext cx="993676" cy="796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Host GPU</a:t>
            </a:r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0F362DED-BF34-5AF8-243D-B31EC86503E7}"/>
              </a:ext>
            </a:extLst>
          </p:cNvPr>
          <p:cNvCxnSpPr>
            <a:cxnSpLocks/>
          </p:cNvCxnSpPr>
          <p:nvPr/>
        </p:nvCxnSpPr>
        <p:spPr>
          <a:xfrm>
            <a:off x="9118978" y="626193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4" name="Picture 2" descr="Gpu - Free computer icons">
            <a:extLst>
              <a:ext uri="{FF2B5EF4-FFF2-40B4-BE49-F238E27FC236}">
                <a16:creationId xmlns:a16="http://schemas.microsoft.com/office/drawing/2014/main" id="{720321CC-3759-1DB6-FCD7-CF1E417DC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515" y="5955153"/>
            <a:ext cx="591168" cy="59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itle 1024">
            <a:extLst>
              <a:ext uri="{FF2B5EF4-FFF2-40B4-BE49-F238E27FC236}">
                <a16:creationId xmlns:a16="http://schemas.microsoft.com/office/drawing/2014/main" id="{D6F6158F-D78B-7FB3-5885-9E394282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735" y="64032"/>
            <a:ext cx="4615498" cy="476956"/>
          </a:xfrm>
        </p:spPr>
        <p:txBody>
          <a:bodyPr anchor="t">
            <a:noAutofit/>
          </a:bodyPr>
          <a:lstStyle/>
          <a:p>
            <a:r>
              <a:rPr lang="en-US" sz="4000" dirty="0"/>
              <a:t>Priming Phase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E0EE-A8BD-8F30-7418-87BB2514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620D2BF-387D-D4BF-5090-B9D7F5E1A177}"/>
              </a:ext>
            </a:extLst>
          </p:cNvPr>
          <p:cNvSpPr/>
          <p:nvPr/>
        </p:nvSpPr>
        <p:spPr>
          <a:xfrm>
            <a:off x="7670527" y="4920178"/>
            <a:ext cx="4028187" cy="16508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  <a:p>
            <a:pPr algn="ctr"/>
            <a:endParaRPr lang="en-US" sz="200" i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3B161CA-3951-5003-8932-A211335401FC}"/>
              </a:ext>
            </a:extLst>
          </p:cNvPr>
          <p:cNvSpPr/>
          <p:nvPr/>
        </p:nvSpPr>
        <p:spPr>
          <a:xfrm>
            <a:off x="7729720" y="4920177"/>
            <a:ext cx="3714012" cy="13136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62CBA80-95B2-D658-D869-139D92552C8F}"/>
              </a:ext>
            </a:extLst>
          </p:cNvPr>
          <p:cNvSpPr/>
          <p:nvPr/>
        </p:nvSpPr>
        <p:spPr>
          <a:xfrm>
            <a:off x="9049796" y="4920176"/>
            <a:ext cx="1020305" cy="110008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dirty="0"/>
              <a:t>Embedding Model</a:t>
            </a:r>
            <a:endParaRPr lang="en-US" sz="900" b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</a:t>
            </a:r>
          </a:p>
          <a:p>
            <a:pPr algn="ctr"/>
            <a:r>
              <a:rPr lang="en-US" sz="900" b="1" u="sng" dirty="0"/>
              <a:t>text-v1.5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09F7108-FF93-609D-A945-2510E83DD8FF}"/>
              </a:ext>
            </a:extLst>
          </p:cNvPr>
          <p:cNvSpPr/>
          <p:nvPr/>
        </p:nvSpPr>
        <p:spPr>
          <a:xfrm>
            <a:off x="10152196" y="4920174"/>
            <a:ext cx="1222081" cy="1100083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D6A0B9-4705-2CEA-1EC6-D1806A8968BE}"/>
              </a:ext>
            </a:extLst>
          </p:cNvPr>
          <p:cNvSpPr/>
          <p:nvPr/>
        </p:nvSpPr>
        <p:spPr>
          <a:xfrm>
            <a:off x="11443732" y="4920178"/>
            <a:ext cx="202062" cy="1313662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httpx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7B6516-346C-8990-ACB5-79355B120195}"/>
              </a:ext>
            </a:extLst>
          </p:cNvPr>
          <p:cNvSpPr/>
          <p:nvPr/>
        </p:nvSpPr>
        <p:spPr>
          <a:xfrm>
            <a:off x="562127" y="2087031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Input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B002BE-836F-8408-1F21-4AD91EC21A2B}"/>
              </a:ext>
            </a:extLst>
          </p:cNvPr>
          <p:cNvSpPr/>
          <p:nvPr/>
        </p:nvSpPr>
        <p:spPr>
          <a:xfrm>
            <a:off x="562127" y="945957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Display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6E5B91-C632-7638-5DE6-41D98F5FAD3D}"/>
              </a:ext>
            </a:extLst>
          </p:cNvPr>
          <p:cNvSpPr/>
          <p:nvPr/>
        </p:nvSpPr>
        <p:spPr>
          <a:xfrm>
            <a:off x="4586614" y="829460"/>
            <a:ext cx="1194727" cy="18910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Server</a:t>
            </a:r>
            <a:endParaRPr lang="en-US" sz="1400" dirty="0"/>
          </a:p>
          <a:p>
            <a:pPr algn="ctr"/>
            <a:r>
              <a:rPr lang="en-US" sz="1100" u="sng" dirty="0"/>
              <a:t>app/api/</a:t>
            </a:r>
          </a:p>
          <a:p>
            <a:pPr algn="ctr"/>
            <a:r>
              <a:rPr lang="en-US" sz="800" dirty="0"/>
              <a:t>📚</a:t>
            </a:r>
            <a:r>
              <a:rPr lang="en-US" sz="1100" dirty="0"/>
              <a:t> </a:t>
            </a:r>
            <a:r>
              <a:rPr lang="en-US" sz="800" b="1" u="sng" dirty="0"/>
              <a:t>uvicorn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 Users</a:t>
            </a:r>
          </a:p>
          <a:p>
            <a:pPr algn="ctr"/>
            <a:r>
              <a:rPr lang="en-US" sz="800" b="1" dirty="0"/>
              <a:t> </a:t>
            </a:r>
            <a:r>
              <a:rPr lang="en-US" sz="800" dirty="0"/>
              <a:t>📚 </a:t>
            </a:r>
            <a:r>
              <a:rPr lang="en-US" sz="800" b="1" u="sng" dirty="0"/>
              <a:t>httpx-oauth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Handles </a:t>
            </a:r>
          </a:p>
          <a:p>
            <a:pPr algn="ctr"/>
            <a:r>
              <a:rPr lang="en-US" sz="800" dirty="0"/>
              <a:t>display for user interactions. 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Services via REST API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37990E-CA5C-5E9E-B92E-0D2BC0C31F0B}"/>
              </a:ext>
            </a:extLst>
          </p:cNvPr>
          <p:cNvSpPr/>
          <p:nvPr/>
        </p:nvSpPr>
        <p:spPr>
          <a:xfrm>
            <a:off x="7670527" y="2581844"/>
            <a:ext cx="1025758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Parser</a:t>
            </a:r>
            <a:endParaRPr lang="en-US" sz="1100" dirty="0"/>
          </a:p>
          <a:p>
            <a:pPr algn="ctr"/>
            <a:r>
              <a:rPr lang="en-US" sz="1100" u="sng" dirty="0"/>
              <a:t>app/parser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Converts user string to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object </a:t>
            </a:r>
          </a:p>
          <a:p>
            <a:pPr algn="ctr"/>
            <a:r>
              <a:rPr lang="en-US" sz="800" dirty="0"/>
              <a:t>(via Qwen)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D350345-C206-49FB-1B55-4BFF02E6ED8D}"/>
              </a:ext>
            </a:extLst>
          </p:cNvPr>
          <p:cNvSpPr/>
          <p:nvPr/>
        </p:nvSpPr>
        <p:spPr>
          <a:xfrm>
            <a:off x="9230729" y="2581844"/>
            <a:ext cx="1025758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Mapper</a:t>
            </a:r>
            <a:endParaRPr lang="en-US" sz="1100" dirty="0"/>
          </a:p>
          <a:p>
            <a:pPr algn="ctr"/>
            <a:r>
              <a:rPr lang="en-US" sz="1100" u="sng" dirty="0"/>
              <a:t>app/semantic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Does mapping from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into a </a:t>
            </a:r>
          </a:p>
          <a:p>
            <a:pPr algn="ctr"/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 </a:t>
            </a:r>
          </a:p>
          <a:p>
            <a:pPr algn="ctr"/>
            <a:r>
              <a:rPr lang="en-US" sz="800" dirty="0"/>
              <a:t>(normalizes request to what is retrievable in the database)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DE70CD-39A9-A20F-7E9F-7837F6D26DB9}"/>
              </a:ext>
            </a:extLst>
          </p:cNvPr>
          <p:cNvSpPr/>
          <p:nvPr/>
        </p:nvSpPr>
        <p:spPr>
          <a:xfrm>
            <a:off x="10769365" y="2581844"/>
            <a:ext cx="929349" cy="165080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Executor</a:t>
            </a:r>
            <a:endParaRPr lang="en-US" sz="1400" dirty="0"/>
          </a:p>
          <a:p>
            <a:pPr algn="ctr"/>
            <a:r>
              <a:rPr lang="en-US" sz="1100" u="sng" dirty="0"/>
              <a:t>app/retrieval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Generates SQL to execute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  <a:r>
              <a:rPr lang="en-US" sz="800" dirty="0"/>
              <a:t> (via Qwen), sanitizes then executes SQL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823C645-2515-192B-C854-507A34F34D39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1678180" y="2287716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9F1476-8289-F0DD-9B6E-4A04F3B111E0}"/>
              </a:ext>
            </a:extLst>
          </p:cNvPr>
          <p:cNvCxnSpPr>
            <a:cxnSpLocks/>
          </p:cNvCxnSpPr>
          <p:nvPr/>
        </p:nvCxnSpPr>
        <p:spPr>
          <a:xfrm flipH="1">
            <a:off x="3259163" y="2287715"/>
            <a:ext cx="130936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7F5B4B-693B-6867-1F64-A4FD871C749E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8183406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0EFA422-E47F-91E3-42D0-2A8BC5CE310A}"/>
              </a:ext>
            </a:extLst>
          </p:cNvPr>
          <p:cNvCxnSpPr>
            <a:cxnSpLocks/>
            <a:stCxn id="13" idx="1"/>
            <a:endCxn id="11" idx="3"/>
          </p:cNvCxnSpPr>
          <p:nvPr/>
        </p:nvCxnSpPr>
        <p:spPr>
          <a:xfrm flipH="1">
            <a:off x="10256487" y="3407248"/>
            <a:ext cx="512878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91024CF-1BBB-6447-AC43-8CCFBE29F66A}"/>
              </a:ext>
            </a:extLst>
          </p:cNvPr>
          <p:cNvCxnSpPr>
            <a:cxnSpLocks/>
          </p:cNvCxnSpPr>
          <p:nvPr/>
        </p:nvCxnSpPr>
        <p:spPr>
          <a:xfrm flipV="1">
            <a:off x="9708766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37E65A8-E98B-A3F1-EC69-60F3FB12BFCB}"/>
              </a:ext>
            </a:extLst>
          </p:cNvPr>
          <p:cNvCxnSpPr>
            <a:cxnSpLocks/>
          </p:cNvCxnSpPr>
          <p:nvPr/>
        </p:nvCxnSpPr>
        <p:spPr>
          <a:xfrm flipH="1">
            <a:off x="10657590" y="4232651"/>
            <a:ext cx="231288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9FA540F-0D32-6ABF-F082-1F95536F248C}"/>
              </a:ext>
            </a:extLst>
          </p:cNvPr>
          <p:cNvCxnSpPr>
            <a:cxnSpLocks/>
          </p:cNvCxnSpPr>
          <p:nvPr/>
        </p:nvCxnSpPr>
        <p:spPr>
          <a:xfrm>
            <a:off x="10258677" y="4232651"/>
            <a:ext cx="204729" cy="2085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6DD88032-5E17-4F47-AA9F-FBDAC2D2C59F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8696285" y="3407248"/>
            <a:ext cx="53444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365C1E3-C6AD-0E59-D654-7A64454F99F0}"/>
              </a:ext>
            </a:extLst>
          </p:cNvPr>
          <p:cNvCxnSpPr>
            <a:cxnSpLocks/>
          </p:cNvCxnSpPr>
          <p:nvPr/>
        </p:nvCxnSpPr>
        <p:spPr>
          <a:xfrm flipV="1">
            <a:off x="11301440" y="4232651"/>
            <a:ext cx="0" cy="6875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A1207485-D60E-FB2A-3919-B3EDA31AD605}"/>
              </a:ext>
            </a:extLst>
          </p:cNvPr>
          <p:cNvSpPr/>
          <p:nvPr/>
        </p:nvSpPr>
        <p:spPr>
          <a:xfrm>
            <a:off x="7800128" y="4920175"/>
            <a:ext cx="1167573" cy="110008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Parser LLM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876C400E-DE7F-DE8B-23CD-DE4F9C59641B}"/>
              </a:ext>
            </a:extLst>
          </p:cNvPr>
          <p:cNvCxnSpPr>
            <a:cxnSpLocks/>
          </p:cNvCxnSpPr>
          <p:nvPr/>
        </p:nvCxnSpPr>
        <p:spPr>
          <a:xfrm flipV="1">
            <a:off x="3260789" y="1146641"/>
            <a:ext cx="1307740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3A768D3E-E65E-59D0-A9DE-9B81B3F86D94}"/>
              </a:ext>
            </a:extLst>
          </p:cNvPr>
          <p:cNvSpPr/>
          <p:nvPr/>
        </p:nvSpPr>
        <p:spPr>
          <a:xfrm>
            <a:off x="10186804" y="4441244"/>
            <a:ext cx="721904" cy="404410"/>
          </a:xfrm>
          <a:prstGeom prst="rect">
            <a:avLst/>
          </a:prstGeom>
          <a:solidFill>
            <a:srgbClr val="F7A5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900" dirty="0"/>
              <a:t>xbrl</a:t>
            </a:r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68CCE979-38C1-892C-888A-C361A055421E}"/>
              </a:ext>
            </a:extLst>
          </p:cNvPr>
          <p:cNvCxnSpPr>
            <a:cxnSpLocks/>
            <a:stCxn id="11" idx="0"/>
            <a:endCxn id="143" idx="3"/>
          </p:cNvCxnSpPr>
          <p:nvPr/>
        </p:nvCxnSpPr>
        <p:spPr>
          <a:xfrm rot="16200000" flipV="1">
            <a:off x="8685653" y="1523888"/>
            <a:ext cx="1068588" cy="1047323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9FFA8364-6776-D3D2-5096-EBE29B8BFD78}"/>
              </a:ext>
            </a:extLst>
          </p:cNvPr>
          <p:cNvSpPr txBox="1"/>
          <p:nvPr/>
        </p:nvSpPr>
        <p:spPr>
          <a:xfrm>
            <a:off x="8712076" y="2038246"/>
            <a:ext cx="6876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100" i="1" dirty="0"/>
              <a:t>Refusal </a:t>
            </a:r>
            <a:r>
              <a:rPr lang="en-US" sz="1100" dirty="0"/>
              <a:t>|</a:t>
            </a:r>
            <a:r>
              <a:rPr lang="en-US" sz="1100" i="1" dirty="0"/>
              <a:t> </a:t>
            </a:r>
          </a:p>
          <a:p>
            <a:pPr algn="r"/>
            <a:r>
              <a:rPr lang="en-US" sz="1100" i="1" dirty="0"/>
              <a:t>Clarification</a:t>
            </a:r>
          </a:p>
        </p:txBody>
      </p:sp>
      <p:cxnSp>
        <p:nvCxnSpPr>
          <p:cNvPr id="113" name="Connector: Elbow 108">
            <a:extLst>
              <a:ext uri="{FF2B5EF4-FFF2-40B4-BE49-F238E27FC236}">
                <a16:creationId xmlns:a16="http://schemas.microsoft.com/office/drawing/2014/main" id="{AE26BF72-4C1B-E05E-E217-85426BF0C49D}"/>
              </a:ext>
            </a:extLst>
          </p:cNvPr>
          <p:cNvCxnSpPr>
            <a:cxnSpLocks/>
            <a:stCxn id="13" idx="0"/>
          </p:cNvCxnSpPr>
          <p:nvPr/>
        </p:nvCxnSpPr>
        <p:spPr>
          <a:xfrm rot="16200000" flipV="1">
            <a:off x="9323179" y="670982"/>
            <a:ext cx="1283969" cy="2537755"/>
          </a:xfrm>
          <a:prstGeom prst="curvedConnector2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49CA53C4-D49B-F86E-D5A4-FD5CADAE70DC}"/>
              </a:ext>
            </a:extLst>
          </p:cNvPr>
          <p:cNvSpPr txBox="1"/>
          <p:nvPr/>
        </p:nvSpPr>
        <p:spPr>
          <a:xfrm>
            <a:off x="9219702" y="1118029"/>
            <a:ext cx="61516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ResultSet</a:t>
            </a:r>
          </a:p>
        </p:txBody>
      </p:sp>
      <p:sp>
        <p:nvSpPr>
          <p:cNvPr id="117" name="Flowchart: Off-page Connector 116">
            <a:extLst>
              <a:ext uri="{FF2B5EF4-FFF2-40B4-BE49-F238E27FC236}">
                <a16:creationId xmlns:a16="http://schemas.microsoft.com/office/drawing/2014/main" id="{D7C4B127-ED58-CB38-3043-477F8C136243}"/>
              </a:ext>
            </a:extLst>
          </p:cNvPr>
          <p:cNvSpPr/>
          <p:nvPr/>
        </p:nvSpPr>
        <p:spPr>
          <a:xfrm rot="16200000">
            <a:off x="1998780" y="1993941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18" name="Flowchart: Off-page Connector 117">
            <a:extLst>
              <a:ext uri="{FF2B5EF4-FFF2-40B4-BE49-F238E27FC236}">
                <a16:creationId xmlns:a16="http://schemas.microsoft.com/office/drawing/2014/main" id="{CC198E2C-579D-69D7-7BE8-AD75D8EE4092}"/>
              </a:ext>
            </a:extLst>
          </p:cNvPr>
          <p:cNvSpPr/>
          <p:nvPr/>
        </p:nvSpPr>
        <p:spPr>
          <a:xfrm rot="16200000">
            <a:off x="4367380" y="1942872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19" name="Flowchart: Off-page Connector 118">
            <a:extLst>
              <a:ext uri="{FF2B5EF4-FFF2-40B4-BE49-F238E27FC236}">
                <a16:creationId xmlns:a16="http://schemas.microsoft.com/office/drawing/2014/main" id="{94CB7192-7274-F3D6-30B4-7233CC08C58F}"/>
              </a:ext>
            </a:extLst>
          </p:cNvPr>
          <p:cNvSpPr/>
          <p:nvPr/>
        </p:nvSpPr>
        <p:spPr>
          <a:xfrm rot="16200000">
            <a:off x="7442347" y="2608945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0" name="Flowchart: Off-page Connector 119">
            <a:extLst>
              <a:ext uri="{FF2B5EF4-FFF2-40B4-BE49-F238E27FC236}">
                <a16:creationId xmlns:a16="http://schemas.microsoft.com/office/drawing/2014/main" id="{01DB02D4-794E-6EA2-5C1C-E49399D79D95}"/>
              </a:ext>
            </a:extLst>
          </p:cNvPr>
          <p:cNvSpPr/>
          <p:nvPr/>
        </p:nvSpPr>
        <p:spPr>
          <a:xfrm rot="16200000">
            <a:off x="9006120" y="2608944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1" name="Flowchart: Off-page Connector 120">
            <a:extLst>
              <a:ext uri="{FF2B5EF4-FFF2-40B4-BE49-F238E27FC236}">
                <a16:creationId xmlns:a16="http://schemas.microsoft.com/office/drawing/2014/main" id="{4E3134F4-88B8-F4FE-19CF-EE627B72415C}"/>
              </a:ext>
            </a:extLst>
          </p:cNvPr>
          <p:cNvSpPr/>
          <p:nvPr/>
        </p:nvSpPr>
        <p:spPr>
          <a:xfrm rot="16200000">
            <a:off x="10540518" y="2608943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22" name="Flowchart: Off-page Connector 121">
            <a:extLst>
              <a:ext uri="{FF2B5EF4-FFF2-40B4-BE49-F238E27FC236}">
                <a16:creationId xmlns:a16="http://schemas.microsoft.com/office/drawing/2014/main" id="{473F88A9-2CB3-E503-D874-718B48B13C8E}"/>
              </a:ext>
            </a:extLst>
          </p:cNvPr>
          <p:cNvSpPr/>
          <p:nvPr/>
        </p:nvSpPr>
        <p:spPr>
          <a:xfrm rot="16200000">
            <a:off x="8395553" y="1033332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23" name="Flowchart: Off-page Connector 122">
            <a:extLst>
              <a:ext uri="{FF2B5EF4-FFF2-40B4-BE49-F238E27FC236}">
                <a16:creationId xmlns:a16="http://schemas.microsoft.com/office/drawing/2014/main" id="{9BEDBC72-BA05-EBD9-A868-CF9DCC0AD9A0}"/>
              </a:ext>
            </a:extLst>
          </p:cNvPr>
          <p:cNvSpPr/>
          <p:nvPr/>
        </p:nvSpPr>
        <p:spPr>
          <a:xfrm rot="16200000">
            <a:off x="1983719" y="867926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9</a:t>
            </a:r>
          </a:p>
        </p:txBody>
      </p:sp>
      <p:sp>
        <p:nvSpPr>
          <p:cNvPr id="125" name="Title 1024">
            <a:extLst>
              <a:ext uri="{FF2B5EF4-FFF2-40B4-BE49-F238E27FC236}">
                <a16:creationId xmlns:a16="http://schemas.microsoft.com/office/drawing/2014/main" id="{068CC61E-01B3-DEF8-1A06-BC2F944CE8A4}"/>
              </a:ext>
            </a:extLst>
          </p:cNvPr>
          <p:cNvSpPr txBox="1">
            <a:spLocks/>
          </p:cNvSpPr>
          <p:nvPr/>
        </p:nvSpPr>
        <p:spPr>
          <a:xfrm>
            <a:off x="115735" y="64032"/>
            <a:ext cx="4615498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153D90E-A2E5-4404-AD68-B92944BEAE64}"/>
              </a:ext>
            </a:extLst>
          </p:cNvPr>
          <p:cNvSpPr/>
          <p:nvPr/>
        </p:nvSpPr>
        <p:spPr>
          <a:xfrm>
            <a:off x="2236659" y="829460"/>
            <a:ext cx="1022504" cy="189109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App</a:t>
            </a:r>
            <a:endParaRPr lang="en-US" sz="1400" dirty="0"/>
          </a:p>
          <a:p>
            <a:pPr algn="ctr"/>
            <a:r>
              <a:rPr lang="en-US" sz="800" dirty="0"/>
              <a:t>(Front End)</a:t>
            </a:r>
          </a:p>
          <a:p>
            <a:pPr algn="ctr"/>
            <a:r>
              <a:rPr lang="en-US" sz="800" u="sng" dirty="0"/>
              <a:t>web/</a:t>
            </a:r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Angular</a:t>
            </a:r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ngrx/signals</a:t>
            </a:r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Interacts with backend web services 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63A5CFC1-5969-1075-024E-14A656251337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1678180" y="1146642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lowchart: Off-page Connector 135">
            <a:extLst>
              <a:ext uri="{FF2B5EF4-FFF2-40B4-BE49-F238E27FC236}">
                <a16:creationId xmlns:a16="http://schemas.microsoft.com/office/drawing/2014/main" id="{A1B0BCD8-DCD6-7861-F57A-66F9A0626BD6}"/>
              </a:ext>
            </a:extLst>
          </p:cNvPr>
          <p:cNvSpPr/>
          <p:nvPr/>
        </p:nvSpPr>
        <p:spPr>
          <a:xfrm rot="16200000">
            <a:off x="4343854" y="916049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F24B60-2905-0E09-E718-C84C2BFDB1B3}"/>
              </a:ext>
            </a:extLst>
          </p:cNvPr>
          <p:cNvSpPr/>
          <p:nvPr/>
        </p:nvSpPr>
        <p:spPr>
          <a:xfrm>
            <a:off x="3865914" y="746390"/>
            <a:ext cx="122599" cy="2248872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HTTP</a:t>
            </a:r>
            <a:endParaRPr lang="en-US" sz="50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8DEB2BA-D85C-50E6-40BC-A6CD7A7ADEEE}"/>
              </a:ext>
            </a:extLst>
          </p:cNvPr>
          <p:cNvSpPr/>
          <p:nvPr/>
        </p:nvSpPr>
        <p:spPr>
          <a:xfrm>
            <a:off x="7673781" y="829460"/>
            <a:ext cx="1022504" cy="136759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Presenter</a:t>
            </a:r>
            <a:endParaRPr lang="en-US" sz="1400" dirty="0"/>
          </a:p>
          <a:p>
            <a:pPr algn="ctr"/>
            <a:r>
              <a:rPr lang="en-US" sz="1100" u="sng" dirty="0"/>
              <a:t>app/presenter/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Formats any query result into proper format for display</a:t>
            </a:r>
          </a:p>
        </p:txBody>
      </p:sp>
      <p:cxnSp>
        <p:nvCxnSpPr>
          <p:cNvPr id="145" name="Connector: Elbow 144">
            <a:extLst>
              <a:ext uri="{FF2B5EF4-FFF2-40B4-BE49-F238E27FC236}">
                <a16:creationId xmlns:a16="http://schemas.microsoft.com/office/drawing/2014/main" id="{A6A16BBE-2B6E-7F70-B4BE-7034BADC2191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5781341" y="2287715"/>
            <a:ext cx="1889186" cy="111953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7B9890BF-AA75-9B52-CA47-20B28D8B417A}"/>
              </a:ext>
            </a:extLst>
          </p:cNvPr>
          <p:cNvCxnSpPr>
            <a:cxnSpLocks/>
            <a:endCxn id="143" idx="1"/>
          </p:cNvCxnSpPr>
          <p:nvPr/>
        </p:nvCxnSpPr>
        <p:spPr>
          <a:xfrm>
            <a:off x="5781341" y="1513255"/>
            <a:ext cx="1892440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A3D4D619-1AF9-A9AD-A963-8280C6167FD0}"/>
              </a:ext>
            </a:extLst>
          </p:cNvPr>
          <p:cNvSpPr/>
          <p:nvPr/>
        </p:nvSpPr>
        <p:spPr>
          <a:xfrm rot="16200000">
            <a:off x="7427288" y="934318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505832D6-FBC7-265D-705F-64A8EB21D9EC}"/>
              </a:ext>
            </a:extLst>
          </p:cNvPr>
          <p:cNvSpPr txBox="1"/>
          <p:nvPr/>
        </p:nvSpPr>
        <p:spPr>
          <a:xfrm>
            <a:off x="6187329" y="1297875"/>
            <a:ext cx="8164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AnswerView</a:t>
            </a:r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CFFBE3C2-AC0C-258A-4C4D-A6CFE921302D}"/>
              </a:ext>
            </a:extLst>
          </p:cNvPr>
          <p:cNvCxnSpPr>
            <a:cxnSpLocks/>
          </p:cNvCxnSpPr>
          <p:nvPr/>
        </p:nvCxnSpPr>
        <p:spPr>
          <a:xfrm flipH="1">
            <a:off x="8451201" y="2197051"/>
            <a:ext cx="1627" cy="384793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Rectangle 182">
            <a:extLst>
              <a:ext uri="{FF2B5EF4-FFF2-40B4-BE49-F238E27FC236}">
                <a16:creationId xmlns:a16="http://schemas.microsoft.com/office/drawing/2014/main" id="{D43E0C22-7646-FF2D-BCA6-8C88A2D3837F}"/>
              </a:ext>
            </a:extLst>
          </p:cNvPr>
          <p:cNvSpPr/>
          <p:nvPr/>
        </p:nvSpPr>
        <p:spPr>
          <a:xfrm>
            <a:off x="4684549" y="3098801"/>
            <a:ext cx="998858" cy="1276986"/>
          </a:xfrm>
          <a:prstGeom prst="rect">
            <a:avLst/>
          </a:prstGeom>
          <a:solidFill>
            <a:srgbClr val="F7A5A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user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oauth_account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access_token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invite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conversation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job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job_trace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055BC9F6-8C0A-8440-8CB2-B3B3E5CAD35D}"/>
              </a:ext>
            </a:extLst>
          </p:cNvPr>
          <p:cNvCxnSpPr>
            <a:cxnSpLocks/>
            <a:stCxn id="8" idx="2"/>
            <a:endCxn id="183" idx="0"/>
          </p:cNvCxnSpPr>
          <p:nvPr/>
        </p:nvCxnSpPr>
        <p:spPr>
          <a:xfrm>
            <a:off x="5183978" y="2720551"/>
            <a:ext cx="0" cy="37825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5D7D4E3B-7177-E706-D8D1-F7B7B8B72474}"/>
              </a:ext>
            </a:extLst>
          </p:cNvPr>
          <p:cNvSpPr txBox="1"/>
          <p:nvPr/>
        </p:nvSpPr>
        <p:spPr>
          <a:xfrm>
            <a:off x="10254864" y="3141368"/>
            <a:ext cx="615163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</a:p>
        </p:txBody>
      </p:sp>
    </p:spTree>
    <p:extLst>
      <p:ext uri="{BB962C8B-B14F-4D97-AF65-F5344CB8AC3E}">
        <p14:creationId xmlns:p14="http://schemas.microsoft.com/office/powerpoint/2010/main" val="3238737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26355</TotalTime>
  <Words>456</Words>
  <Application>Microsoft Office PowerPoint</Application>
  <PresentationFormat>Widescreen</PresentationFormat>
  <Paragraphs>174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Adobe Gothic Std B</vt:lpstr>
      <vt:lpstr>Arial</vt:lpstr>
      <vt:lpstr>Calibri</vt:lpstr>
      <vt:lpstr>Calibri Light</vt:lpstr>
      <vt:lpstr>Office Theme</vt:lpstr>
      <vt:lpstr>Priming Phase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38</cp:revision>
  <dcterms:created xsi:type="dcterms:W3CDTF">2026-08-29T16:39:18Z</dcterms:created>
  <dcterms:modified xsi:type="dcterms:W3CDTF">2026-09-28T02:48:50Z</dcterms:modified>
</cp:coreProperties>
</file>