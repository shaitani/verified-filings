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17ED8"/>
    <a:srgbClr val="B0B0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54" d="100"/>
          <a:sy n="154" d="100"/>
        </p:scale>
        <p:origin x="432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D03E4-1409-C5BA-5B75-437119D7A2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EF1637-53A7-F6CC-AF5F-403211B6F6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906C80-B59A-BA96-9565-7D80B50F0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5FF1B-409F-0CD4-2DFB-C0E519C2F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8B54D-4DCD-37F6-4E41-782C02761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675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407D7-0805-4348-A50B-26EB1FBC7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F67FA-7064-242B-F0D9-6B7B11D39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60842-D45E-86BC-45D4-C1DA43677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D18280-16CD-43A3-BAC8-5B49DCFDB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62D37E-3DEE-A6C1-3DD6-7B5A71B33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0546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30815-3988-4D63-D947-86DD85A78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C22BE9-BFE7-CF38-8320-594ED47FD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339658-32E2-006F-790C-98D0F4600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51930A-8A44-D0AC-C14D-4B95E3E5A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8039E6-5B14-2F63-6D1D-738A6E529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4284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9D759-BA35-F6C1-7BBB-6853EF593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46FB61-39C7-7F31-BC15-5AF29CA41E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6CAB8E-C18D-2961-7A5D-1B6CE632DE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8E3D0A-3DA1-CEAE-5988-83F183055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A4AFE2-9B25-0A04-57AF-081AC81DD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02CC36-8B68-7A6D-2142-23245B44E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244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1DCE9-66B4-A9EE-E12F-B3836ABA4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13CE75-03B2-760B-16D6-3496067259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2CF800-84CB-80D3-DAA6-BE04D69246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22CB69-5B21-BAEB-CD71-045A46CAC9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AA9C1A-0902-50E1-4629-786D16DC01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697B13-53EB-92AA-F5C5-8AA0F4FDF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288F89-C38F-1C44-65D5-C6E459E67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B6D559-32E9-48A6-3FB1-5162331C5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7744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856EA-87DC-315D-3E62-3BB44D8EB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1001FD-D538-FB52-70E0-A97587A00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B71AD7-B1A7-1718-68C1-0DB682591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E19E17-0A8A-7D06-42E0-4A524F7AB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70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1C90F2-AFB5-1883-951E-E03E77449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96DC03-9292-193E-F104-19533ACFF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981984-E89A-FAF8-484A-1662EC645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9805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3898F-882B-2D26-4FE3-48B4135FA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38911-6B4F-CA2D-7C41-FD214329DB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D9BD33-44B6-FFD6-50A0-95ACDEC9F9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AE0C14-EA06-967C-322B-0EE0531D0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84BBEF-4EC7-39FF-5045-DDE131F65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5D25D-9FC9-81FE-5ECE-374476A20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208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D60A2-9645-5131-C66C-AFD215E3FD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959AE0-90E1-D7F6-54D3-AA12B7DAE4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88EF64-D88F-F36A-8EE2-BBB454F2C9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F3B7FC-961D-0141-44ED-E2C0709EF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808282-A4F0-393E-E38F-131E58B15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7482AA-9F6F-A7A9-13BE-35E0F5787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099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8BA3E-DEF7-CC9D-00F0-EF1E04647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E989D7-B91E-0C77-6B27-93D942DBA6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4ACB26-3291-4613-CAA0-3CCA42ADF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A7A27A-15F7-4BCF-0084-8A3CFBEF2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467920-B52C-1586-6714-C29B782A7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253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B6CE34-703A-5C72-D780-58BE40743E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B5D134-DD0F-03B6-DCFB-61889E9E4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845069-FF40-39D8-0E71-8DB5ECA67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B07194-52D7-077D-EFB6-A17850AD1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B1E86A-7B58-CF12-7568-370ADE099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3875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D90474-2B9C-5267-48E5-FC282BFDFD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2B3DE6-1A82-D5D6-9D15-A511FE6191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0D5346-3721-413D-42E3-C69BE99CB4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400991-DE83-E935-32DB-021826F0BF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E601DD-CC45-6C57-F876-16651C96C0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443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Rectangle 72">
            <a:extLst>
              <a:ext uri="{FF2B5EF4-FFF2-40B4-BE49-F238E27FC236}">
                <a16:creationId xmlns:a16="http://schemas.microsoft.com/office/drawing/2014/main" id="{1C37FB3A-8823-595A-E49C-1F3D559F712D}"/>
              </a:ext>
            </a:extLst>
          </p:cNvPr>
          <p:cNvSpPr/>
          <p:nvPr/>
        </p:nvSpPr>
        <p:spPr>
          <a:xfrm>
            <a:off x="2097659" y="149458"/>
            <a:ext cx="3492379" cy="165660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BCFF54A-ABDC-829F-D38E-19DC6F0A6EAE}"/>
              </a:ext>
            </a:extLst>
          </p:cNvPr>
          <p:cNvSpPr/>
          <p:nvPr/>
        </p:nvSpPr>
        <p:spPr>
          <a:xfrm>
            <a:off x="6874294" y="1766629"/>
            <a:ext cx="1314542" cy="142696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“pgvector/pgvector:pg17”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AC8FDD-2CDB-1421-3C89-7271865A8AA6}"/>
              </a:ext>
            </a:extLst>
          </p:cNvPr>
          <p:cNvSpPr/>
          <p:nvPr/>
        </p:nvSpPr>
        <p:spPr>
          <a:xfrm>
            <a:off x="6874294" y="549197"/>
            <a:ext cx="1314542" cy="9229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“dpage/pgadmin4”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3648F25D-F87B-BA73-4E34-C9B47F8DEFFF}"/>
              </a:ext>
            </a:extLst>
          </p:cNvPr>
          <p:cNvSpPr/>
          <p:nvPr/>
        </p:nvSpPr>
        <p:spPr>
          <a:xfrm>
            <a:off x="6933487" y="2216982"/>
            <a:ext cx="1196156" cy="89568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600" dirty="0"/>
              <a:t>PostgreSQL Server</a:t>
            </a:r>
          </a:p>
        </p:txBody>
      </p:sp>
      <p:sp>
        <p:nvSpPr>
          <p:cNvPr id="4" name="Thought Bubble: Cloud 3">
            <a:extLst>
              <a:ext uri="{FF2B5EF4-FFF2-40B4-BE49-F238E27FC236}">
                <a16:creationId xmlns:a16="http://schemas.microsoft.com/office/drawing/2014/main" id="{AC1FB946-271A-7F06-1F3D-5F01BA6B3672}"/>
              </a:ext>
            </a:extLst>
          </p:cNvPr>
          <p:cNvSpPr/>
          <p:nvPr/>
        </p:nvSpPr>
        <p:spPr>
          <a:xfrm>
            <a:off x="481515" y="184470"/>
            <a:ext cx="1177564" cy="660952"/>
          </a:xfrm>
          <a:prstGeom prst="cloudCallout">
            <a:avLst>
              <a:gd name="adj1" fmla="val 964"/>
              <a:gd name="adj2" fmla="val 11151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SEC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4C31EA-1C5A-D9F3-DE5D-D532F60566A9}"/>
              </a:ext>
            </a:extLst>
          </p:cNvPr>
          <p:cNvSpPr/>
          <p:nvPr/>
        </p:nvSpPr>
        <p:spPr>
          <a:xfrm>
            <a:off x="509643" y="1332477"/>
            <a:ext cx="1121308" cy="13615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Retrieval Client</a:t>
            </a:r>
          </a:p>
          <a:p>
            <a:pPr algn="ctr"/>
            <a:r>
              <a:rPr lang="en-US" sz="1100" dirty="0"/>
              <a:t>📚 </a:t>
            </a:r>
            <a:r>
              <a:rPr lang="en-US" sz="1100" u="sng" dirty="0"/>
              <a:t>httpx</a:t>
            </a:r>
            <a:endParaRPr lang="en-US" u="sng" dirty="0"/>
          </a:p>
          <a:p>
            <a:pPr algn="ctr"/>
            <a:endParaRPr lang="en-US" sz="1050" dirty="0"/>
          </a:p>
          <a:p>
            <a:pPr algn="ctr"/>
            <a:r>
              <a:rPr lang="en-US" sz="1000" dirty="0"/>
              <a:t>= grabs data from site + stores locally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6172B8-57BB-0D77-7612-743EB92E5282}"/>
              </a:ext>
            </a:extLst>
          </p:cNvPr>
          <p:cNvSpPr/>
          <p:nvPr/>
        </p:nvSpPr>
        <p:spPr>
          <a:xfrm>
            <a:off x="509643" y="2927983"/>
            <a:ext cx="1121308" cy="54897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HTTP Cache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C46E33-DA6D-C2D1-A479-21267E9A4CC8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1070297" y="2694065"/>
            <a:ext cx="0" cy="233918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3D486B51-56A3-85DE-929B-5ECA1F88C008}"/>
              </a:ext>
            </a:extLst>
          </p:cNvPr>
          <p:cNvSpPr/>
          <p:nvPr/>
        </p:nvSpPr>
        <p:spPr>
          <a:xfrm>
            <a:off x="509643" y="3665676"/>
            <a:ext cx="1121308" cy="9578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JSONs</a:t>
            </a:r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100" dirty="0">
                <a:solidFill>
                  <a:schemeClr val="tx1"/>
                </a:solidFill>
              </a:rPr>
              <a:t>(Submissions + XBRL)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35F020E-037C-F85F-539F-6183F10D6F3C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>
            <a:off x="1070297" y="3476957"/>
            <a:ext cx="0" cy="188719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3076D25-8CEE-9646-810A-41A2213E6726}"/>
              </a:ext>
            </a:extLst>
          </p:cNvPr>
          <p:cNvSpPr/>
          <p:nvPr/>
        </p:nvSpPr>
        <p:spPr>
          <a:xfrm>
            <a:off x="536339" y="1352500"/>
            <a:ext cx="393791" cy="106792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64D00D2-941A-8B09-7718-5B11749968F7}"/>
              </a:ext>
            </a:extLst>
          </p:cNvPr>
          <p:cNvSpPr/>
          <p:nvPr/>
        </p:nvSpPr>
        <p:spPr>
          <a:xfrm>
            <a:off x="2485670" y="382618"/>
            <a:ext cx="1256228" cy="1301519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dirty="0"/>
              <a:t>DB Models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SQLAlchemy</a:t>
            </a:r>
            <a:endParaRPr lang="en-US" sz="1200" b="1" u="sng" dirty="0"/>
          </a:p>
          <a:p>
            <a:pPr algn="ctr"/>
            <a:r>
              <a:rPr lang="en-US" sz="1000" i="1" dirty="0"/>
              <a:t>[ORM features]</a:t>
            </a:r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= full def. of DB tables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7C00856-EFA1-9B34-94C3-604CA6A2EACE}"/>
              </a:ext>
            </a:extLst>
          </p:cNvPr>
          <p:cNvSpPr/>
          <p:nvPr/>
        </p:nvSpPr>
        <p:spPr>
          <a:xfrm>
            <a:off x="2512366" y="402642"/>
            <a:ext cx="468643" cy="106792"/>
          </a:xfrm>
          <a:prstGeom prst="rect">
            <a:avLst/>
          </a:prstGeom>
          <a:solidFill>
            <a:srgbClr val="B17ED8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Classes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6B29512-177E-E14A-AE56-6D351F134797}"/>
              </a:ext>
            </a:extLst>
          </p:cNvPr>
          <p:cNvSpPr/>
          <p:nvPr/>
        </p:nvSpPr>
        <p:spPr>
          <a:xfrm>
            <a:off x="4115345" y="382617"/>
            <a:ext cx="1256225" cy="1301519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dirty="0"/>
              <a:t>DB Schemas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Pydantic</a:t>
            </a:r>
            <a:endParaRPr lang="en-US" sz="1200" b="1" u="sng" dirty="0"/>
          </a:p>
          <a:p>
            <a:pPr algn="ctr"/>
            <a:endParaRPr lang="en-US" sz="1100" dirty="0"/>
          </a:p>
          <a:p>
            <a:pPr algn="ctr"/>
            <a:endParaRPr lang="en-US" sz="1100" dirty="0"/>
          </a:p>
          <a:p>
            <a:pPr algn="ctr"/>
            <a:r>
              <a:rPr lang="en-US" sz="1200" dirty="0"/>
              <a:t>= full </a:t>
            </a:r>
            <a:r>
              <a:rPr lang="en-US" sz="1200" u="sng" dirty="0"/>
              <a:t>C</a:t>
            </a:r>
            <a:r>
              <a:rPr lang="en-US" sz="1200" dirty="0"/>
              <a:t>RUD def. </a:t>
            </a:r>
          </a:p>
          <a:p>
            <a:pPr algn="ctr"/>
            <a:r>
              <a:rPr lang="en-US" sz="1200" dirty="0"/>
              <a:t>for DB Models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ADA0233-98EE-002E-0424-5789D9F350B8}"/>
              </a:ext>
            </a:extLst>
          </p:cNvPr>
          <p:cNvSpPr/>
          <p:nvPr/>
        </p:nvSpPr>
        <p:spPr>
          <a:xfrm>
            <a:off x="4142042" y="411469"/>
            <a:ext cx="468643" cy="106884"/>
          </a:xfrm>
          <a:prstGeom prst="rect">
            <a:avLst/>
          </a:prstGeom>
          <a:solidFill>
            <a:srgbClr val="B17ED8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Classes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5419D62-D42D-8BD9-5B51-2E3513C3CF06}"/>
              </a:ext>
            </a:extLst>
          </p:cNvPr>
          <p:cNvCxnSpPr>
            <a:cxnSpLocks/>
            <a:stCxn id="22" idx="3"/>
            <a:endCxn id="24" idx="1"/>
          </p:cNvCxnSpPr>
          <p:nvPr/>
        </p:nvCxnSpPr>
        <p:spPr>
          <a:xfrm flipV="1">
            <a:off x="3741898" y="1033377"/>
            <a:ext cx="373447" cy="1"/>
          </a:xfrm>
          <a:prstGeom prst="line">
            <a:avLst/>
          </a:prstGeom>
          <a:ln w="38100">
            <a:solidFill>
              <a:srgbClr val="B17ED8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24BAD58-B4F3-1659-77BA-CF132D8185D8}"/>
              </a:ext>
            </a:extLst>
          </p:cNvPr>
          <p:cNvSpPr/>
          <p:nvPr/>
        </p:nvSpPr>
        <p:spPr>
          <a:xfrm>
            <a:off x="2467882" y="1967324"/>
            <a:ext cx="1256227" cy="86221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Alembic</a:t>
            </a:r>
            <a:endParaRPr lang="en-US" sz="1050" dirty="0"/>
          </a:p>
          <a:p>
            <a:pPr algn="ctr"/>
            <a:r>
              <a:rPr lang="en-US" sz="700" i="1" dirty="0"/>
              <a:t>Uses DB Models to create .py scripts to interact with the DB. </a:t>
            </a:r>
          </a:p>
          <a:p>
            <a:pPr algn="ctr"/>
            <a:endParaRPr lang="en-US" sz="700" i="1" dirty="0"/>
          </a:p>
          <a:p>
            <a:pPr algn="ctr"/>
            <a:r>
              <a:rPr lang="en-US" sz="700" i="1" dirty="0"/>
              <a:t>One .py script per revision of the table, so migrations are built in.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BE29473-1C83-BE93-4761-E6F6DF9E7F2B}"/>
              </a:ext>
            </a:extLst>
          </p:cNvPr>
          <p:cNvSpPr/>
          <p:nvPr/>
        </p:nvSpPr>
        <p:spPr>
          <a:xfrm>
            <a:off x="2494578" y="1987348"/>
            <a:ext cx="548737" cy="106790"/>
          </a:xfrm>
          <a:prstGeom prst="rect">
            <a:avLst/>
          </a:prstGeom>
          <a:solidFill>
            <a:srgbClr val="0070C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Console cmd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B8C5D96-3572-ED9D-3C46-499AF5791C7B}"/>
              </a:ext>
            </a:extLst>
          </p:cNvPr>
          <p:cNvSpPr/>
          <p:nvPr/>
        </p:nvSpPr>
        <p:spPr>
          <a:xfrm>
            <a:off x="4096597" y="1967324"/>
            <a:ext cx="1257184" cy="86220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Python Scripts</a:t>
            </a:r>
          </a:p>
          <a:p>
            <a:pPr algn="ctr"/>
            <a:r>
              <a:rPr lang="en-US" sz="1200" dirty="0">
                <a:solidFill>
                  <a:schemeClr val="bg1"/>
                </a:solidFill>
              </a:rPr>
              <a:t>📚 </a:t>
            </a:r>
            <a:r>
              <a:rPr lang="en-US" sz="1200" u="sng" dirty="0">
                <a:solidFill>
                  <a:schemeClr val="bg1"/>
                </a:solidFill>
              </a:rPr>
              <a:t>SQLAlchemy</a:t>
            </a:r>
          </a:p>
          <a:p>
            <a:pPr algn="ctr"/>
            <a:r>
              <a:rPr lang="en-US" sz="1100" i="1" dirty="0">
                <a:solidFill>
                  <a:schemeClr val="bg1"/>
                </a:solidFill>
              </a:rPr>
              <a:t>[Core features]</a:t>
            </a:r>
          </a:p>
          <a:p>
            <a:pPr algn="ctr"/>
            <a:endParaRPr lang="en-US" sz="900" dirty="0">
              <a:solidFill>
                <a:schemeClr val="bg1"/>
              </a:solidFill>
            </a:endParaRPr>
          </a:p>
          <a:p>
            <a:pPr algn="ctr"/>
            <a:r>
              <a:rPr lang="en-US" sz="900" dirty="0">
                <a:solidFill>
                  <a:schemeClr val="bg1"/>
                </a:solidFill>
              </a:rPr>
              <a:t>= create empty tables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AD9706D-EA7F-72ED-ECE2-A572DE446AF6}"/>
              </a:ext>
            </a:extLst>
          </p:cNvPr>
          <p:cNvCxnSpPr>
            <a:cxnSpLocks/>
            <a:stCxn id="30" idx="3"/>
            <a:endCxn id="39" idx="1"/>
          </p:cNvCxnSpPr>
          <p:nvPr/>
        </p:nvCxnSpPr>
        <p:spPr>
          <a:xfrm flipV="1">
            <a:off x="3724109" y="2398429"/>
            <a:ext cx="372488" cy="1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68C1553-8B20-D677-F8CD-C7BFBCDD1FFA}"/>
              </a:ext>
            </a:extLst>
          </p:cNvPr>
          <p:cNvCxnSpPr>
            <a:cxnSpLocks/>
          </p:cNvCxnSpPr>
          <p:nvPr/>
        </p:nvCxnSpPr>
        <p:spPr>
          <a:xfrm>
            <a:off x="1630951" y="3891416"/>
            <a:ext cx="836929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18ADDC4F-4E2B-6DBC-599E-3234D89DA381}"/>
              </a:ext>
            </a:extLst>
          </p:cNvPr>
          <p:cNvSpPr/>
          <p:nvPr/>
        </p:nvSpPr>
        <p:spPr>
          <a:xfrm>
            <a:off x="2467880" y="3281155"/>
            <a:ext cx="1483159" cy="139784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1100" dirty="0"/>
          </a:p>
          <a:p>
            <a:pPr algn="ctr"/>
            <a:r>
              <a:rPr lang="en-US" sz="1600" dirty="0"/>
              <a:t>Data Loader</a:t>
            </a:r>
          </a:p>
          <a:p>
            <a:pPr algn="ctr"/>
            <a:r>
              <a:rPr lang="en-US" sz="1050" dirty="0"/>
              <a:t>📚 </a:t>
            </a:r>
            <a:r>
              <a:rPr lang="en-US" sz="1050" b="1" u="sng" dirty="0"/>
              <a:t>SQLAlchemy</a:t>
            </a:r>
          </a:p>
          <a:p>
            <a:pPr algn="ctr"/>
            <a:r>
              <a:rPr lang="en-US" sz="1050" i="1" dirty="0"/>
              <a:t>[Core features]</a:t>
            </a:r>
          </a:p>
          <a:p>
            <a:pPr algn="ctr"/>
            <a:endParaRPr lang="en-US" sz="1600" dirty="0"/>
          </a:p>
          <a:p>
            <a:pPr algn="ctr"/>
            <a:r>
              <a:rPr lang="en-US" sz="1100" dirty="0"/>
              <a:t>= uses Pydantic schemas to </a:t>
            </a:r>
            <a:r>
              <a:rPr lang="en-US" sz="1100" u="sng" dirty="0"/>
              <a:t>C</a:t>
            </a:r>
            <a:r>
              <a:rPr lang="en-US" sz="1100" dirty="0"/>
              <a:t>reate DB entries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EFBF2C6-D8B2-6371-8BF3-2F3E1EEBEC33}"/>
              </a:ext>
            </a:extLst>
          </p:cNvPr>
          <p:cNvSpPr/>
          <p:nvPr/>
        </p:nvSpPr>
        <p:spPr>
          <a:xfrm>
            <a:off x="2494577" y="3301178"/>
            <a:ext cx="393791" cy="105966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A968180-27A3-3E9A-375B-8DE4CA2771B5}"/>
              </a:ext>
            </a:extLst>
          </p:cNvPr>
          <p:cNvSpPr/>
          <p:nvPr/>
        </p:nvSpPr>
        <p:spPr>
          <a:xfrm>
            <a:off x="3951039" y="3281155"/>
            <a:ext cx="1454713" cy="139784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0" rIns="0" bIns="0" rtlCol="0" anchor="ctr"/>
          <a:lstStyle/>
          <a:p>
            <a:pPr marL="228600" indent="-228600">
              <a:buAutoNum type="arabicPeriod"/>
            </a:pPr>
            <a:r>
              <a:rPr lang="en-US" sz="1100" dirty="0"/>
              <a:t>Format data</a:t>
            </a:r>
          </a:p>
          <a:p>
            <a:pPr marL="228600" indent="-228600">
              <a:buFontTx/>
              <a:buAutoNum type="arabicPeriod"/>
            </a:pPr>
            <a:r>
              <a:rPr lang="en-US" sz="1100" dirty="0"/>
              <a:t>Validate data</a:t>
            </a:r>
          </a:p>
          <a:p>
            <a:pPr marL="228600" indent="-228600">
              <a:buFontTx/>
              <a:buAutoNum type="arabicPeriod"/>
            </a:pPr>
            <a:r>
              <a:rPr lang="en-US" sz="1100" dirty="0"/>
              <a:t>Create DB session</a:t>
            </a:r>
            <a:endParaRPr lang="en-US" sz="900" dirty="0"/>
          </a:p>
          <a:p>
            <a:pPr marL="228600" indent="-228600">
              <a:buAutoNum type="arabicPeriod"/>
            </a:pPr>
            <a:r>
              <a:rPr lang="en-US" sz="1100" dirty="0"/>
              <a:t>Insert data (DML)</a:t>
            </a:r>
          </a:p>
          <a:p>
            <a:pPr marL="228600" indent="-228600">
              <a:buAutoNum type="arabicPeriod"/>
            </a:pPr>
            <a:r>
              <a:rPr lang="en-US" sz="1100" dirty="0"/>
              <a:t>Close DB session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6ADBAB5C-DE88-EF69-101B-8D2E4902AEAA}"/>
              </a:ext>
            </a:extLst>
          </p:cNvPr>
          <p:cNvCxnSpPr>
            <a:cxnSpLocks/>
            <a:stCxn id="39" idx="3"/>
          </p:cNvCxnSpPr>
          <p:nvPr/>
        </p:nvCxnSpPr>
        <p:spPr>
          <a:xfrm>
            <a:off x="5353781" y="2398429"/>
            <a:ext cx="1370627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Flowchart: Off-page Connector 123">
            <a:extLst>
              <a:ext uri="{FF2B5EF4-FFF2-40B4-BE49-F238E27FC236}">
                <a16:creationId xmlns:a16="http://schemas.microsoft.com/office/drawing/2014/main" id="{FFF72933-46A1-BED1-D03A-C066DE79B3F5}"/>
              </a:ext>
            </a:extLst>
          </p:cNvPr>
          <p:cNvSpPr/>
          <p:nvPr/>
        </p:nvSpPr>
        <p:spPr>
          <a:xfrm rot="16200000">
            <a:off x="3858657" y="288588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3</a:t>
            </a:r>
          </a:p>
        </p:txBody>
      </p:sp>
      <p:sp>
        <p:nvSpPr>
          <p:cNvPr id="126" name="Flowchart: Off-page Connector 125">
            <a:extLst>
              <a:ext uri="{FF2B5EF4-FFF2-40B4-BE49-F238E27FC236}">
                <a16:creationId xmlns:a16="http://schemas.microsoft.com/office/drawing/2014/main" id="{20EA467F-5D98-E1BD-6A83-6CF223ABC153}"/>
              </a:ext>
            </a:extLst>
          </p:cNvPr>
          <p:cNvSpPr/>
          <p:nvPr/>
        </p:nvSpPr>
        <p:spPr>
          <a:xfrm rot="16200000">
            <a:off x="2228981" y="269026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2</a:t>
            </a:r>
          </a:p>
        </p:txBody>
      </p:sp>
      <p:sp>
        <p:nvSpPr>
          <p:cNvPr id="127" name="Flowchart: Off-page Connector 126">
            <a:extLst>
              <a:ext uri="{FF2B5EF4-FFF2-40B4-BE49-F238E27FC236}">
                <a16:creationId xmlns:a16="http://schemas.microsoft.com/office/drawing/2014/main" id="{B83CCE7B-8833-91AF-39C7-C901ED114F09}"/>
              </a:ext>
            </a:extLst>
          </p:cNvPr>
          <p:cNvSpPr/>
          <p:nvPr/>
        </p:nvSpPr>
        <p:spPr>
          <a:xfrm rot="16200000">
            <a:off x="2234394" y="1853733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5</a:t>
            </a:r>
          </a:p>
        </p:txBody>
      </p:sp>
      <p:sp>
        <p:nvSpPr>
          <p:cNvPr id="128" name="Flowchart: Off-page Connector 127">
            <a:extLst>
              <a:ext uri="{FF2B5EF4-FFF2-40B4-BE49-F238E27FC236}">
                <a16:creationId xmlns:a16="http://schemas.microsoft.com/office/drawing/2014/main" id="{42F75857-E87E-058F-51C8-1D399174B498}"/>
              </a:ext>
            </a:extLst>
          </p:cNvPr>
          <p:cNvSpPr/>
          <p:nvPr/>
        </p:nvSpPr>
        <p:spPr>
          <a:xfrm>
            <a:off x="5790609" y="1950899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sz="1400" b="1" dirty="0"/>
              <a:t>6</a:t>
            </a:r>
          </a:p>
        </p:txBody>
      </p:sp>
      <p:sp>
        <p:nvSpPr>
          <p:cNvPr id="133" name="Flowchart: Off-page Connector 132">
            <a:extLst>
              <a:ext uri="{FF2B5EF4-FFF2-40B4-BE49-F238E27FC236}">
                <a16:creationId xmlns:a16="http://schemas.microsoft.com/office/drawing/2014/main" id="{30A73FCB-2CE0-1B09-BC6B-F51C1868D9BF}"/>
              </a:ext>
            </a:extLst>
          </p:cNvPr>
          <p:cNvSpPr/>
          <p:nvPr/>
        </p:nvSpPr>
        <p:spPr>
          <a:xfrm rot="16200000">
            <a:off x="2209722" y="3166900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7</a:t>
            </a:r>
          </a:p>
        </p:txBody>
      </p:sp>
      <p:sp>
        <p:nvSpPr>
          <p:cNvPr id="134" name="Flowchart: Off-page Connector 133">
            <a:extLst>
              <a:ext uri="{FF2B5EF4-FFF2-40B4-BE49-F238E27FC236}">
                <a16:creationId xmlns:a16="http://schemas.microsoft.com/office/drawing/2014/main" id="{60790620-000B-44A0-F9C3-20F3163B41BC}"/>
              </a:ext>
            </a:extLst>
          </p:cNvPr>
          <p:cNvSpPr/>
          <p:nvPr/>
        </p:nvSpPr>
        <p:spPr>
          <a:xfrm rot="16200000">
            <a:off x="267933" y="1218884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7897557C-84DE-28C0-EADC-46D499135460}"/>
              </a:ext>
            </a:extLst>
          </p:cNvPr>
          <p:cNvSpPr txBox="1"/>
          <p:nvPr/>
        </p:nvSpPr>
        <p:spPr>
          <a:xfrm>
            <a:off x="5643612" y="2207796"/>
            <a:ext cx="452047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i="1" dirty="0"/>
              <a:t>execute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7650598A-6719-CF54-C48F-A07EA23EDB3C}"/>
              </a:ext>
            </a:extLst>
          </p:cNvPr>
          <p:cNvSpPr/>
          <p:nvPr/>
        </p:nvSpPr>
        <p:spPr>
          <a:xfrm>
            <a:off x="6933487" y="143148"/>
            <a:ext cx="1196156" cy="3215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.env file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= admin creds, et al</a:t>
            </a: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A1F35192-1F23-1A7E-F982-7D8C8411CE14}"/>
              </a:ext>
            </a:extLst>
          </p:cNvPr>
          <p:cNvSpPr/>
          <p:nvPr/>
        </p:nvSpPr>
        <p:spPr>
          <a:xfrm>
            <a:off x="4096597" y="2829534"/>
            <a:ext cx="1249962" cy="118721"/>
          </a:xfrm>
          <a:prstGeom prst="rect">
            <a:avLst/>
          </a:prstGeom>
          <a:solidFill>
            <a:srgbClr val="B0B0B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DDL = data def. language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1FCB8362-7307-7200-10E2-DA71601A0359}"/>
              </a:ext>
            </a:extLst>
          </p:cNvPr>
          <p:cNvSpPr/>
          <p:nvPr/>
        </p:nvSpPr>
        <p:spPr>
          <a:xfrm>
            <a:off x="3951039" y="4679000"/>
            <a:ext cx="1454713" cy="135515"/>
          </a:xfrm>
          <a:prstGeom prst="rect">
            <a:avLst/>
          </a:prstGeom>
          <a:solidFill>
            <a:srgbClr val="B0B0B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DML = data manip. language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B0430F05-8A2C-8D80-2161-C4CC2231EF01}"/>
              </a:ext>
            </a:extLst>
          </p:cNvPr>
          <p:cNvSpPr/>
          <p:nvPr/>
        </p:nvSpPr>
        <p:spPr>
          <a:xfrm>
            <a:off x="6934365" y="929641"/>
            <a:ext cx="1196156" cy="50058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600" dirty="0"/>
          </a:p>
          <a:p>
            <a:pPr algn="ctr"/>
            <a:r>
              <a:rPr lang="en-US" sz="1200" dirty="0"/>
              <a:t>DB Web Viewer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pg-admin</a:t>
            </a:r>
            <a:endParaRPr lang="en-US" sz="1100" dirty="0"/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A1CFC8EC-97A6-89F7-7896-FC2523FC381B}"/>
              </a:ext>
            </a:extLst>
          </p:cNvPr>
          <p:cNvCxnSpPr>
            <a:cxnSpLocks/>
            <a:stCxn id="3" idx="2"/>
            <a:endCxn id="15" idx="0"/>
          </p:cNvCxnSpPr>
          <p:nvPr/>
        </p:nvCxnSpPr>
        <p:spPr>
          <a:xfrm>
            <a:off x="7531565" y="1472148"/>
            <a:ext cx="0" cy="294481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91F4102F-EE91-ED5F-D7CB-CA4F588BB5A7}"/>
              </a:ext>
            </a:extLst>
          </p:cNvPr>
          <p:cNvSpPr/>
          <p:nvPr/>
        </p:nvSpPr>
        <p:spPr>
          <a:xfrm>
            <a:off x="7065871" y="2776537"/>
            <a:ext cx="931388" cy="20694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pg-vector</a:t>
            </a:r>
          </a:p>
        </p:txBody>
      </p:sp>
      <p:sp>
        <p:nvSpPr>
          <p:cNvPr id="37" name="Flowchart: Off-page Connector 36">
            <a:extLst>
              <a:ext uri="{FF2B5EF4-FFF2-40B4-BE49-F238E27FC236}">
                <a16:creationId xmlns:a16="http://schemas.microsoft.com/office/drawing/2014/main" id="{A1051958-E2DE-29E1-E221-338CBEA4536B}"/>
              </a:ext>
            </a:extLst>
          </p:cNvPr>
          <p:cNvSpPr/>
          <p:nvPr/>
        </p:nvSpPr>
        <p:spPr>
          <a:xfrm rot="16200000">
            <a:off x="6632644" y="429057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4</a:t>
            </a:r>
          </a:p>
        </p:txBody>
      </p:sp>
      <p:sp>
        <p:nvSpPr>
          <p:cNvPr id="38" name="Flowchart: Off-page Connector 37">
            <a:extLst>
              <a:ext uri="{FF2B5EF4-FFF2-40B4-BE49-F238E27FC236}">
                <a16:creationId xmlns:a16="http://schemas.microsoft.com/office/drawing/2014/main" id="{82D3151C-F370-4949-4E46-2EFDE6393040}"/>
              </a:ext>
            </a:extLst>
          </p:cNvPr>
          <p:cNvSpPr/>
          <p:nvPr/>
        </p:nvSpPr>
        <p:spPr>
          <a:xfrm rot="16200000">
            <a:off x="6632644" y="1976210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4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B3D0089-C192-CA16-D91B-29EDF91F0A0B}"/>
              </a:ext>
            </a:extLst>
          </p:cNvPr>
          <p:cNvSpPr/>
          <p:nvPr/>
        </p:nvSpPr>
        <p:spPr>
          <a:xfrm>
            <a:off x="6874294" y="3241987"/>
            <a:ext cx="1314542" cy="7406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“pgvector/pgvector:pg17”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87C3EA7-BCBD-F703-4C04-1F10B55FC777}"/>
              </a:ext>
            </a:extLst>
          </p:cNvPr>
          <p:cNvSpPr/>
          <p:nvPr/>
        </p:nvSpPr>
        <p:spPr>
          <a:xfrm>
            <a:off x="6933487" y="3578390"/>
            <a:ext cx="1196156" cy="35606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050" b="1" dirty="0"/>
              <a:t>Test</a:t>
            </a:r>
            <a:r>
              <a:rPr lang="en-US" sz="900" dirty="0"/>
              <a:t> PostgreSQL Server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B814015-7DE2-E6CF-83DF-F2CFE2A7AB61}"/>
              </a:ext>
            </a:extLst>
          </p:cNvPr>
          <p:cNvSpPr/>
          <p:nvPr/>
        </p:nvSpPr>
        <p:spPr>
          <a:xfrm>
            <a:off x="7141181" y="3760923"/>
            <a:ext cx="780768" cy="14956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800" dirty="0"/>
              <a:t>📚 </a:t>
            </a:r>
            <a:r>
              <a:rPr lang="en-US" sz="800" b="1" u="sng" dirty="0"/>
              <a:t>pg-vector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1E4815B-12EB-5B81-7205-419D7DA693D5}"/>
              </a:ext>
            </a:extLst>
          </p:cNvPr>
          <p:cNvSpPr/>
          <p:nvPr/>
        </p:nvSpPr>
        <p:spPr>
          <a:xfrm>
            <a:off x="8594372" y="1985364"/>
            <a:ext cx="993676" cy="7406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On disk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C8943CF-9BDA-943E-7ABF-BA2E147A52A4}"/>
              </a:ext>
            </a:extLst>
          </p:cNvPr>
          <p:cNvGrpSpPr/>
          <p:nvPr/>
        </p:nvGrpSpPr>
        <p:grpSpPr>
          <a:xfrm>
            <a:off x="8757367" y="2237784"/>
            <a:ext cx="680794" cy="433282"/>
            <a:chOff x="8227377" y="3019807"/>
            <a:chExt cx="680794" cy="785917"/>
          </a:xfrm>
        </p:grpSpPr>
        <p:sp>
          <p:nvSpPr>
            <p:cNvPr id="21" name="Flowchart: Magnetic Disk 20">
              <a:extLst>
                <a:ext uri="{FF2B5EF4-FFF2-40B4-BE49-F238E27FC236}">
                  <a16:creationId xmlns:a16="http://schemas.microsoft.com/office/drawing/2014/main" id="{D916B6ED-0FC3-F870-6017-EB076408A9BA}"/>
                </a:ext>
              </a:extLst>
            </p:cNvPr>
            <p:cNvSpPr/>
            <p:nvPr/>
          </p:nvSpPr>
          <p:spPr>
            <a:xfrm>
              <a:off x="8227377" y="3458653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lowchart: Magnetic Disk 24">
              <a:extLst>
                <a:ext uri="{FF2B5EF4-FFF2-40B4-BE49-F238E27FC236}">
                  <a16:creationId xmlns:a16="http://schemas.microsoft.com/office/drawing/2014/main" id="{CF8DF804-5F62-9364-1A0F-B5B8FB9D3AE2}"/>
                </a:ext>
              </a:extLst>
            </p:cNvPr>
            <p:cNvSpPr/>
            <p:nvPr/>
          </p:nvSpPr>
          <p:spPr>
            <a:xfrm>
              <a:off x="8227377" y="3235058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lowchart: Magnetic Disk 28">
              <a:extLst>
                <a:ext uri="{FF2B5EF4-FFF2-40B4-BE49-F238E27FC236}">
                  <a16:creationId xmlns:a16="http://schemas.microsoft.com/office/drawing/2014/main" id="{A8A091E6-56B1-41BE-00E9-F708DF430EB6}"/>
                </a:ext>
              </a:extLst>
            </p:cNvPr>
            <p:cNvSpPr/>
            <p:nvPr/>
          </p:nvSpPr>
          <p:spPr>
            <a:xfrm>
              <a:off x="8227377" y="3019807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4D0FA54-77BE-D97F-B793-0D61F01A3D24}"/>
              </a:ext>
            </a:extLst>
          </p:cNvPr>
          <p:cNvCxnSpPr>
            <a:cxnSpLocks/>
          </p:cNvCxnSpPr>
          <p:nvPr/>
        </p:nvCxnSpPr>
        <p:spPr>
          <a:xfrm>
            <a:off x="8129643" y="2477517"/>
            <a:ext cx="627724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4E17B-8006-1E54-EA84-DCC843A8BAA2}"/>
              </a:ext>
            </a:extLst>
          </p:cNvPr>
          <p:cNvSpPr/>
          <p:nvPr/>
        </p:nvSpPr>
        <p:spPr>
          <a:xfrm>
            <a:off x="6874294" y="4154219"/>
            <a:ext cx="1314542" cy="190445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“ollama/ollama:latest”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4279042-094F-6602-009C-0DF3E4513282}"/>
              </a:ext>
            </a:extLst>
          </p:cNvPr>
          <p:cNvSpPr/>
          <p:nvPr/>
        </p:nvSpPr>
        <p:spPr>
          <a:xfrm>
            <a:off x="6933487" y="4604573"/>
            <a:ext cx="1196156" cy="13919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600" dirty="0"/>
              <a:t>Ollama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77C000F-3064-393F-A13D-62223B40936B}"/>
              </a:ext>
            </a:extLst>
          </p:cNvPr>
          <p:cNvSpPr/>
          <p:nvPr/>
        </p:nvSpPr>
        <p:spPr>
          <a:xfrm>
            <a:off x="7006259" y="4932631"/>
            <a:ext cx="1050612" cy="33613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900" dirty="0"/>
              <a:t>📚 </a:t>
            </a:r>
            <a:r>
              <a:rPr lang="en-US" sz="900" b="1" u="sng" dirty="0"/>
              <a:t>nomic-embed-text-v1.5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5663D04-32E6-5B27-2015-8CEE4F7B89B4}"/>
              </a:ext>
            </a:extLst>
          </p:cNvPr>
          <p:cNvSpPr/>
          <p:nvPr/>
        </p:nvSpPr>
        <p:spPr>
          <a:xfrm>
            <a:off x="2467880" y="4911207"/>
            <a:ext cx="2937872" cy="728112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Embedder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Ollama</a:t>
            </a:r>
            <a:r>
              <a:rPr lang="en-US" sz="1100" dirty="0"/>
              <a:t>  📚 </a:t>
            </a:r>
            <a:r>
              <a:rPr lang="en-US" sz="1100" b="1" u="sng" dirty="0"/>
              <a:t>SQLAlchemy</a:t>
            </a:r>
            <a:r>
              <a:rPr lang="en-US" sz="1100" u="sng" dirty="0"/>
              <a:t> </a:t>
            </a:r>
            <a:endParaRPr lang="en-US" u="sng" dirty="0"/>
          </a:p>
          <a:p>
            <a:pPr algn="ctr"/>
            <a:endParaRPr lang="en-US" sz="100" dirty="0"/>
          </a:p>
          <a:p>
            <a:pPr algn="ctr"/>
            <a:r>
              <a:rPr lang="en-US" sz="800" dirty="0"/>
              <a:t>= Inserts vector representations for desired rows in database </a:t>
            </a:r>
          </a:p>
          <a:p>
            <a:pPr algn="ctr"/>
            <a:r>
              <a:rPr lang="en-US" sz="800" dirty="0"/>
              <a:t>using chosen embedding model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1C9CCAC-37F8-DC7C-4604-D6711AF5E90B}"/>
              </a:ext>
            </a:extLst>
          </p:cNvPr>
          <p:cNvSpPr/>
          <p:nvPr/>
        </p:nvSpPr>
        <p:spPr>
          <a:xfrm>
            <a:off x="2494576" y="4931230"/>
            <a:ext cx="393792" cy="101326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12C56A1-944F-954F-2B8C-35C033490727}"/>
              </a:ext>
            </a:extLst>
          </p:cNvPr>
          <p:cNvSpPr/>
          <p:nvPr/>
        </p:nvSpPr>
        <p:spPr>
          <a:xfrm>
            <a:off x="6724408" y="2216984"/>
            <a:ext cx="202062" cy="895686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0" rIns="0" bIns="0" rtlCol="0" anchor="ctr"/>
          <a:lstStyle/>
          <a:p>
            <a:pPr algn="ctr"/>
            <a:r>
              <a:rPr lang="en-US" sz="900" dirty="0"/>
              <a:t>📚 asyncpg</a:t>
            </a:r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8D1ABD79-5421-CDF6-AB3A-BE283788495B}"/>
              </a:ext>
            </a:extLst>
          </p:cNvPr>
          <p:cNvCxnSpPr>
            <a:cxnSpLocks/>
          </p:cNvCxnSpPr>
          <p:nvPr/>
        </p:nvCxnSpPr>
        <p:spPr>
          <a:xfrm flipV="1">
            <a:off x="5405752" y="2530534"/>
            <a:ext cx="1318656" cy="1318793"/>
          </a:xfrm>
          <a:prstGeom prst="bentConnector3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11751A89-E551-A2BD-9E1D-6EBB198937B5}"/>
              </a:ext>
            </a:extLst>
          </p:cNvPr>
          <p:cNvCxnSpPr>
            <a:cxnSpLocks/>
          </p:cNvCxnSpPr>
          <p:nvPr/>
        </p:nvCxnSpPr>
        <p:spPr>
          <a:xfrm flipV="1">
            <a:off x="5405752" y="2682744"/>
            <a:ext cx="1318656" cy="2312605"/>
          </a:xfrm>
          <a:prstGeom prst="bentConnector3">
            <a:avLst>
              <a:gd name="adj1" fmla="val 59906"/>
            </a:avLst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0E25E5C5-8A27-B764-B166-E43986428E9E}"/>
              </a:ext>
            </a:extLst>
          </p:cNvPr>
          <p:cNvCxnSpPr>
            <a:cxnSpLocks/>
            <a:stCxn id="52" idx="1"/>
          </p:cNvCxnSpPr>
          <p:nvPr/>
        </p:nvCxnSpPr>
        <p:spPr>
          <a:xfrm flipH="1">
            <a:off x="5405752" y="5100698"/>
            <a:ext cx="1600507" cy="0"/>
          </a:xfrm>
          <a:prstGeom prst="line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AB55712-B2D3-23FC-BFC7-359CEB972480}"/>
              </a:ext>
            </a:extLst>
          </p:cNvPr>
          <p:cNvSpPr/>
          <p:nvPr/>
        </p:nvSpPr>
        <p:spPr>
          <a:xfrm>
            <a:off x="7006259" y="5334429"/>
            <a:ext cx="1050612" cy="61119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b="1" i="1" dirty="0"/>
              <a:t>SQL Emitter</a:t>
            </a:r>
          </a:p>
          <a:p>
            <a:pPr algn="ctr"/>
            <a:r>
              <a:rPr lang="en-US" sz="800" b="1" i="1" dirty="0"/>
              <a:t>(Local LLM)</a:t>
            </a:r>
          </a:p>
          <a:p>
            <a:pPr algn="ctr"/>
            <a:r>
              <a:rPr lang="en-US" sz="900" dirty="0"/>
              <a:t>📚 </a:t>
            </a:r>
            <a:r>
              <a:rPr lang="en-US" sz="900" b="1" u="sng" dirty="0"/>
              <a:t>Qwen2.5-Coder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E9A11068-2F85-B8AC-D139-7A94970A6B6F}"/>
              </a:ext>
            </a:extLst>
          </p:cNvPr>
          <p:cNvSpPr/>
          <p:nvPr/>
        </p:nvSpPr>
        <p:spPr>
          <a:xfrm>
            <a:off x="9311341" y="3827859"/>
            <a:ext cx="2215437" cy="50905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1100" b="1" dirty="0"/>
              <a:t>User-facing LLM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📚 …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D286EDA6-6361-ED43-DE75-245CF0C6A8BC}"/>
              </a:ext>
            </a:extLst>
          </p:cNvPr>
          <p:cNvSpPr/>
          <p:nvPr/>
        </p:nvSpPr>
        <p:spPr>
          <a:xfrm>
            <a:off x="9706330" y="573017"/>
            <a:ext cx="1947624" cy="779483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Query Handler</a:t>
            </a:r>
          </a:p>
          <a:p>
            <a:pPr algn="ctr"/>
            <a:endParaRPr lang="en-US" sz="100" dirty="0"/>
          </a:p>
          <a:p>
            <a:pPr algn="ctr"/>
            <a:r>
              <a:rPr lang="en-US" sz="800" dirty="0"/>
              <a:t>= Receives queries from user, determines relevant Concepts, then uses Local LLM to get the data from PostgreSQL (read-only guard)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048236B6-BEC2-3063-49AB-C4D8F7E5E371}"/>
              </a:ext>
            </a:extLst>
          </p:cNvPr>
          <p:cNvCxnSpPr>
            <a:cxnSpLocks/>
          </p:cNvCxnSpPr>
          <p:nvPr/>
        </p:nvCxnSpPr>
        <p:spPr>
          <a:xfrm>
            <a:off x="9756433" y="4336912"/>
            <a:ext cx="0" cy="547973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11A63202-9707-9FE3-CE76-F449C5D46B48}"/>
              </a:ext>
            </a:extLst>
          </p:cNvPr>
          <p:cNvCxnSpPr>
            <a:cxnSpLocks/>
            <a:endCxn id="52" idx="3"/>
          </p:cNvCxnSpPr>
          <p:nvPr/>
        </p:nvCxnSpPr>
        <p:spPr>
          <a:xfrm flipH="1">
            <a:off x="8056871" y="5100698"/>
            <a:ext cx="1254471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Flowchart: Off-page Connector 130">
            <a:extLst>
              <a:ext uri="{FF2B5EF4-FFF2-40B4-BE49-F238E27FC236}">
                <a16:creationId xmlns:a16="http://schemas.microsoft.com/office/drawing/2014/main" id="{8DB5FFE1-B20F-BC4A-F98A-1DB0CDA11B3B}"/>
              </a:ext>
            </a:extLst>
          </p:cNvPr>
          <p:cNvSpPr/>
          <p:nvPr/>
        </p:nvSpPr>
        <p:spPr>
          <a:xfrm rot="16200000">
            <a:off x="2209722" y="4781767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8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C12A4E2B-6096-150E-DA86-68333E328721}"/>
              </a:ext>
            </a:extLst>
          </p:cNvPr>
          <p:cNvSpPr/>
          <p:nvPr/>
        </p:nvSpPr>
        <p:spPr>
          <a:xfrm>
            <a:off x="9311342" y="4884884"/>
            <a:ext cx="2215438" cy="119554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50" b="1" dirty="0"/>
              <a:t>Query Mapper</a:t>
            </a:r>
          </a:p>
          <a:p>
            <a:pPr algn="ctr"/>
            <a:endParaRPr lang="en-US" sz="300" dirty="0"/>
          </a:p>
          <a:p>
            <a:pPr algn="ctr"/>
            <a:r>
              <a:rPr lang="en-US" sz="900" dirty="0"/>
              <a:t>Uses arcane SEC-specific knowledge to determine Concepts being asked about </a:t>
            </a:r>
          </a:p>
          <a:p>
            <a:pPr algn="ctr"/>
            <a:r>
              <a:rPr lang="en-US" sz="900" dirty="0"/>
              <a:t>(via alias lookups, cosine distances, etc…)</a:t>
            </a:r>
          </a:p>
          <a:p>
            <a:pPr algn="ctr"/>
            <a:endParaRPr lang="en-US" sz="900" dirty="0"/>
          </a:p>
          <a:p>
            <a:pPr algn="ctr"/>
            <a:r>
              <a:rPr lang="en-US" sz="900" dirty="0"/>
              <a:t>Produces a Query Plan for the local LLM to write a matching SQL query.</a:t>
            </a:r>
          </a:p>
          <a:p>
            <a:pPr algn="ctr"/>
            <a:endParaRPr lang="en-US" sz="500" dirty="0"/>
          </a:p>
        </p:txBody>
      </p: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218F14AF-9931-3060-84FB-55E3AD301B67}"/>
              </a:ext>
            </a:extLst>
          </p:cNvPr>
          <p:cNvCxnSpPr>
            <a:cxnSpLocks/>
          </p:cNvCxnSpPr>
          <p:nvPr/>
        </p:nvCxnSpPr>
        <p:spPr>
          <a:xfrm flipH="1">
            <a:off x="8056871" y="5492584"/>
            <a:ext cx="1254471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tangle 139">
            <a:extLst>
              <a:ext uri="{FF2B5EF4-FFF2-40B4-BE49-F238E27FC236}">
                <a16:creationId xmlns:a16="http://schemas.microsoft.com/office/drawing/2014/main" id="{EFB83094-B4D6-F6AB-F052-7F3270A99A6B}"/>
              </a:ext>
            </a:extLst>
          </p:cNvPr>
          <p:cNvSpPr/>
          <p:nvPr/>
        </p:nvSpPr>
        <p:spPr>
          <a:xfrm>
            <a:off x="9391751" y="4411928"/>
            <a:ext cx="719593" cy="304891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000" b="1" dirty="0"/>
              <a:t>Query Object</a:t>
            </a:r>
            <a:endParaRPr lang="en-US" sz="1200" b="1" dirty="0"/>
          </a:p>
          <a:p>
            <a:pPr algn="ctr"/>
            <a:r>
              <a:rPr lang="en-US" sz="700" dirty="0"/>
              <a:t>📚 </a:t>
            </a:r>
            <a:r>
              <a:rPr lang="en-US" sz="700" b="1" u="sng" dirty="0"/>
              <a:t>Pydantic</a:t>
            </a:r>
            <a:endParaRPr lang="en-US" sz="800" b="1" u="sng" dirty="0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57D42052-BB79-A072-46BE-B34C46D0157D}"/>
              </a:ext>
            </a:extLst>
          </p:cNvPr>
          <p:cNvSpPr/>
          <p:nvPr/>
        </p:nvSpPr>
        <p:spPr>
          <a:xfrm>
            <a:off x="8370160" y="5353118"/>
            <a:ext cx="719593" cy="304890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000" b="1" dirty="0"/>
              <a:t>Query Plan</a:t>
            </a:r>
            <a:endParaRPr lang="en-US" sz="1200" b="1" dirty="0"/>
          </a:p>
          <a:p>
            <a:pPr algn="ctr"/>
            <a:r>
              <a:rPr lang="en-US" sz="700" dirty="0"/>
              <a:t>📚 </a:t>
            </a:r>
            <a:r>
              <a:rPr lang="en-US" sz="700" b="1" u="sng" dirty="0"/>
              <a:t>Pydantic</a:t>
            </a:r>
            <a:endParaRPr lang="en-US" sz="800" b="1" u="sng" dirty="0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C470D739-A7E4-B20F-87C7-38FAB125269A}"/>
              </a:ext>
            </a:extLst>
          </p:cNvPr>
          <p:cNvSpPr/>
          <p:nvPr/>
        </p:nvSpPr>
        <p:spPr>
          <a:xfrm>
            <a:off x="9362414" y="4933772"/>
            <a:ext cx="393792" cy="101326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544E47D5-B3E9-03E4-F236-9378DC14B57C}"/>
              </a:ext>
            </a:extLst>
          </p:cNvPr>
          <p:cNvCxnSpPr>
            <a:cxnSpLocks/>
          </p:cNvCxnSpPr>
          <p:nvPr/>
        </p:nvCxnSpPr>
        <p:spPr>
          <a:xfrm flipH="1">
            <a:off x="8056871" y="5846330"/>
            <a:ext cx="1254471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EEB8931C-BA61-0618-C084-D24D32A32097}"/>
              </a:ext>
            </a:extLst>
          </p:cNvPr>
          <p:cNvSpPr txBox="1"/>
          <p:nvPr/>
        </p:nvSpPr>
        <p:spPr>
          <a:xfrm>
            <a:off x="10731674" y="4511651"/>
            <a:ext cx="652423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i="1" dirty="0"/>
              <a:t>Query data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D5A96E6-5B59-6B19-7697-43661A71E9CA}"/>
              </a:ext>
            </a:extLst>
          </p:cNvPr>
          <p:cNvCxnSpPr>
            <a:cxnSpLocks/>
          </p:cNvCxnSpPr>
          <p:nvPr/>
        </p:nvCxnSpPr>
        <p:spPr>
          <a:xfrm>
            <a:off x="11092940" y="4336911"/>
            <a:ext cx="0" cy="547973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188E0E9D-CD8C-2DF9-9DD6-2809E60C06D4}"/>
              </a:ext>
            </a:extLst>
          </p:cNvPr>
          <p:cNvCxnSpPr>
            <a:cxnSpLocks/>
          </p:cNvCxnSpPr>
          <p:nvPr/>
        </p:nvCxnSpPr>
        <p:spPr>
          <a:xfrm flipH="1" flipV="1">
            <a:off x="8129643" y="3112670"/>
            <a:ext cx="1181698" cy="1772213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TextBox 169">
            <a:extLst>
              <a:ext uri="{FF2B5EF4-FFF2-40B4-BE49-F238E27FC236}">
                <a16:creationId xmlns:a16="http://schemas.microsoft.com/office/drawing/2014/main" id="{B083C1EC-BE03-48D2-C3AE-FADE3D496F76}"/>
              </a:ext>
            </a:extLst>
          </p:cNvPr>
          <p:cNvSpPr txBox="1"/>
          <p:nvPr/>
        </p:nvSpPr>
        <p:spPr>
          <a:xfrm>
            <a:off x="8410425" y="5846330"/>
            <a:ext cx="591509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i="1" dirty="0"/>
              <a:t>SQL Query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C4E25829-8F49-7D62-A8DF-A418112E679F}"/>
              </a:ext>
            </a:extLst>
          </p:cNvPr>
          <p:cNvSpPr txBox="1"/>
          <p:nvPr/>
        </p:nvSpPr>
        <p:spPr>
          <a:xfrm rot="3305483">
            <a:off x="8268959" y="3850359"/>
            <a:ext cx="1131720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i="1" dirty="0"/>
              <a:t>Query and response</a:t>
            </a:r>
          </a:p>
        </p:txBody>
      </p:sp>
      <p:sp>
        <p:nvSpPr>
          <p:cNvPr id="172" name="Flowchart: Off-page Connector 171">
            <a:extLst>
              <a:ext uri="{FF2B5EF4-FFF2-40B4-BE49-F238E27FC236}">
                <a16:creationId xmlns:a16="http://schemas.microsoft.com/office/drawing/2014/main" id="{0447B003-9275-D120-E27F-58CA5443AE1E}"/>
              </a:ext>
            </a:extLst>
          </p:cNvPr>
          <p:cNvSpPr/>
          <p:nvPr/>
        </p:nvSpPr>
        <p:spPr>
          <a:xfrm rot="16200000">
            <a:off x="9054676" y="3687072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173" name="Flowchart: Off-page Connector 172">
            <a:extLst>
              <a:ext uri="{FF2B5EF4-FFF2-40B4-BE49-F238E27FC236}">
                <a16:creationId xmlns:a16="http://schemas.microsoft.com/office/drawing/2014/main" id="{2C8AEE21-31C9-8EE4-5BE2-13A0E04ABDE4}"/>
              </a:ext>
            </a:extLst>
          </p:cNvPr>
          <p:cNvSpPr/>
          <p:nvPr/>
        </p:nvSpPr>
        <p:spPr>
          <a:xfrm rot="16200000">
            <a:off x="9206075" y="5166555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2</a:t>
            </a:r>
          </a:p>
        </p:txBody>
      </p:sp>
      <p:sp>
        <p:nvSpPr>
          <p:cNvPr id="174" name="Flowchart: Off-page Connector 173">
            <a:extLst>
              <a:ext uri="{FF2B5EF4-FFF2-40B4-BE49-F238E27FC236}">
                <a16:creationId xmlns:a16="http://schemas.microsoft.com/office/drawing/2014/main" id="{DC49F929-8236-C80A-DF74-45C92AFAD358}"/>
              </a:ext>
            </a:extLst>
          </p:cNvPr>
          <p:cNvSpPr/>
          <p:nvPr/>
        </p:nvSpPr>
        <p:spPr>
          <a:xfrm rot="16200000">
            <a:off x="6789154" y="5248565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3</a:t>
            </a:r>
          </a:p>
        </p:txBody>
      </p:sp>
      <p:sp>
        <p:nvSpPr>
          <p:cNvPr id="175" name="Flowchart: Off-page Connector 174">
            <a:extLst>
              <a:ext uri="{FF2B5EF4-FFF2-40B4-BE49-F238E27FC236}">
                <a16:creationId xmlns:a16="http://schemas.microsoft.com/office/drawing/2014/main" id="{EAA4BC7C-AB35-5672-4A04-11F3AED98435}"/>
              </a:ext>
            </a:extLst>
          </p:cNvPr>
          <p:cNvSpPr/>
          <p:nvPr/>
        </p:nvSpPr>
        <p:spPr>
          <a:xfrm rot="16200000">
            <a:off x="8244296" y="3376702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176" name="Flowchart: Off-page Connector 175">
            <a:extLst>
              <a:ext uri="{FF2B5EF4-FFF2-40B4-BE49-F238E27FC236}">
                <a16:creationId xmlns:a16="http://schemas.microsoft.com/office/drawing/2014/main" id="{AFCC506F-4117-8D5C-A52D-382D4EF3B926}"/>
              </a:ext>
            </a:extLst>
          </p:cNvPr>
          <p:cNvSpPr/>
          <p:nvPr/>
        </p:nvSpPr>
        <p:spPr>
          <a:xfrm rot="16200000">
            <a:off x="10473248" y="4465418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5</a:t>
            </a:r>
          </a:p>
        </p:txBody>
      </p:sp>
      <p:sp>
        <p:nvSpPr>
          <p:cNvPr id="178" name="Thought Bubble: Cloud 177">
            <a:extLst>
              <a:ext uri="{FF2B5EF4-FFF2-40B4-BE49-F238E27FC236}">
                <a16:creationId xmlns:a16="http://schemas.microsoft.com/office/drawing/2014/main" id="{22BE8A4D-DA4E-6EFE-842E-C807DCC86649}"/>
              </a:ext>
            </a:extLst>
          </p:cNvPr>
          <p:cNvSpPr/>
          <p:nvPr/>
        </p:nvSpPr>
        <p:spPr>
          <a:xfrm>
            <a:off x="9697423" y="2919947"/>
            <a:ext cx="1320449" cy="509053"/>
          </a:xfrm>
          <a:prstGeom prst="cloudCallout">
            <a:avLst>
              <a:gd name="adj1" fmla="val 1435"/>
              <a:gd name="adj2" fmla="val 46748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User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7EE5DE43-57A1-40FD-4F3A-9493D38626A3}"/>
              </a:ext>
            </a:extLst>
          </p:cNvPr>
          <p:cNvSpPr txBox="1"/>
          <p:nvPr/>
        </p:nvSpPr>
        <p:spPr>
          <a:xfrm>
            <a:off x="9665887" y="3519100"/>
            <a:ext cx="1561325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i="1" dirty="0"/>
              <a:t>Ask question / Display data</a:t>
            </a:r>
          </a:p>
        </p:txBody>
      </p:sp>
    </p:spTree>
    <p:extLst>
      <p:ext uri="{BB962C8B-B14F-4D97-AF65-F5344CB8AC3E}">
        <p14:creationId xmlns:p14="http://schemas.microsoft.com/office/powerpoint/2010/main" val="4675368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14624</TotalTime>
  <Words>352</Words>
  <Application>Microsoft Office PowerPoint</Application>
  <PresentationFormat>Widescreen</PresentationFormat>
  <Paragraphs>115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Shaitani .</dc:creator>
  <cp:lastModifiedBy>Shaitani .</cp:lastModifiedBy>
  <cp:revision>27</cp:revision>
  <dcterms:created xsi:type="dcterms:W3CDTF">2026-08-29T16:39:18Z</dcterms:created>
  <dcterms:modified xsi:type="dcterms:W3CDTF">2026-09-19T23:17:58Z</dcterms:modified>
</cp:coreProperties>
</file>