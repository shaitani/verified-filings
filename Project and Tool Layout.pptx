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7ED8"/>
    <a:srgbClr val="B0B0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43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1C37FB3A-8823-595A-E49C-1F3D559F712D}"/>
              </a:ext>
            </a:extLst>
          </p:cNvPr>
          <p:cNvSpPr/>
          <p:nvPr/>
        </p:nvSpPr>
        <p:spPr>
          <a:xfrm>
            <a:off x="2338176" y="292035"/>
            <a:ext cx="3492379" cy="16566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7114811" y="1909206"/>
            <a:ext cx="1314542" cy="142696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7114811" y="691774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7174004" y="2359559"/>
            <a:ext cx="1196156" cy="89568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722032" y="327047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750160" y="1475054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750160" y="3070560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10814" y="2836642"/>
            <a:ext cx="0" cy="233918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750160" y="3808253"/>
            <a:ext cx="1121308" cy="9578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1310814" y="3619534"/>
            <a:ext cx="0" cy="188719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776856" y="1495077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2726187" y="525195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2752883" y="545219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4355862" y="525194"/>
            <a:ext cx="1256225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  <a:r>
              <a:rPr lang="en-US" sz="1100" dirty="0"/>
              <a:t>*</a:t>
            </a:r>
            <a:endParaRPr lang="en-US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4382559" y="554046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3982415" y="1175954"/>
            <a:ext cx="373447" cy="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2708399" y="2109901"/>
            <a:ext cx="1256227" cy="86221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Uses DB Models to create .py scripts to interact with the DB. </a:t>
            </a:r>
          </a:p>
          <a:p>
            <a:pPr algn="ctr"/>
            <a:endParaRPr lang="en-US" sz="700" i="1" dirty="0"/>
          </a:p>
          <a:p>
            <a:pPr algn="ctr"/>
            <a:r>
              <a:rPr lang="en-US" sz="700" i="1" dirty="0"/>
              <a:t>One .py script per revision of the table, so migrations are built in.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2735095" y="2129925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4337114" y="2109901"/>
            <a:ext cx="1257184" cy="86220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Python Scripts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📚 </a:t>
            </a:r>
            <a:r>
              <a:rPr lang="en-US" sz="1200" u="sng" dirty="0">
                <a:solidFill>
                  <a:schemeClr val="bg1"/>
                </a:solidFill>
              </a:rPr>
              <a:t>SQLAlchemy</a:t>
            </a:r>
          </a:p>
          <a:p>
            <a:pPr algn="ctr"/>
            <a:r>
              <a:rPr lang="en-US" sz="1100" i="1" dirty="0">
                <a:solidFill>
                  <a:schemeClr val="bg1"/>
                </a:solidFill>
              </a:rPr>
              <a:t>[Core features]</a:t>
            </a:r>
          </a:p>
          <a:p>
            <a:pPr algn="ctr"/>
            <a:endParaRPr lang="en-US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= create empty tables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 flipV="1">
            <a:off x="3964626" y="2541006"/>
            <a:ext cx="372488" cy="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1871468" y="4033993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2708397" y="3423732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[Core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2735094" y="3443755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191556" y="3423732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594298" y="2541006"/>
            <a:ext cx="1370627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4099174" y="431165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2469498" y="411603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2474911" y="1996310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031126" y="2093476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2450239" y="330947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508450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5884129" y="2350373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7174004" y="285725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4337114" y="2972111"/>
            <a:ext cx="1249962" cy="118721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191556" y="4821577"/>
            <a:ext cx="1454713" cy="135515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data manip. language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476FAA6E-532E-811B-061E-21BC7C89326A}"/>
              </a:ext>
            </a:extLst>
          </p:cNvPr>
          <p:cNvSpPr/>
          <p:nvPr/>
        </p:nvSpPr>
        <p:spPr>
          <a:xfrm>
            <a:off x="750159" y="6406284"/>
            <a:ext cx="5345841" cy="249337"/>
          </a:xfrm>
          <a:prstGeom prst="rect">
            <a:avLst/>
          </a:prstGeom>
          <a:solidFill>
            <a:schemeClr val="bg1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r>
              <a:rPr lang="en-US" sz="800" dirty="0">
                <a:solidFill>
                  <a:schemeClr val="tx1"/>
                </a:solidFill>
              </a:rPr>
              <a:t>* Schemas in common parlance refers actually to the DB Models created for SQLAlchemy , but Pydantic uses it to refer to these Data Transfer Objects which define the interface boundary for the underlying DB Models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7174882" y="1072218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7772082" y="1614725"/>
            <a:ext cx="0" cy="29448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7306388" y="2919114"/>
            <a:ext cx="931388" cy="2069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6873161" y="57163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6873161" y="211878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3D0089-C192-CA16-D91B-29EDF91F0A0B}"/>
              </a:ext>
            </a:extLst>
          </p:cNvPr>
          <p:cNvSpPr/>
          <p:nvPr/>
        </p:nvSpPr>
        <p:spPr>
          <a:xfrm>
            <a:off x="7114811" y="3384564"/>
            <a:ext cx="1314542" cy="740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C3EA7-BCBD-F703-4C04-1F10B55FC777}"/>
              </a:ext>
            </a:extLst>
          </p:cNvPr>
          <p:cNvSpPr/>
          <p:nvPr/>
        </p:nvSpPr>
        <p:spPr>
          <a:xfrm>
            <a:off x="7174004" y="3720967"/>
            <a:ext cx="1196156" cy="35606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050" b="1" dirty="0"/>
              <a:t>Test</a:t>
            </a:r>
            <a:r>
              <a:rPr lang="en-US" sz="900" dirty="0"/>
              <a:t> PostgreSQL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814015-7DE2-E6CF-83DF-F2CFE2A7AB61}"/>
              </a:ext>
            </a:extLst>
          </p:cNvPr>
          <p:cNvSpPr/>
          <p:nvPr/>
        </p:nvSpPr>
        <p:spPr>
          <a:xfrm>
            <a:off x="7381698" y="3903500"/>
            <a:ext cx="780768" cy="1495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800" dirty="0"/>
              <a:t>📚 </a:t>
            </a:r>
            <a:r>
              <a:rPr lang="en-US" sz="800" b="1" u="sng" dirty="0"/>
              <a:t>pg-vector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4815B-12EB-5B81-7205-419D7DA693D5}"/>
              </a:ext>
            </a:extLst>
          </p:cNvPr>
          <p:cNvSpPr/>
          <p:nvPr/>
        </p:nvSpPr>
        <p:spPr>
          <a:xfrm>
            <a:off x="8834889" y="2514567"/>
            <a:ext cx="993676" cy="740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8943CF-9BDA-943E-7ABF-BA2E147A52A4}"/>
              </a:ext>
            </a:extLst>
          </p:cNvPr>
          <p:cNvGrpSpPr/>
          <p:nvPr/>
        </p:nvGrpSpPr>
        <p:grpSpPr>
          <a:xfrm>
            <a:off x="8997884" y="2766987"/>
            <a:ext cx="680794" cy="433282"/>
            <a:chOff x="8227377" y="3019807"/>
            <a:chExt cx="680794" cy="785917"/>
          </a:xfrm>
        </p:grpSpPr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D916B6ED-0FC3-F870-6017-EB076408A9BA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lowchart: Magnetic Disk 24">
              <a:extLst>
                <a:ext uri="{FF2B5EF4-FFF2-40B4-BE49-F238E27FC236}">
                  <a16:creationId xmlns:a16="http://schemas.microsoft.com/office/drawing/2014/main" id="{CF8DF804-5F62-9364-1A0F-B5B8FB9D3AE2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lowchart: Magnetic Disk 28">
              <a:extLst>
                <a:ext uri="{FF2B5EF4-FFF2-40B4-BE49-F238E27FC236}">
                  <a16:creationId xmlns:a16="http://schemas.microsoft.com/office/drawing/2014/main" id="{A8A091E6-56B1-41BE-00E9-F708DF430EB6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D0FA54-77BE-D97F-B793-0D61F01A3D24}"/>
              </a:ext>
            </a:extLst>
          </p:cNvPr>
          <p:cNvCxnSpPr>
            <a:cxnSpLocks/>
          </p:cNvCxnSpPr>
          <p:nvPr/>
        </p:nvCxnSpPr>
        <p:spPr>
          <a:xfrm>
            <a:off x="8370160" y="3006720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4E17B-8006-1E54-EA84-DCC843A8BAA2}"/>
              </a:ext>
            </a:extLst>
          </p:cNvPr>
          <p:cNvSpPr/>
          <p:nvPr/>
        </p:nvSpPr>
        <p:spPr>
          <a:xfrm>
            <a:off x="7114811" y="4296797"/>
            <a:ext cx="1314542" cy="1755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4279042-094F-6602-009C-0DF3E4513282}"/>
              </a:ext>
            </a:extLst>
          </p:cNvPr>
          <p:cNvSpPr/>
          <p:nvPr/>
        </p:nvSpPr>
        <p:spPr>
          <a:xfrm>
            <a:off x="7174004" y="4747150"/>
            <a:ext cx="1196156" cy="111247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7C000F-3064-393F-A13D-62223B40936B}"/>
              </a:ext>
            </a:extLst>
          </p:cNvPr>
          <p:cNvSpPr/>
          <p:nvPr/>
        </p:nvSpPr>
        <p:spPr>
          <a:xfrm>
            <a:off x="7246776" y="5075208"/>
            <a:ext cx="1050612" cy="33613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nomic-embed-text-v1.5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5663D04-32E6-5B27-2015-8CEE4F7B89B4}"/>
              </a:ext>
            </a:extLst>
          </p:cNvPr>
          <p:cNvSpPr/>
          <p:nvPr/>
        </p:nvSpPr>
        <p:spPr>
          <a:xfrm>
            <a:off x="2708397" y="5053784"/>
            <a:ext cx="2937872" cy="72811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Embedder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Ollama</a:t>
            </a:r>
            <a:r>
              <a:rPr lang="en-US" sz="1100" dirty="0"/>
              <a:t>  📚 </a:t>
            </a:r>
            <a:r>
              <a:rPr lang="en-US" sz="1100" b="1" u="sng" dirty="0"/>
              <a:t>SQLAlchemy</a:t>
            </a:r>
            <a:r>
              <a:rPr lang="en-US" sz="1100" u="sng" dirty="0"/>
              <a:t> </a:t>
            </a:r>
            <a:endParaRPr lang="en-US" u="sng" dirty="0"/>
          </a:p>
          <a:p>
            <a:pPr algn="ctr"/>
            <a:endParaRPr lang="en-US" sz="100" dirty="0"/>
          </a:p>
          <a:p>
            <a:pPr algn="ctr"/>
            <a:r>
              <a:rPr lang="en-US" sz="800" dirty="0"/>
              <a:t>= Inserts vector representations for desired rows in database </a:t>
            </a:r>
          </a:p>
          <a:p>
            <a:pPr algn="ctr"/>
            <a:r>
              <a:rPr lang="en-US" sz="800" dirty="0"/>
              <a:t>using chosen embedding model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1C9CCAC-37F8-DC7C-4604-D6711AF5E90B}"/>
              </a:ext>
            </a:extLst>
          </p:cNvPr>
          <p:cNvSpPr/>
          <p:nvPr/>
        </p:nvSpPr>
        <p:spPr>
          <a:xfrm>
            <a:off x="2735093" y="5073807"/>
            <a:ext cx="393792" cy="10132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2C56A1-944F-954F-2B8C-35C033490727}"/>
              </a:ext>
            </a:extLst>
          </p:cNvPr>
          <p:cNvSpPr/>
          <p:nvPr/>
        </p:nvSpPr>
        <p:spPr>
          <a:xfrm>
            <a:off x="6964925" y="2359561"/>
            <a:ext cx="202062" cy="895686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asyncpg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1ABD79-5421-CDF6-AB3A-BE283788495B}"/>
              </a:ext>
            </a:extLst>
          </p:cNvPr>
          <p:cNvCxnSpPr>
            <a:cxnSpLocks/>
          </p:cNvCxnSpPr>
          <p:nvPr/>
        </p:nvCxnSpPr>
        <p:spPr>
          <a:xfrm flipV="1">
            <a:off x="5646269" y="2673111"/>
            <a:ext cx="1318656" cy="1318793"/>
          </a:xfrm>
          <a:prstGeom prst="bentConnector3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11751A89-E551-A2BD-9E1D-6EBB198937B5}"/>
              </a:ext>
            </a:extLst>
          </p:cNvPr>
          <p:cNvCxnSpPr>
            <a:cxnSpLocks/>
          </p:cNvCxnSpPr>
          <p:nvPr/>
        </p:nvCxnSpPr>
        <p:spPr>
          <a:xfrm flipV="1">
            <a:off x="5646269" y="2825321"/>
            <a:ext cx="1318656" cy="2312605"/>
          </a:xfrm>
          <a:prstGeom prst="bentConnector3">
            <a:avLst>
              <a:gd name="adj1" fmla="val 59906"/>
            </a:avLst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E25E5C5-8A27-B764-B166-E43986428E9E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5646269" y="5243275"/>
            <a:ext cx="1600507" cy="0"/>
          </a:xfrm>
          <a:prstGeom prst="line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AB55712-B2D3-23FC-BFC7-359CEB972480}"/>
              </a:ext>
            </a:extLst>
          </p:cNvPr>
          <p:cNvSpPr/>
          <p:nvPr/>
        </p:nvSpPr>
        <p:spPr>
          <a:xfrm>
            <a:off x="7246776" y="5477006"/>
            <a:ext cx="1050612" cy="30489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i="1" dirty="0"/>
              <a:t>Local LLM</a:t>
            </a:r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9A11068-2F85-B8AC-D139-7A94970A6B6F}"/>
              </a:ext>
            </a:extLst>
          </p:cNvPr>
          <p:cNvSpPr/>
          <p:nvPr/>
        </p:nvSpPr>
        <p:spPr>
          <a:xfrm>
            <a:off x="9207382" y="3662607"/>
            <a:ext cx="1947624" cy="5090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/>
              <a:t>User-facing LLM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📚 …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D286EDA6-6361-ED43-DE75-245CF0C6A8BC}"/>
              </a:ext>
            </a:extLst>
          </p:cNvPr>
          <p:cNvSpPr/>
          <p:nvPr/>
        </p:nvSpPr>
        <p:spPr>
          <a:xfrm>
            <a:off x="9207382" y="4689999"/>
            <a:ext cx="1947624" cy="110655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Handler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???</a:t>
            </a:r>
            <a:endParaRPr lang="en-US" u="sng" dirty="0"/>
          </a:p>
          <a:p>
            <a:pPr algn="ctr"/>
            <a:endParaRPr lang="en-US" sz="100" dirty="0"/>
          </a:p>
          <a:p>
            <a:pPr algn="ctr"/>
            <a:r>
              <a:rPr lang="en-US" sz="800" dirty="0"/>
              <a:t>= Receives queries from user, determines relevant Concepts, then uses Local LLM to get the data from PostgreSQL (read-only guard)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C470D739-A7E4-B20F-87C7-38FAB125269A}"/>
              </a:ext>
            </a:extLst>
          </p:cNvPr>
          <p:cNvSpPr/>
          <p:nvPr/>
        </p:nvSpPr>
        <p:spPr>
          <a:xfrm>
            <a:off x="9238734" y="4788008"/>
            <a:ext cx="393792" cy="10132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048236B6-BEC2-3063-49AB-C4D8F7E5E371}"/>
              </a:ext>
            </a:extLst>
          </p:cNvPr>
          <p:cNvCxnSpPr>
            <a:cxnSpLocks/>
            <a:stCxn id="90" idx="2"/>
            <a:endCxn id="92" idx="0"/>
          </p:cNvCxnSpPr>
          <p:nvPr/>
        </p:nvCxnSpPr>
        <p:spPr>
          <a:xfrm>
            <a:off x="10181194" y="4171660"/>
            <a:ext cx="0" cy="518339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1A63202-9707-9FE3-CE76-F449C5D46B48}"/>
              </a:ext>
            </a:extLst>
          </p:cNvPr>
          <p:cNvCxnSpPr>
            <a:cxnSpLocks/>
            <a:stCxn id="92" idx="1"/>
            <a:endCxn id="52" idx="3"/>
          </p:cNvCxnSpPr>
          <p:nvPr/>
        </p:nvCxnSpPr>
        <p:spPr>
          <a:xfrm flipH="1">
            <a:off x="8297388" y="5243275"/>
            <a:ext cx="90999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8822856E-54E9-6C62-EE17-9702CBA202C2}"/>
              </a:ext>
            </a:extLst>
          </p:cNvPr>
          <p:cNvCxnSpPr>
            <a:cxnSpLocks/>
          </p:cNvCxnSpPr>
          <p:nvPr/>
        </p:nvCxnSpPr>
        <p:spPr>
          <a:xfrm>
            <a:off x="8370160" y="3255247"/>
            <a:ext cx="837222" cy="144116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Flowchart: Off-page Connector 130">
            <a:extLst>
              <a:ext uri="{FF2B5EF4-FFF2-40B4-BE49-F238E27FC236}">
                <a16:creationId xmlns:a16="http://schemas.microsoft.com/office/drawing/2014/main" id="{8DB5FFE1-B20F-BC4A-F98A-1DB0CDA11B3B}"/>
              </a:ext>
            </a:extLst>
          </p:cNvPr>
          <p:cNvSpPr/>
          <p:nvPr/>
        </p:nvSpPr>
        <p:spPr>
          <a:xfrm rot="16200000">
            <a:off x="2450239" y="492434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10558</TotalTime>
  <Words>324</Words>
  <Application>Microsoft Office PowerPoint</Application>
  <PresentationFormat>Widescreen</PresentationFormat>
  <Paragraphs>96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24</cp:revision>
  <dcterms:created xsi:type="dcterms:W3CDTF">2026-08-29T16:39:18Z</dcterms:created>
  <dcterms:modified xsi:type="dcterms:W3CDTF">2026-09-17T03:31:51Z</dcterms:modified>
</cp:coreProperties>
</file>