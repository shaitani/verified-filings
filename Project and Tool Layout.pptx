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A5A5"/>
    <a:srgbClr val="B17ED8"/>
    <a:srgbClr val="B0B0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13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D03E4-1409-C5BA-5B75-437119D7A2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EF1637-53A7-F6CC-AF5F-403211B6F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06C80-B59A-BA96-9565-7D80B50F0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9FE8C-703A-4904-A4E0-1377848042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5FF1B-409F-0CD4-2DFB-C0E519C2F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B54D-4DCD-37F6-4E41-782C02761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B307-D7BF-4924-BB24-100D21C05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675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407D7-0805-4348-A50B-26EB1FBC7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F67FA-7064-242B-F0D9-6B7B11D39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60842-D45E-86BC-45D4-C1DA43677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9FE8C-703A-4904-A4E0-1377848042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18280-16CD-43A3-BAC8-5B49DCFDB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2D37E-3DEE-A6C1-3DD6-7B5A71B33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B307-D7BF-4924-BB24-100D21C05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54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0815-3988-4D63-D947-86DD85A78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22BE9-BFE7-CF38-8320-594ED47FD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39658-32E2-006F-790C-98D0F4600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9FE8C-703A-4904-A4E0-1377848042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1930A-8A44-D0AC-C14D-4B95E3E5A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039E6-5B14-2F63-6D1D-738A6E529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B307-D7BF-4924-BB24-100D21C05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28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9D759-BA35-F6C1-7BBB-6853EF593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6FB61-39C7-7F31-BC15-5AF29CA41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CAB8E-C18D-2961-7A5D-1B6CE632D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E3D0A-3DA1-CEAE-5988-83F18305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9FE8C-703A-4904-A4E0-1377848042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4AFE2-9B25-0A04-57AF-081AC81DD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2CC36-8B68-7A6D-2142-23245B44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B307-D7BF-4924-BB24-100D21C05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24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1DCE9-66B4-A9EE-E12F-B3836ABA4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3CE75-03B2-760B-16D6-349606725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CF800-84CB-80D3-DAA6-BE04D6924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2CB69-5B21-BAEB-CD71-045A46CAC9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AA9C1A-0902-50E1-4629-786D16DC01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697B13-53EB-92AA-F5C5-8AA0F4FDF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9FE8C-703A-4904-A4E0-1377848042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288F89-C38F-1C44-65D5-C6E459E67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B6D559-32E9-48A6-3FB1-5162331C5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B307-D7BF-4924-BB24-100D21C05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77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856EA-87DC-315D-3E62-3BB44D8EB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1001FD-D538-FB52-70E0-A97587A00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9FE8C-703A-4904-A4E0-1377848042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B71AD7-B1A7-1718-68C1-0DB682591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E19E17-0A8A-7D06-42E0-4A524F7AB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B307-D7BF-4924-BB24-100D21C05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70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1C90F2-AFB5-1883-951E-E03E77449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9FE8C-703A-4904-A4E0-1377848042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96DC03-9292-193E-F104-19533ACFF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81984-E89A-FAF8-484A-1662EC645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B307-D7BF-4924-BB24-100D21C05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980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3898F-882B-2D26-4FE3-48B4135FA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38911-6B4F-CA2D-7C41-FD214329D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9BD33-44B6-FFD6-50A0-95ACDEC9F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AE0C14-EA06-967C-322B-0EE0531D0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9FE8C-703A-4904-A4E0-1377848042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4BBEF-4EC7-39FF-5045-DDE131F65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5D25D-9FC9-81FE-5ECE-374476A20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B307-D7BF-4924-BB24-100D21C05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208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D60A2-9645-5131-C66C-AFD215E3F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959AE0-90E1-D7F6-54D3-AA12B7DAE4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8EF64-D88F-F36A-8EE2-BBB454F2C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3B7FC-961D-0141-44ED-E2C0709EF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9FE8C-703A-4904-A4E0-1377848042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08282-A4F0-393E-E38F-131E58B15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482AA-9F6F-A7A9-13BE-35E0F5787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B307-D7BF-4924-BB24-100D21C05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099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8BA3E-DEF7-CC9D-00F0-EF1E0464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E989D7-B91E-0C77-6B27-93D942DBA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ACB26-3291-4613-CAA0-3CCA42ADF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9FE8C-703A-4904-A4E0-1377848042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7A27A-15F7-4BCF-0084-8A3CFBEF2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67920-B52C-1586-6714-C29B782A7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B307-D7BF-4924-BB24-100D21C05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53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B6CE34-703A-5C72-D780-58BE40743E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B5D134-DD0F-03B6-DCFB-61889E9E4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45069-FF40-39D8-0E71-8DB5ECA67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9FE8C-703A-4904-A4E0-1377848042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07194-52D7-077D-EFB6-A17850AD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1E86A-7B58-CF12-7568-370ADE099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B307-D7BF-4924-BB24-100D21C05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38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D90474-2B9C-5267-48E5-FC282BFDF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B3DE6-1A82-D5D6-9D15-A511FE619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D5346-3721-413D-42E3-C69BE99CB4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9FE8C-703A-4904-A4E0-1377848042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00991-DE83-E935-32DB-021826F0BF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601DD-CC45-6C57-F876-16651C96C0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AB307-D7BF-4924-BB24-100D21C05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443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1C37FB3A-8823-595A-E49C-1F3D559F712D}"/>
              </a:ext>
            </a:extLst>
          </p:cNvPr>
          <p:cNvSpPr/>
          <p:nvPr/>
        </p:nvSpPr>
        <p:spPr>
          <a:xfrm>
            <a:off x="3086994" y="770182"/>
            <a:ext cx="3492379" cy="16566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CFF54A-ABDC-829F-D38E-19DC6F0A6EAE}"/>
              </a:ext>
            </a:extLst>
          </p:cNvPr>
          <p:cNvSpPr/>
          <p:nvPr/>
        </p:nvSpPr>
        <p:spPr>
          <a:xfrm>
            <a:off x="7863629" y="2387353"/>
            <a:ext cx="1314542" cy="14269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t"/>
          <a:lstStyle/>
          <a:p>
            <a:pPr algn="ctr"/>
            <a:r>
              <a:rPr lang="en-US" sz="900" b="1" dirty="0"/>
              <a:t>🐳 Docker Container</a:t>
            </a:r>
          </a:p>
          <a:p>
            <a:pPr algn="ctr"/>
            <a:r>
              <a:rPr lang="en-US" sz="900" i="1" dirty="0"/>
              <a:t>“pgvector/pgvector:pg17”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AC8FDD-2CDB-1421-3C89-7271865A8AA6}"/>
              </a:ext>
            </a:extLst>
          </p:cNvPr>
          <p:cNvSpPr/>
          <p:nvPr/>
        </p:nvSpPr>
        <p:spPr>
          <a:xfrm>
            <a:off x="7863629" y="1169921"/>
            <a:ext cx="1314542" cy="9229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t"/>
          <a:lstStyle/>
          <a:p>
            <a:pPr algn="ctr"/>
            <a:r>
              <a:rPr lang="en-US" sz="900" b="1" dirty="0"/>
              <a:t>🐳 Docker Container</a:t>
            </a:r>
          </a:p>
          <a:p>
            <a:pPr algn="ctr"/>
            <a:r>
              <a:rPr lang="en-US" sz="900" i="1" dirty="0"/>
              <a:t>“dpage/pgadmin4”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648F25D-F87B-BA73-4E34-C9B47F8DEFFF}"/>
              </a:ext>
            </a:extLst>
          </p:cNvPr>
          <p:cNvSpPr/>
          <p:nvPr/>
        </p:nvSpPr>
        <p:spPr>
          <a:xfrm>
            <a:off x="7922822" y="2837706"/>
            <a:ext cx="1196156" cy="89568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600" dirty="0"/>
              <a:t>PostgreSQL Server</a:t>
            </a:r>
          </a:p>
        </p:txBody>
      </p:sp>
      <p:sp>
        <p:nvSpPr>
          <p:cNvPr id="4" name="Thought Bubble: Cloud 3">
            <a:extLst>
              <a:ext uri="{FF2B5EF4-FFF2-40B4-BE49-F238E27FC236}">
                <a16:creationId xmlns:a16="http://schemas.microsoft.com/office/drawing/2014/main" id="{AC1FB946-271A-7F06-1F3D-5F01BA6B3672}"/>
              </a:ext>
            </a:extLst>
          </p:cNvPr>
          <p:cNvSpPr/>
          <p:nvPr/>
        </p:nvSpPr>
        <p:spPr>
          <a:xfrm>
            <a:off x="1470850" y="805194"/>
            <a:ext cx="1177564" cy="660952"/>
          </a:xfrm>
          <a:prstGeom prst="cloudCallout">
            <a:avLst>
              <a:gd name="adj1" fmla="val 964"/>
              <a:gd name="adj2" fmla="val 11151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SEC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4C31EA-1C5A-D9F3-DE5D-D532F60566A9}"/>
              </a:ext>
            </a:extLst>
          </p:cNvPr>
          <p:cNvSpPr/>
          <p:nvPr/>
        </p:nvSpPr>
        <p:spPr>
          <a:xfrm>
            <a:off x="1498978" y="1953201"/>
            <a:ext cx="1121308" cy="136158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Retrieval Client</a:t>
            </a:r>
          </a:p>
          <a:p>
            <a:pPr algn="ctr"/>
            <a:r>
              <a:rPr lang="en-US" sz="1100" dirty="0"/>
              <a:t>📚 </a:t>
            </a:r>
            <a:r>
              <a:rPr lang="en-US" sz="1100" u="sng" dirty="0"/>
              <a:t>httpx</a:t>
            </a:r>
            <a:endParaRPr lang="en-US" u="sng" dirty="0"/>
          </a:p>
          <a:p>
            <a:pPr algn="ctr"/>
            <a:endParaRPr lang="en-US" sz="1050" dirty="0"/>
          </a:p>
          <a:p>
            <a:pPr algn="ctr"/>
            <a:r>
              <a:rPr lang="en-US" sz="1000" dirty="0"/>
              <a:t>= grabs data from site + stores locally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6172B8-57BB-0D77-7612-743EB92E5282}"/>
              </a:ext>
            </a:extLst>
          </p:cNvPr>
          <p:cNvSpPr/>
          <p:nvPr/>
        </p:nvSpPr>
        <p:spPr>
          <a:xfrm>
            <a:off x="1498978" y="3548707"/>
            <a:ext cx="1121308" cy="54897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HTTP Cache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C46E33-DA6D-C2D1-A479-21267E9A4CC8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2059632" y="3314789"/>
            <a:ext cx="0" cy="23391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D486B51-56A3-85DE-929B-5ECA1F88C008}"/>
              </a:ext>
            </a:extLst>
          </p:cNvPr>
          <p:cNvSpPr/>
          <p:nvPr/>
        </p:nvSpPr>
        <p:spPr>
          <a:xfrm>
            <a:off x="1498978" y="4286400"/>
            <a:ext cx="1121308" cy="9578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JSONs</a:t>
            </a:r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(Submissions + XBRL)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5F020E-037C-F85F-539F-6183F10D6F3C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2059632" y="4097681"/>
            <a:ext cx="0" cy="18871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3076D25-8CEE-9646-810A-41A2213E6726}"/>
              </a:ext>
            </a:extLst>
          </p:cNvPr>
          <p:cNvSpPr/>
          <p:nvPr/>
        </p:nvSpPr>
        <p:spPr>
          <a:xfrm>
            <a:off x="1525674" y="1973224"/>
            <a:ext cx="393791" cy="106792"/>
          </a:xfrm>
          <a:prstGeom prst="rect">
            <a:avLst/>
          </a:prstGeom>
          <a:solidFill>
            <a:srgbClr val="7030A0"/>
          </a:solidFill>
          <a:ln w="6350"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dirty="0"/>
              <a:t>.py script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4D00D2-941A-8B09-7718-5B11749968F7}"/>
              </a:ext>
            </a:extLst>
          </p:cNvPr>
          <p:cNvSpPr/>
          <p:nvPr/>
        </p:nvSpPr>
        <p:spPr>
          <a:xfrm>
            <a:off x="3475005" y="1003342"/>
            <a:ext cx="1256228" cy="1301519"/>
          </a:xfrm>
          <a:prstGeom prst="rect">
            <a:avLst/>
          </a:prstGeom>
          <a:solidFill>
            <a:srgbClr val="B17E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900" dirty="0"/>
          </a:p>
          <a:p>
            <a:pPr algn="ctr"/>
            <a:r>
              <a:rPr lang="en-US" dirty="0"/>
              <a:t>DB Models</a:t>
            </a:r>
          </a:p>
          <a:p>
            <a:pPr algn="ctr"/>
            <a:r>
              <a:rPr lang="en-US" sz="1100" dirty="0"/>
              <a:t>📚 </a:t>
            </a:r>
            <a:r>
              <a:rPr lang="en-US" sz="1100" b="1" u="sng" dirty="0"/>
              <a:t>SQLAlchemy</a:t>
            </a:r>
            <a:endParaRPr lang="en-US" sz="1200" b="1" u="sng" dirty="0"/>
          </a:p>
          <a:p>
            <a:pPr algn="ctr"/>
            <a:r>
              <a:rPr lang="en-US" sz="1000" i="1" dirty="0"/>
              <a:t>[ORM features]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= full def. of DB tables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C00856-EFA1-9B34-94C3-604CA6A2EACE}"/>
              </a:ext>
            </a:extLst>
          </p:cNvPr>
          <p:cNvSpPr/>
          <p:nvPr/>
        </p:nvSpPr>
        <p:spPr>
          <a:xfrm>
            <a:off x="3501701" y="1023366"/>
            <a:ext cx="468643" cy="106792"/>
          </a:xfrm>
          <a:prstGeom prst="rect">
            <a:avLst/>
          </a:prstGeom>
          <a:solidFill>
            <a:srgbClr val="B17ED8"/>
          </a:solidFill>
          <a:ln w="6350"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dirty="0"/>
              <a:t>.py Classes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B29512-177E-E14A-AE56-6D351F134797}"/>
              </a:ext>
            </a:extLst>
          </p:cNvPr>
          <p:cNvSpPr/>
          <p:nvPr/>
        </p:nvSpPr>
        <p:spPr>
          <a:xfrm>
            <a:off x="5104680" y="1003341"/>
            <a:ext cx="1256225" cy="1301519"/>
          </a:xfrm>
          <a:prstGeom prst="rect">
            <a:avLst/>
          </a:prstGeom>
          <a:solidFill>
            <a:srgbClr val="B17E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900" dirty="0"/>
          </a:p>
          <a:p>
            <a:pPr algn="ctr"/>
            <a:r>
              <a:rPr lang="en-US" dirty="0"/>
              <a:t>DB Schemas</a:t>
            </a:r>
          </a:p>
          <a:p>
            <a:pPr algn="ctr"/>
            <a:r>
              <a:rPr lang="en-US" sz="1100" dirty="0"/>
              <a:t>📚 </a:t>
            </a:r>
            <a:r>
              <a:rPr lang="en-US" sz="1100" b="1" u="sng" dirty="0"/>
              <a:t>Pydantic</a:t>
            </a:r>
            <a:endParaRPr lang="en-US" sz="1200" b="1" u="sng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r>
              <a:rPr lang="en-US" sz="1200" dirty="0"/>
              <a:t>= full </a:t>
            </a:r>
            <a:r>
              <a:rPr lang="en-US" sz="1200" u="sng" dirty="0"/>
              <a:t>C</a:t>
            </a:r>
            <a:r>
              <a:rPr lang="en-US" sz="1200" dirty="0"/>
              <a:t>RUD def. </a:t>
            </a:r>
          </a:p>
          <a:p>
            <a:pPr algn="ctr"/>
            <a:r>
              <a:rPr lang="en-US" sz="1200" dirty="0"/>
              <a:t>for DB Models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DA0233-98EE-002E-0424-5789D9F350B8}"/>
              </a:ext>
            </a:extLst>
          </p:cNvPr>
          <p:cNvSpPr/>
          <p:nvPr/>
        </p:nvSpPr>
        <p:spPr>
          <a:xfrm>
            <a:off x="5131377" y="1032193"/>
            <a:ext cx="468643" cy="106884"/>
          </a:xfrm>
          <a:prstGeom prst="rect">
            <a:avLst/>
          </a:prstGeom>
          <a:solidFill>
            <a:srgbClr val="B17ED8"/>
          </a:solidFill>
          <a:ln w="6350"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dirty="0"/>
              <a:t>.py Classes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5419D62-D42D-8BD9-5B51-2E3513C3CF06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 flipV="1">
            <a:off x="4731233" y="1654101"/>
            <a:ext cx="373447" cy="1"/>
          </a:xfrm>
          <a:prstGeom prst="line">
            <a:avLst/>
          </a:prstGeom>
          <a:ln w="38100">
            <a:solidFill>
              <a:srgbClr val="B17ED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224BAD58-B4F3-1659-77BA-CF132D8185D8}"/>
              </a:ext>
            </a:extLst>
          </p:cNvPr>
          <p:cNvSpPr/>
          <p:nvPr/>
        </p:nvSpPr>
        <p:spPr>
          <a:xfrm>
            <a:off x="3457217" y="2588048"/>
            <a:ext cx="1256227" cy="8622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900" dirty="0"/>
          </a:p>
          <a:p>
            <a:pPr algn="ctr"/>
            <a:r>
              <a:rPr lang="en-US" sz="1100" dirty="0"/>
              <a:t>📚 </a:t>
            </a:r>
            <a:r>
              <a:rPr lang="en-US" sz="1100" b="1" u="sng" dirty="0"/>
              <a:t>Alembic</a:t>
            </a:r>
            <a:endParaRPr lang="en-US" sz="1050" dirty="0"/>
          </a:p>
          <a:p>
            <a:pPr algn="ctr"/>
            <a:r>
              <a:rPr lang="en-US" sz="700" i="1" dirty="0"/>
              <a:t>Uses DB Models to create .py scripts to interact with the DB. </a:t>
            </a:r>
          </a:p>
          <a:p>
            <a:pPr algn="ctr"/>
            <a:endParaRPr lang="en-US" sz="700" i="1" dirty="0"/>
          </a:p>
          <a:p>
            <a:pPr algn="ctr"/>
            <a:r>
              <a:rPr lang="en-US" sz="700" i="1" dirty="0"/>
              <a:t>One .py script per revision of the table, so migrations are built in.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BE29473-1C83-BE93-4761-E6F6DF9E7F2B}"/>
              </a:ext>
            </a:extLst>
          </p:cNvPr>
          <p:cNvSpPr/>
          <p:nvPr/>
        </p:nvSpPr>
        <p:spPr>
          <a:xfrm>
            <a:off x="3483913" y="2608072"/>
            <a:ext cx="548737" cy="106790"/>
          </a:xfrm>
          <a:prstGeom prst="rect">
            <a:avLst/>
          </a:prstGeom>
          <a:solidFill>
            <a:srgbClr val="0070C0"/>
          </a:solidFill>
          <a:ln w="6350"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dirty="0"/>
              <a:t>Console cmd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B8C5D96-3572-ED9D-3C46-499AF5791C7B}"/>
              </a:ext>
            </a:extLst>
          </p:cNvPr>
          <p:cNvSpPr/>
          <p:nvPr/>
        </p:nvSpPr>
        <p:spPr>
          <a:xfrm>
            <a:off x="5085932" y="2588048"/>
            <a:ext cx="1257184" cy="86220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Python Scripts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📚 </a:t>
            </a:r>
            <a:r>
              <a:rPr lang="en-US" sz="1200" u="sng" dirty="0">
                <a:solidFill>
                  <a:schemeClr val="bg1"/>
                </a:solidFill>
              </a:rPr>
              <a:t>SQLAlchemy</a:t>
            </a:r>
          </a:p>
          <a:p>
            <a:pPr algn="ctr"/>
            <a:r>
              <a:rPr lang="en-US" sz="1100" i="1" dirty="0">
                <a:solidFill>
                  <a:schemeClr val="bg1"/>
                </a:solidFill>
              </a:rPr>
              <a:t>[Core features]</a:t>
            </a:r>
          </a:p>
          <a:p>
            <a:pPr algn="ctr"/>
            <a:endParaRPr lang="en-US" sz="900" dirty="0">
              <a:solidFill>
                <a:schemeClr val="bg1"/>
              </a:solidFill>
            </a:endParaRPr>
          </a:p>
          <a:p>
            <a:pPr algn="ctr"/>
            <a:r>
              <a:rPr lang="en-US" sz="900" dirty="0">
                <a:solidFill>
                  <a:schemeClr val="bg1"/>
                </a:solidFill>
              </a:rPr>
              <a:t>= create empty tables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AD9706D-EA7F-72ED-ECE2-A572DE446AF6}"/>
              </a:ext>
            </a:extLst>
          </p:cNvPr>
          <p:cNvCxnSpPr>
            <a:cxnSpLocks/>
            <a:stCxn id="30" idx="3"/>
            <a:endCxn id="39" idx="1"/>
          </p:cNvCxnSpPr>
          <p:nvPr/>
        </p:nvCxnSpPr>
        <p:spPr>
          <a:xfrm flipV="1">
            <a:off x="4713444" y="3019153"/>
            <a:ext cx="372488" cy="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68C1553-8B20-D677-F8CD-C7BFBCDD1FFA}"/>
              </a:ext>
            </a:extLst>
          </p:cNvPr>
          <p:cNvCxnSpPr>
            <a:cxnSpLocks/>
          </p:cNvCxnSpPr>
          <p:nvPr/>
        </p:nvCxnSpPr>
        <p:spPr>
          <a:xfrm>
            <a:off x="2620286" y="4512140"/>
            <a:ext cx="836929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18ADDC4F-4E2B-6DBC-599E-3234D89DA381}"/>
              </a:ext>
            </a:extLst>
          </p:cNvPr>
          <p:cNvSpPr/>
          <p:nvPr/>
        </p:nvSpPr>
        <p:spPr>
          <a:xfrm>
            <a:off x="3457215" y="3901879"/>
            <a:ext cx="1483159" cy="13978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1100" dirty="0"/>
          </a:p>
          <a:p>
            <a:pPr algn="ctr"/>
            <a:r>
              <a:rPr lang="en-US" sz="1600" dirty="0"/>
              <a:t>Data Loader</a:t>
            </a:r>
          </a:p>
          <a:p>
            <a:pPr algn="ctr"/>
            <a:r>
              <a:rPr lang="en-US" sz="1050" dirty="0"/>
              <a:t>📚 </a:t>
            </a:r>
            <a:r>
              <a:rPr lang="en-US" sz="1050" b="1" u="sng" dirty="0"/>
              <a:t>SQLAlchemy</a:t>
            </a:r>
          </a:p>
          <a:p>
            <a:pPr algn="ctr"/>
            <a:r>
              <a:rPr lang="en-US" sz="1050" i="1" dirty="0"/>
              <a:t>[Core features]</a:t>
            </a:r>
          </a:p>
          <a:p>
            <a:pPr algn="ctr"/>
            <a:endParaRPr lang="en-US" sz="1600" dirty="0"/>
          </a:p>
          <a:p>
            <a:pPr algn="ctr"/>
            <a:r>
              <a:rPr lang="en-US" sz="1100" dirty="0"/>
              <a:t>= uses Pydantic schemas to </a:t>
            </a:r>
            <a:r>
              <a:rPr lang="en-US" sz="1100" u="sng" dirty="0"/>
              <a:t>C</a:t>
            </a:r>
            <a:r>
              <a:rPr lang="en-US" sz="1100" dirty="0"/>
              <a:t>reate DB entries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EFBF2C6-D8B2-6371-8BF3-2F3E1EEBEC33}"/>
              </a:ext>
            </a:extLst>
          </p:cNvPr>
          <p:cNvSpPr/>
          <p:nvPr/>
        </p:nvSpPr>
        <p:spPr>
          <a:xfrm>
            <a:off x="3483912" y="3921902"/>
            <a:ext cx="393791" cy="105966"/>
          </a:xfrm>
          <a:prstGeom prst="rect">
            <a:avLst/>
          </a:prstGeom>
          <a:solidFill>
            <a:srgbClr val="7030A0"/>
          </a:solidFill>
          <a:ln w="6350"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dirty="0"/>
              <a:t>.py script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A968180-27A3-3E9A-375B-8DE4CA2771B5}"/>
              </a:ext>
            </a:extLst>
          </p:cNvPr>
          <p:cNvSpPr/>
          <p:nvPr/>
        </p:nvSpPr>
        <p:spPr>
          <a:xfrm>
            <a:off x="4940374" y="3901879"/>
            <a:ext cx="1454713" cy="139784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0" bIns="0" rtlCol="0" anchor="ctr"/>
          <a:lstStyle/>
          <a:p>
            <a:pPr marL="228600" indent="-228600">
              <a:buAutoNum type="arabicPeriod"/>
            </a:pPr>
            <a:r>
              <a:rPr lang="en-US" sz="1100" dirty="0"/>
              <a:t>Format data</a:t>
            </a:r>
          </a:p>
          <a:p>
            <a:pPr marL="228600" indent="-228600">
              <a:buFontTx/>
              <a:buAutoNum type="arabicPeriod"/>
            </a:pPr>
            <a:r>
              <a:rPr lang="en-US" sz="1100" dirty="0"/>
              <a:t>Validate data</a:t>
            </a:r>
          </a:p>
          <a:p>
            <a:pPr marL="228600" indent="-228600">
              <a:buFontTx/>
              <a:buAutoNum type="arabicPeriod"/>
            </a:pPr>
            <a:r>
              <a:rPr lang="en-US" sz="1100" dirty="0"/>
              <a:t>Create DB session</a:t>
            </a:r>
            <a:endParaRPr lang="en-US" sz="900" dirty="0"/>
          </a:p>
          <a:p>
            <a:pPr marL="228600" indent="-228600">
              <a:buAutoNum type="arabicPeriod"/>
            </a:pPr>
            <a:r>
              <a:rPr lang="en-US" sz="1100" dirty="0"/>
              <a:t>Insert data (DML)</a:t>
            </a:r>
          </a:p>
          <a:p>
            <a:pPr marL="228600" indent="-228600">
              <a:buAutoNum type="arabicPeriod"/>
            </a:pPr>
            <a:r>
              <a:rPr lang="en-US" sz="1100" dirty="0"/>
              <a:t>Close DB session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6ADBAB5C-DE88-EF69-101B-8D2E4902AEAA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6343116" y="3019153"/>
            <a:ext cx="1370627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Flowchart: Off-page Connector 123">
            <a:extLst>
              <a:ext uri="{FF2B5EF4-FFF2-40B4-BE49-F238E27FC236}">
                <a16:creationId xmlns:a16="http://schemas.microsoft.com/office/drawing/2014/main" id="{FFF72933-46A1-BED1-D03A-C066DE79B3F5}"/>
              </a:ext>
            </a:extLst>
          </p:cNvPr>
          <p:cNvSpPr/>
          <p:nvPr/>
        </p:nvSpPr>
        <p:spPr>
          <a:xfrm rot="16200000">
            <a:off x="4847992" y="909312"/>
            <a:ext cx="186884" cy="240280"/>
          </a:xfrm>
          <a:prstGeom prst="flowChartOffpageConnecto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b="1" dirty="0"/>
              <a:t>3</a:t>
            </a:r>
          </a:p>
        </p:txBody>
      </p:sp>
      <p:sp>
        <p:nvSpPr>
          <p:cNvPr id="126" name="Flowchart: Off-page Connector 125">
            <a:extLst>
              <a:ext uri="{FF2B5EF4-FFF2-40B4-BE49-F238E27FC236}">
                <a16:creationId xmlns:a16="http://schemas.microsoft.com/office/drawing/2014/main" id="{20EA467F-5D98-E1BD-6A83-6CF223ABC153}"/>
              </a:ext>
            </a:extLst>
          </p:cNvPr>
          <p:cNvSpPr/>
          <p:nvPr/>
        </p:nvSpPr>
        <p:spPr>
          <a:xfrm rot="16200000">
            <a:off x="3218316" y="889750"/>
            <a:ext cx="186884" cy="240280"/>
          </a:xfrm>
          <a:prstGeom prst="flowChartOffpageConnecto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b="1" dirty="0"/>
              <a:t>2</a:t>
            </a:r>
          </a:p>
        </p:txBody>
      </p:sp>
      <p:sp>
        <p:nvSpPr>
          <p:cNvPr id="127" name="Flowchart: Off-page Connector 126">
            <a:extLst>
              <a:ext uri="{FF2B5EF4-FFF2-40B4-BE49-F238E27FC236}">
                <a16:creationId xmlns:a16="http://schemas.microsoft.com/office/drawing/2014/main" id="{B83CCE7B-8833-91AF-39C7-C901ED114F09}"/>
              </a:ext>
            </a:extLst>
          </p:cNvPr>
          <p:cNvSpPr/>
          <p:nvPr/>
        </p:nvSpPr>
        <p:spPr>
          <a:xfrm rot="16200000">
            <a:off x="3223729" y="2474457"/>
            <a:ext cx="186884" cy="240280"/>
          </a:xfrm>
          <a:prstGeom prst="flowChartOffpageConnecto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b="1" dirty="0"/>
              <a:t>5</a:t>
            </a:r>
          </a:p>
        </p:txBody>
      </p:sp>
      <p:sp>
        <p:nvSpPr>
          <p:cNvPr id="128" name="Flowchart: Off-page Connector 127">
            <a:extLst>
              <a:ext uri="{FF2B5EF4-FFF2-40B4-BE49-F238E27FC236}">
                <a16:creationId xmlns:a16="http://schemas.microsoft.com/office/drawing/2014/main" id="{42F75857-E87E-058F-51C8-1D399174B498}"/>
              </a:ext>
            </a:extLst>
          </p:cNvPr>
          <p:cNvSpPr/>
          <p:nvPr/>
        </p:nvSpPr>
        <p:spPr>
          <a:xfrm>
            <a:off x="6779944" y="2571623"/>
            <a:ext cx="186884" cy="240280"/>
          </a:xfrm>
          <a:prstGeom prst="flowChartOffpageConnecto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400" b="1" dirty="0"/>
              <a:t>6</a:t>
            </a:r>
          </a:p>
        </p:txBody>
      </p:sp>
      <p:sp>
        <p:nvSpPr>
          <p:cNvPr id="133" name="Flowchart: Off-page Connector 132">
            <a:extLst>
              <a:ext uri="{FF2B5EF4-FFF2-40B4-BE49-F238E27FC236}">
                <a16:creationId xmlns:a16="http://schemas.microsoft.com/office/drawing/2014/main" id="{30A73FCB-2CE0-1B09-BC6B-F51C1868D9BF}"/>
              </a:ext>
            </a:extLst>
          </p:cNvPr>
          <p:cNvSpPr/>
          <p:nvPr/>
        </p:nvSpPr>
        <p:spPr>
          <a:xfrm rot="16200000">
            <a:off x="3199057" y="3787624"/>
            <a:ext cx="186884" cy="240280"/>
          </a:xfrm>
          <a:prstGeom prst="flowChartOffpageConnecto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b="1" dirty="0"/>
              <a:t>7</a:t>
            </a:r>
          </a:p>
        </p:txBody>
      </p:sp>
      <p:sp>
        <p:nvSpPr>
          <p:cNvPr id="134" name="Flowchart: Off-page Connector 133">
            <a:extLst>
              <a:ext uri="{FF2B5EF4-FFF2-40B4-BE49-F238E27FC236}">
                <a16:creationId xmlns:a16="http://schemas.microsoft.com/office/drawing/2014/main" id="{60790620-000B-44A0-F9C3-20F3163B41BC}"/>
              </a:ext>
            </a:extLst>
          </p:cNvPr>
          <p:cNvSpPr/>
          <p:nvPr/>
        </p:nvSpPr>
        <p:spPr>
          <a:xfrm rot="16200000">
            <a:off x="1257268" y="1839608"/>
            <a:ext cx="186884" cy="240280"/>
          </a:xfrm>
          <a:prstGeom prst="flowChartOffpageConnecto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b="1" dirty="0"/>
              <a:t>1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897557C-84DE-28C0-EADC-46D499135460}"/>
              </a:ext>
            </a:extLst>
          </p:cNvPr>
          <p:cNvSpPr txBox="1"/>
          <p:nvPr/>
        </p:nvSpPr>
        <p:spPr>
          <a:xfrm>
            <a:off x="6632947" y="2828520"/>
            <a:ext cx="45204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i="1" dirty="0"/>
              <a:t>execute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7650598A-6719-CF54-C48F-A07EA23EDB3C}"/>
              </a:ext>
            </a:extLst>
          </p:cNvPr>
          <p:cNvSpPr/>
          <p:nvPr/>
        </p:nvSpPr>
        <p:spPr>
          <a:xfrm>
            <a:off x="7922822" y="763872"/>
            <a:ext cx="1196156" cy="3215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.env file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= admin creds, et al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1F35192-1F23-1A7E-F982-7D8C8411CE14}"/>
              </a:ext>
            </a:extLst>
          </p:cNvPr>
          <p:cNvSpPr/>
          <p:nvPr/>
        </p:nvSpPr>
        <p:spPr>
          <a:xfrm>
            <a:off x="5085932" y="3450258"/>
            <a:ext cx="1249962" cy="118721"/>
          </a:xfrm>
          <a:prstGeom prst="rect">
            <a:avLst/>
          </a:prstGeom>
          <a:solidFill>
            <a:srgbClr val="B0B0B0"/>
          </a:solidFill>
          <a:ln w="6350"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dirty="0"/>
              <a:t>DDL = data def. language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FCB8362-7307-7200-10E2-DA71601A0359}"/>
              </a:ext>
            </a:extLst>
          </p:cNvPr>
          <p:cNvSpPr/>
          <p:nvPr/>
        </p:nvSpPr>
        <p:spPr>
          <a:xfrm>
            <a:off x="4940374" y="5299724"/>
            <a:ext cx="1454713" cy="135515"/>
          </a:xfrm>
          <a:prstGeom prst="rect">
            <a:avLst/>
          </a:prstGeom>
          <a:solidFill>
            <a:srgbClr val="B0B0B0"/>
          </a:solidFill>
          <a:ln w="6350"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dirty="0"/>
              <a:t>DML = data manip. language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B0430F05-8A2C-8D80-2161-C4CC2231EF01}"/>
              </a:ext>
            </a:extLst>
          </p:cNvPr>
          <p:cNvSpPr/>
          <p:nvPr/>
        </p:nvSpPr>
        <p:spPr>
          <a:xfrm>
            <a:off x="7923700" y="1550365"/>
            <a:ext cx="1196156" cy="50058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600" dirty="0"/>
          </a:p>
          <a:p>
            <a:pPr algn="ctr"/>
            <a:r>
              <a:rPr lang="en-US" sz="1200" dirty="0"/>
              <a:t>DB Web Viewer</a:t>
            </a:r>
          </a:p>
          <a:p>
            <a:pPr algn="ctr"/>
            <a:r>
              <a:rPr lang="en-US" sz="1100" dirty="0"/>
              <a:t>📚 </a:t>
            </a:r>
            <a:r>
              <a:rPr lang="en-US" sz="1100" b="1" u="sng" dirty="0"/>
              <a:t>pg-admin</a:t>
            </a:r>
            <a:endParaRPr lang="en-US" sz="1100" dirty="0"/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A1CFC8EC-97A6-89F7-7896-FC2523FC381B}"/>
              </a:ext>
            </a:extLst>
          </p:cNvPr>
          <p:cNvCxnSpPr>
            <a:cxnSpLocks/>
            <a:stCxn id="3" idx="2"/>
            <a:endCxn id="15" idx="0"/>
          </p:cNvCxnSpPr>
          <p:nvPr/>
        </p:nvCxnSpPr>
        <p:spPr>
          <a:xfrm>
            <a:off x="8520900" y="2092872"/>
            <a:ext cx="0" cy="294481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91F4102F-EE91-ED5F-D7CB-CA4F588BB5A7}"/>
              </a:ext>
            </a:extLst>
          </p:cNvPr>
          <p:cNvSpPr/>
          <p:nvPr/>
        </p:nvSpPr>
        <p:spPr>
          <a:xfrm>
            <a:off x="8055206" y="3397261"/>
            <a:ext cx="931388" cy="2069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/>
              <a:t>📚 </a:t>
            </a:r>
            <a:r>
              <a:rPr lang="en-US" sz="1100" b="1" u="sng" dirty="0"/>
              <a:t>pg-vector</a:t>
            </a:r>
          </a:p>
        </p:txBody>
      </p:sp>
      <p:sp>
        <p:nvSpPr>
          <p:cNvPr id="37" name="Flowchart: Off-page Connector 36">
            <a:extLst>
              <a:ext uri="{FF2B5EF4-FFF2-40B4-BE49-F238E27FC236}">
                <a16:creationId xmlns:a16="http://schemas.microsoft.com/office/drawing/2014/main" id="{A1051958-E2DE-29E1-E221-338CBEA4536B}"/>
              </a:ext>
            </a:extLst>
          </p:cNvPr>
          <p:cNvSpPr/>
          <p:nvPr/>
        </p:nvSpPr>
        <p:spPr>
          <a:xfrm rot="16200000">
            <a:off x="7621979" y="1049781"/>
            <a:ext cx="186884" cy="240280"/>
          </a:xfrm>
          <a:prstGeom prst="flowChartOffpageConnecto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b="1" dirty="0"/>
              <a:t>4</a:t>
            </a:r>
          </a:p>
        </p:txBody>
      </p:sp>
      <p:sp>
        <p:nvSpPr>
          <p:cNvPr id="38" name="Flowchart: Off-page Connector 37">
            <a:extLst>
              <a:ext uri="{FF2B5EF4-FFF2-40B4-BE49-F238E27FC236}">
                <a16:creationId xmlns:a16="http://schemas.microsoft.com/office/drawing/2014/main" id="{82D3151C-F370-4949-4E46-2EFDE6393040}"/>
              </a:ext>
            </a:extLst>
          </p:cNvPr>
          <p:cNvSpPr/>
          <p:nvPr/>
        </p:nvSpPr>
        <p:spPr>
          <a:xfrm rot="16200000">
            <a:off x="7621979" y="2596934"/>
            <a:ext cx="186884" cy="240280"/>
          </a:xfrm>
          <a:prstGeom prst="flowChartOffpageConnecto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b="1" dirty="0"/>
              <a:t>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3D0089-C192-CA16-D91B-29EDF91F0A0B}"/>
              </a:ext>
            </a:extLst>
          </p:cNvPr>
          <p:cNvSpPr/>
          <p:nvPr/>
        </p:nvSpPr>
        <p:spPr>
          <a:xfrm>
            <a:off x="7863629" y="3862711"/>
            <a:ext cx="1314542" cy="7406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t"/>
          <a:lstStyle/>
          <a:p>
            <a:pPr algn="ctr"/>
            <a:r>
              <a:rPr lang="en-US" sz="900" b="1" dirty="0"/>
              <a:t>🐳 Docker Container</a:t>
            </a:r>
          </a:p>
          <a:p>
            <a:pPr algn="ctr"/>
            <a:r>
              <a:rPr lang="en-US" sz="900" i="1" dirty="0"/>
              <a:t>“pgvector/pgvector:pg17”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7C3EA7-BCBD-F703-4C04-1F10B55FC777}"/>
              </a:ext>
            </a:extLst>
          </p:cNvPr>
          <p:cNvSpPr/>
          <p:nvPr/>
        </p:nvSpPr>
        <p:spPr>
          <a:xfrm>
            <a:off x="7922822" y="4199114"/>
            <a:ext cx="1196156" cy="35606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050" b="1" dirty="0"/>
              <a:t>Test</a:t>
            </a:r>
            <a:r>
              <a:rPr lang="en-US" sz="900" dirty="0"/>
              <a:t> PostgreSQL Server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814015-7DE2-E6CF-83DF-F2CFE2A7AB61}"/>
              </a:ext>
            </a:extLst>
          </p:cNvPr>
          <p:cNvSpPr/>
          <p:nvPr/>
        </p:nvSpPr>
        <p:spPr>
          <a:xfrm>
            <a:off x="8130516" y="4381647"/>
            <a:ext cx="780768" cy="1495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/>
              <a:t>📚 </a:t>
            </a:r>
            <a:r>
              <a:rPr lang="en-US" sz="800" b="1" u="sng" dirty="0"/>
              <a:t>pg-vector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E4815B-12EB-5B81-7205-419D7DA693D5}"/>
              </a:ext>
            </a:extLst>
          </p:cNvPr>
          <p:cNvSpPr/>
          <p:nvPr/>
        </p:nvSpPr>
        <p:spPr>
          <a:xfrm>
            <a:off x="9583707" y="2606088"/>
            <a:ext cx="993676" cy="740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On disk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C8943CF-9BDA-943E-7ABF-BA2E147A52A4}"/>
              </a:ext>
            </a:extLst>
          </p:cNvPr>
          <p:cNvGrpSpPr/>
          <p:nvPr/>
        </p:nvGrpSpPr>
        <p:grpSpPr>
          <a:xfrm>
            <a:off x="9746702" y="2858508"/>
            <a:ext cx="680794" cy="433282"/>
            <a:chOff x="8227377" y="3019807"/>
            <a:chExt cx="680794" cy="785917"/>
          </a:xfrm>
        </p:grpSpPr>
        <p:sp>
          <p:nvSpPr>
            <p:cNvPr id="21" name="Flowchart: Magnetic Disk 20">
              <a:extLst>
                <a:ext uri="{FF2B5EF4-FFF2-40B4-BE49-F238E27FC236}">
                  <a16:creationId xmlns:a16="http://schemas.microsoft.com/office/drawing/2014/main" id="{D916B6ED-0FC3-F870-6017-EB076408A9BA}"/>
                </a:ext>
              </a:extLst>
            </p:cNvPr>
            <p:cNvSpPr/>
            <p:nvPr/>
          </p:nvSpPr>
          <p:spPr>
            <a:xfrm>
              <a:off x="8227377" y="3458653"/>
              <a:ext cx="680794" cy="347071"/>
            </a:xfrm>
            <a:prstGeom prst="flowChartMagneticDisk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lowchart: Magnetic Disk 24">
              <a:extLst>
                <a:ext uri="{FF2B5EF4-FFF2-40B4-BE49-F238E27FC236}">
                  <a16:creationId xmlns:a16="http://schemas.microsoft.com/office/drawing/2014/main" id="{CF8DF804-5F62-9364-1A0F-B5B8FB9D3AE2}"/>
                </a:ext>
              </a:extLst>
            </p:cNvPr>
            <p:cNvSpPr/>
            <p:nvPr/>
          </p:nvSpPr>
          <p:spPr>
            <a:xfrm>
              <a:off x="8227377" y="3235058"/>
              <a:ext cx="680794" cy="347071"/>
            </a:xfrm>
            <a:prstGeom prst="flowChartMagneticDisk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lowchart: Magnetic Disk 28">
              <a:extLst>
                <a:ext uri="{FF2B5EF4-FFF2-40B4-BE49-F238E27FC236}">
                  <a16:creationId xmlns:a16="http://schemas.microsoft.com/office/drawing/2014/main" id="{A8A091E6-56B1-41BE-00E9-F708DF430EB6}"/>
                </a:ext>
              </a:extLst>
            </p:cNvPr>
            <p:cNvSpPr/>
            <p:nvPr/>
          </p:nvSpPr>
          <p:spPr>
            <a:xfrm>
              <a:off x="8227377" y="3019807"/>
              <a:ext cx="680794" cy="347071"/>
            </a:xfrm>
            <a:prstGeom prst="flowChartMagneticDisk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4D0FA54-77BE-D97F-B793-0D61F01A3D24}"/>
              </a:ext>
            </a:extLst>
          </p:cNvPr>
          <p:cNvCxnSpPr>
            <a:cxnSpLocks/>
          </p:cNvCxnSpPr>
          <p:nvPr/>
        </p:nvCxnSpPr>
        <p:spPr>
          <a:xfrm>
            <a:off x="9118978" y="3098241"/>
            <a:ext cx="627724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A704E17B-8006-1E54-EA84-DCC843A8BAA2}"/>
              </a:ext>
            </a:extLst>
          </p:cNvPr>
          <p:cNvSpPr/>
          <p:nvPr/>
        </p:nvSpPr>
        <p:spPr>
          <a:xfrm>
            <a:off x="7863629" y="4774943"/>
            <a:ext cx="1314542" cy="19044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t"/>
          <a:lstStyle/>
          <a:p>
            <a:pPr algn="ctr"/>
            <a:r>
              <a:rPr lang="en-US" sz="900" b="1" dirty="0"/>
              <a:t>🐳 Docker Container</a:t>
            </a:r>
          </a:p>
          <a:p>
            <a:pPr algn="ctr"/>
            <a:r>
              <a:rPr lang="en-US" sz="900" i="1" dirty="0"/>
              <a:t>“ollama/ollama:latest”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4279042-094F-6602-009C-0DF3E4513282}"/>
              </a:ext>
            </a:extLst>
          </p:cNvPr>
          <p:cNvSpPr/>
          <p:nvPr/>
        </p:nvSpPr>
        <p:spPr>
          <a:xfrm>
            <a:off x="7922822" y="5225297"/>
            <a:ext cx="1196156" cy="13919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600" dirty="0"/>
              <a:t>Ollama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77C000F-3064-393F-A13D-62223B40936B}"/>
              </a:ext>
            </a:extLst>
          </p:cNvPr>
          <p:cNvSpPr/>
          <p:nvPr/>
        </p:nvSpPr>
        <p:spPr>
          <a:xfrm>
            <a:off x="7995594" y="5553355"/>
            <a:ext cx="1050612" cy="33613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dirty="0"/>
              <a:t>📚 </a:t>
            </a:r>
            <a:r>
              <a:rPr lang="en-US" sz="900" b="1" u="sng" dirty="0"/>
              <a:t>nomic-embed-text-v1.5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5663D04-32E6-5B27-2015-8CEE4F7B89B4}"/>
              </a:ext>
            </a:extLst>
          </p:cNvPr>
          <p:cNvSpPr/>
          <p:nvPr/>
        </p:nvSpPr>
        <p:spPr>
          <a:xfrm>
            <a:off x="3457215" y="5531931"/>
            <a:ext cx="2937872" cy="72811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Embedder</a:t>
            </a:r>
          </a:p>
          <a:p>
            <a:pPr algn="ctr"/>
            <a:r>
              <a:rPr lang="en-US" sz="1100" dirty="0"/>
              <a:t>📚 </a:t>
            </a:r>
            <a:r>
              <a:rPr lang="en-US" sz="1100" b="1" u="sng" dirty="0"/>
              <a:t>Ollama</a:t>
            </a:r>
            <a:r>
              <a:rPr lang="en-US" sz="1100" dirty="0"/>
              <a:t>  📚 </a:t>
            </a:r>
            <a:r>
              <a:rPr lang="en-US" sz="1100" b="1" u="sng" dirty="0"/>
              <a:t>SQLAlchemy</a:t>
            </a:r>
            <a:r>
              <a:rPr lang="en-US" sz="1100" u="sng" dirty="0"/>
              <a:t> </a:t>
            </a:r>
            <a:endParaRPr lang="en-US" u="sng" dirty="0"/>
          </a:p>
          <a:p>
            <a:pPr algn="ctr"/>
            <a:endParaRPr lang="en-US" sz="100" dirty="0"/>
          </a:p>
          <a:p>
            <a:pPr algn="ctr"/>
            <a:r>
              <a:rPr lang="en-US" sz="800" dirty="0"/>
              <a:t>= Inserts vector representations for desired rows in database </a:t>
            </a:r>
          </a:p>
          <a:p>
            <a:pPr algn="ctr"/>
            <a:r>
              <a:rPr lang="en-US" sz="800" dirty="0"/>
              <a:t>using chosen embedding model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1C9CCAC-37F8-DC7C-4604-D6711AF5E90B}"/>
              </a:ext>
            </a:extLst>
          </p:cNvPr>
          <p:cNvSpPr/>
          <p:nvPr/>
        </p:nvSpPr>
        <p:spPr>
          <a:xfrm>
            <a:off x="3483911" y="5551954"/>
            <a:ext cx="393792" cy="101326"/>
          </a:xfrm>
          <a:prstGeom prst="rect">
            <a:avLst/>
          </a:prstGeom>
          <a:solidFill>
            <a:srgbClr val="7030A0"/>
          </a:solidFill>
          <a:ln w="6350"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dirty="0"/>
              <a:t>.py script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12C56A1-944F-954F-2B8C-35C033490727}"/>
              </a:ext>
            </a:extLst>
          </p:cNvPr>
          <p:cNvSpPr/>
          <p:nvPr/>
        </p:nvSpPr>
        <p:spPr>
          <a:xfrm>
            <a:off x="7713743" y="2837708"/>
            <a:ext cx="202062" cy="895686"/>
          </a:xfrm>
          <a:prstGeom prst="rect">
            <a:avLst/>
          </a:prstGeom>
          <a:solidFill>
            <a:srgbClr val="B17E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/>
              <a:t>📚 asyncpg</a:t>
            </a:r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8D1ABD79-5421-CDF6-AB3A-BE283788495B}"/>
              </a:ext>
            </a:extLst>
          </p:cNvPr>
          <p:cNvCxnSpPr>
            <a:cxnSpLocks/>
          </p:cNvCxnSpPr>
          <p:nvPr/>
        </p:nvCxnSpPr>
        <p:spPr>
          <a:xfrm flipV="1">
            <a:off x="6395087" y="3151258"/>
            <a:ext cx="1318656" cy="1318793"/>
          </a:xfrm>
          <a:prstGeom prst="bentConnector3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11751A89-E551-A2BD-9E1D-6EBB198937B5}"/>
              </a:ext>
            </a:extLst>
          </p:cNvPr>
          <p:cNvCxnSpPr>
            <a:cxnSpLocks/>
          </p:cNvCxnSpPr>
          <p:nvPr/>
        </p:nvCxnSpPr>
        <p:spPr>
          <a:xfrm flipV="1">
            <a:off x="6395087" y="3303468"/>
            <a:ext cx="1318656" cy="2312605"/>
          </a:xfrm>
          <a:prstGeom prst="bentConnector3">
            <a:avLst>
              <a:gd name="adj1" fmla="val 59906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0E25E5C5-8A27-B764-B166-E43986428E9E}"/>
              </a:ext>
            </a:extLst>
          </p:cNvPr>
          <p:cNvCxnSpPr>
            <a:cxnSpLocks/>
            <a:stCxn id="52" idx="1"/>
          </p:cNvCxnSpPr>
          <p:nvPr/>
        </p:nvCxnSpPr>
        <p:spPr>
          <a:xfrm flipH="1">
            <a:off x="6395087" y="5721422"/>
            <a:ext cx="1600507" cy="0"/>
          </a:xfrm>
          <a:prstGeom prst="line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DAB55712-B2D3-23FC-BFC7-359CEB972480}"/>
              </a:ext>
            </a:extLst>
          </p:cNvPr>
          <p:cNvSpPr/>
          <p:nvPr/>
        </p:nvSpPr>
        <p:spPr>
          <a:xfrm>
            <a:off x="7995594" y="5955153"/>
            <a:ext cx="1050612" cy="61119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i="1" dirty="0"/>
              <a:t>SQL Emitter</a:t>
            </a:r>
          </a:p>
          <a:p>
            <a:pPr algn="ctr"/>
            <a:r>
              <a:rPr lang="en-US" sz="800" b="1" i="1" dirty="0"/>
              <a:t>(Local LLM)</a:t>
            </a:r>
          </a:p>
          <a:p>
            <a:pPr algn="ctr"/>
            <a:r>
              <a:rPr lang="en-US" sz="900" dirty="0"/>
              <a:t>📚 </a:t>
            </a:r>
            <a:r>
              <a:rPr lang="en-US" sz="900" b="1" u="sng" dirty="0"/>
              <a:t>Qwen2.5-Coder</a:t>
            </a:r>
          </a:p>
        </p:txBody>
      </p:sp>
      <p:sp>
        <p:nvSpPr>
          <p:cNvPr id="131" name="Flowchart: Off-page Connector 130">
            <a:extLst>
              <a:ext uri="{FF2B5EF4-FFF2-40B4-BE49-F238E27FC236}">
                <a16:creationId xmlns:a16="http://schemas.microsoft.com/office/drawing/2014/main" id="{8DB5FFE1-B20F-BC4A-F98A-1DB0CDA11B3B}"/>
              </a:ext>
            </a:extLst>
          </p:cNvPr>
          <p:cNvSpPr/>
          <p:nvPr/>
        </p:nvSpPr>
        <p:spPr>
          <a:xfrm rot="16200000">
            <a:off x="3199057" y="5402491"/>
            <a:ext cx="186884" cy="240280"/>
          </a:xfrm>
          <a:prstGeom prst="flowChartOffpageConnecto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b="1" dirty="0"/>
              <a:t>8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9E492C8C-E2EB-4DCC-8FC4-C53AECC1962C}"/>
              </a:ext>
            </a:extLst>
          </p:cNvPr>
          <p:cNvSpPr/>
          <p:nvPr/>
        </p:nvSpPr>
        <p:spPr>
          <a:xfrm>
            <a:off x="9583707" y="5769777"/>
            <a:ext cx="993676" cy="7965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Host GPU</a:t>
            </a:r>
          </a:p>
        </p:txBody>
      </p: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0F362DED-BF34-5AF8-243D-B31EC86503E7}"/>
              </a:ext>
            </a:extLst>
          </p:cNvPr>
          <p:cNvCxnSpPr>
            <a:cxnSpLocks/>
          </p:cNvCxnSpPr>
          <p:nvPr/>
        </p:nvCxnSpPr>
        <p:spPr>
          <a:xfrm>
            <a:off x="9118978" y="6261931"/>
            <a:ext cx="627724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" name="Picture 2" descr="Gpu - Free computer icons">
            <a:extLst>
              <a:ext uri="{FF2B5EF4-FFF2-40B4-BE49-F238E27FC236}">
                <a16:creationId xmlns:a16="http://schemas.microsoft.com/office/drawing/2014/main" id="{720321CC-3759-1DB6-FCD7-CF1E417DC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515" y="5955153"/>
            <a:ext cx="591168" cy="591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" name="Title 1024">
            <a:extLst>
              <a:ext uri="{FF2B5EF4-FFF2-40B4-BE49-F238E27FC236}">
                <a16:creationId xmlns:a16="http://schemas.microsoft.com/office/drawing/2014/main" id="{D6F6158F-D78B-7FB3-5885-9E394282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35" y="64032"/>
            <a:ext cx="4615498" cy="476956"/>
          </a:xfrm>
        </p:spPr>
        <p:txBody>
          <a:bodyPr anchor="t">
            <a:noAutofit/>
          </a:bodyPr>
          <a:lstStyle/>
          <a:p>
            <a:r>
              <a:rPr lang="en-US" sz="4000" dirty="0"/>
              <a:t>Priming Phase</a:t>
            </a:r>
          </a:p>
        </p:txBody>
      </p:sp>
    </p:spTree>
    <p:extLst>
      <p:ext uri="{BB962C8B-B14F-4D97-AF65-F5344CB8AC3E}">
        <p14:creationId xmlns:p14="http://schemas.microsoft.com/office/powerpoint/2010/main" val="467536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DE0EE-A8BD-8F30-7418-87BB25146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D620D2BF-387D-D4BF-5090-B9D7F5E1A177}"/>
              </a:ext>
            </a:extLst>
          </p:cNvPr>
          <p:cNvSpPr/>
          <p:nvPr/>
        </p:nvSpPr>
        <p:spPr>
          <a:xfrm>
            <a:off x="7670527" y="4920178"/>
            <a:ext cx="4028187" cy="16508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b"/>
          <a:lstStyle/>
          <a:p>
            <a:pPr algn="ctr"/>
            <a:r>
              <a:rPr lang="en-US" sz="900" b="1" dirty="0"/>
              <a:t>🐳 Docker Container</a:t>
            </a:r>
          </a:p>
          <a:p>
            <a:pPr algn="ctr"/>
            <a:r>
              <a:rPr lang="en-US" sz="900" i="1" dirty="0"/>
              <a:t>“ollama/ollama:latest”</a:t>
            </a:r>
          </a:p>
          <a:p>
            <a:pPr algn="ctr"/>
            <a:endParaRPr lang="en-US" sz="200" i="1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3B161CA-3951-5003-8932-A211335401FC}"/>
              </a:ext>
            </a:extLst>
          </p:cNvPr>
          <p:cNvSpPr/>
          <p:nvPr/>
        </p:nvSpPr>
        <p:spPr>
          <a:xfrm>
            <a:off x="7729720" y="4920177"/>
            <a:ext cx="3714012" cy="1313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 sz="1600" dirty="0"/>
              <a:t>Ollama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2CBA80-95B2-D658-D869-139D92552C8F}"/>
              </a:ext>
            </a:extLst>
          </p:cNvPr>
          <p:cNvSpPr/>
          <p:nvPr/>
        </p:nvSpPr>
        <p:spPr>
          <a:xfrm>
            <a:off x="9049796" y="4920176"/>
            <a:ext cx="1020305" cy="110008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/>
              <a:t>Embedding Model</a:t>
            </a:r>
            <a:endParaRPr lang="en-US" sz="900" b="1" dirty="0"/>
          </a:p>
          <a:p>
            <a:pPr algn="ctr"/>
            <a:r>
              <a:rPr lang="en-US" sz="900" dirty="0"/>
              <a:t>📚 </a:t>
            </a:r>
            <a:r>
              <a:rPr lang="en-US" sz="900" b="1" u="sng" dirty="0"/>
              <a:t>nomic-embed-</a:t>
            </a:r>
          </a:p>
          <a:p>
            <a:pPr algn="ctr"/>
            <a:r>
              <a:rPr lang="en-US" sz="900" b="1" u="sng" dirty="0"/>
              <a:t>text-v1.5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09F7108-FF93-609D-A945-2510E83DD8FF}"/>
              </a:ext>
            </a:extLst>
          </p:cNvPr>
          <p:cNvSpPr/>
          <p:nvPr/>
        </p:nvSpPr>
        <p:spPr>
          <a:xfrm>
            <a:off x="10152196" y="4920174"/>
            <a:ext cx="1222081" cy="110008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i="1" dirty="0"/>
              <a:t>SQL Emitter</a:t>
            </a:r>
          </a:p>
          <a:p>
            <a:pPr algn="ctr"/>
            <a:r>
              <a:rPr lang="en-US" sz="800" b="1" i="1" dirty="0"/>
              <a:t>(Local LLM)</a:t>
            </a:r>
          </a:p>
          <a:p>
            <a:pPr algn="ctr"/>
            <a:endParaRPr lang="en-US" sz="800" b="1" i="1" dirty="0"/>
          </a:p>
          <a:p>
            <a:pPr algn="ctr"/>
            <a:r>
              <a:rPr lang="en-US" sz="900" dirty="0"/>
              <a:t>📚 </a:t>
            </a:r>
            <a:r>
              <a:rPr lang="en-US" sz="900" b="1" u="sng" dirty="0"/>
              <a:t>Qwen2.5-Coder:7b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D6A0B9-4705-2CEA-1EC6-D1806A8968BE}"/>
              </a:ext>
            </a:extLst>
          </p:cNvPr>
          <p:cNvSpPr/>
          <p:nvPr/>
        </p:nvSpPr>
        <p:spPr>
          <a:xfrm>
            <a:off x="11443732" y="4920178"/>
            <a:ext cx="202062" cy="1313662"/>
          </a:xfrm>
          <a:prstGeom prst="rect">
            <a:avLst/>
          </a:prstGeom>
          <a:solidFill>
            <a:srgbClr val="B17E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/>
              <a:t>📚 httpx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7B6516-346C-8990-ACB5-79355B120195}"/>
              </a:ext>
            </a:extLst>
          </p:cNvPr>
          <p:cNvSpPr/>
          <p:nvPr/>
        </p:nvSpPr>
        <p:spPr>
          <a:xfrm>
            <a:off x="562127" y="2087031"/>
            <a:ext cx="1116053" cy="4013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t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User Input </a:t>
            </a:r>
          </a:p>
          <a:p>
            <a:pPr algn="ctr"/>
            <a:r>
              <a:rPr lang="en-US" sz="800" b="1" dirty="0">
                <a:solidFill>
                  <a:schemeClr val="tx1"/>
                </a:solidFill>
              </a:rPr>
              <a:t>(Browser)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B002BE-836F-8408-1F21-4AD91EC21A2B}"/>
              </a:ext>
            </a:extLst>
          </p:cNvPr>
          <p:cNvSpPr/>
          <p:nvPr/>
        </p:nvSpPr>
        <p:spPr>
          <a:xfrm>
            <a:off x="562127" y="945957"/>
            <a:ext cx="1116053" cy="4013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t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User Display </a:t>
            </a:r>
          </a:p>
          <a:p>
            <a:pPr algn="ctr"/>
            <a:r>
              <a:rPr lang="en-US" sz="800" b="1" dirty="0">
                <a:solidFill>
                  <a:schemeClr val="tx1"/>
                </a:solidFill>
              </a:rPr>
              <a:t>(Browser)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E5B91-C632-7638-5DE6-41D98F5FAD3D}"/>
              </a:ext>
            </a:extLst>
          </p:cNvPr>
          <p:cNvSpPr/>
          <p:nvPr/>
        </p:nvSpPr>
        <p:spPr>
          <a:xfrm>
            <a:off x="4586614" y="829460"/>
            <a:ext cx="1194727" cy="189109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/>
              <a:t>Web Server</a:t>
            </a:r>
            <a:endParaRPr lang="en-US" sz="1400" dirty="0"/>
          </a:p>
          <a:p>
            <a:pPr algn="ctr"/>
            <a:r>
              <a:rPr lang="en-US" sz="1100" u="sng" dirty="0"/>
              <a:t>app/api/</a:t>
            </a:r>
          </a:p>
          <a:p>
            <a:pPr algn="ctr"/>
            <a:endParaRPr lang="en-US" sz="1100" u="sng" dirty="0"/>
          </a:p>
          <a:p>
            <a:pPr algn="ctr"/>
            <a:r>
              <a:rPr lang="en-US" sz="800" dirty="0"/>
              <a:t>📚 </a:t>
            </a:r>
            <a:r>
              <a:rPr lang="en-US" sz="800" b="1" u="sng" dirty="0"/>
              <a:t>FastAPI Users 15.0.5</a:t>
            </a:r>
          </a:p>
          <a:p>
            <a:pPr algn="ctr"/>
            <a:r>
              <a:rPr lang="en-US" sz="800" b="1" dirty="0"/>
              <a:t> </a:t>
            </a:r>
            <a:r>
              <a:rPr lang="en-US" sz="800" dirty="0"/>
              <a:t>📚 </a:t>
            </a:r>
            <a:r>
              <a:rPr lang="en-US" sz="800" b="1" u="sng" dirty="0"/>
              <a:t>httpx-oauth 0.17.0</a:t>
            </a:r>
          </a:p>
          <a:p>
            <a:pPr algn="ctr"/>
            <a:endParaRPr lang="en-US" sz="800" dirty="0"/>
          </a:p>
          <a:p>
            <a:pPr algn="ctr"/>
            <a:r>
              <a:rPr lang="en-US" sz="800" dirty="0"/>
              <a:t>Handles </a:t>
            </a:r>
          </a:p>
          <a:p>
            <a:pPr algn="ctr"/>
            <a:r>
              <a:rPr lang="en-US" sz="800" dirty="0"/>
              <a:t>display for user interactions. </a:t>
            </a:r>
          </a:p>
          <a:p>
            <a:pPr algn="ctr"/>
            <a:endParaRPr lang="en-US" sz="800" dirty="0"/>
          </a:p>
          <a:p>
            <a:pPr algn="ctr"/>
            <a:r>
              <a:rPr lang="en-US" sz="800" dirty="0"/>
              <a:t>Services via REST 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37990E-CA5C-5E9E-B92E-0D2BC0C31F0B}"/>
              </a:ext>
            </a:extLst>
          </p:cNvPr>
          <p:cNvSpPr/>
          <p:nvPr/>
        </p:nvSpPr>
        <p:spPr>
          <a:xfrm>
            <a:off x="7670527" y="2581844"/>
            <a:ext cx="1025758" cy="165080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Query Parser</a:t>
            </a:r>
            <a:endParaRPr lang="en-US" sz="1100" dirty="0"/>
          </a:p>
          <a:p>
            <a:pPr algn="ctr"/>
            <a:r>
              <a:rPr lang="en-US" sz="1100" u="sng" dirty="0"/>
              <a:t>app/parser</a:t>
            </a:r>
          </a:p>
          <a:p>
            <a:pPr algn="ctr"/>
            <a:endParaRPr lang="en-US" sz="800" dirty="0"/>
          </a:p>
          <a:p>
            <a:pPr algn="ctr"/>
            <a:r>
              <a:rPr lang="en-US" sz="800" dirty="0"/>
              <a:t>Converts user string to </a:t>
            </a:r>
            <a:r>
              <a:rPr lang="en-US" sz="800" dirty="0">
                <a:solidFill>
                  <a:srgbClr val="B17ED8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Query</a:t>
            </a:r>
            <a:r>
              <a:rPr lang="en-US" sz="800" dirty="0"/>
              <a:t> object </a:t>
            </a:r>
          </a:p>
          <a:p>
            <a:pPr algn="ctr"/>
            <a:r>
              <a:rPr lang="en-US" sz="800" dirty="0"/>
              <a:t>(via Qwen)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350345-C206-49FB-1B55-4BFF02E6ED8D}"/>
              </a:ext>
            </a:extLst>
          </p:cNvPr>
          <p:cNvSpPr/>
          <p:nvPr/>
        </p:nvSpPr>
        <p:spPr>
          <a:xfrm>
            <a:off x="9230729" y="2581844"/>
            <a:ext cx="1025758" cy="165080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Query Mapper</a:t>
            </a:r>
            <a:endParaRPr lang="en-US" sz="1100" dirty="0"/>
          </a:p>
          <a:p>
            <a:pPr algn="ctr"/>
            <a:r>
              <a:rPr lang="en-US" sz="1100" u="sng" dirty="0"/>
              <a:t>app/semantic</a:t>
            </a:r>
          </a:p>
          <a:p>
            <a:pPr algn="ctr"/>
            <a:endParaRPr lang="en-US" sz="800" dirty="0"/>
          </a:p>
          <a:p>
            <a:pPr algn="ctr"/>
            <a:r>
              <a:rPr lang="en-US" sz="800" dirty="0"/>
              <a:t>Does mapping from </a:t>
            </a:r>
            <a:r>
              <a:rPr lang="en-US" sz="800" dirty="0">
                <a:solidFill>
                  <a:srgbClr val="B17ED8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Query</a:t>
            </a:r>
            <a:r>
              <a:rPr lang="en-US" sz="800" dirty="0"/>
              <a:t> into a </a:t>
            </a:r>
          </a:p>
          <a:p>
            <a:pPr algn="ctr"/>
            <a:r>
              <a:rPr lang="en-US" sz="800" dirty="0">
                <a:solidFill>
                  <a:srgbClr val="B17ED8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QueryPlan </a:t>
            </a:r>
          </a:p>
          <a:p>
            <a:pPr algn="ctr"/>
            <a:r>
              <a:rPr lang="en-US" sz="800" dirty="0"/>
              <a:t>(normalizes request to what is retrievable in the database)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DE70CD-39A9-A20F-7E9F-7837F6D26DB9}"/>
              </a:ext>
            </a:extLst>
          </p:cNvPr>
          <p:cNvSpPr/>
          <p:nvPr/>
        </p:nvSpPr>
        <p:spPr>
          <a:xfrm>
            <a:off x="10769365" y="2581844"/>
            <a:ext cx="929349" cy="165080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/>
              <a:t>Executor</a:t>
            </a:r>
            <a:endParaRPr lang="en-US" sz="1400" dirty="0"/>
          </a:p>
          <a:p>
            <a:pPr algn="ctr"/>
            <a:r>
              <a:rPr lang="en-US" sz="1100" u="sng" dirty="0"/>
              <a:t>app/retrieval</a:t>
            </a:r>
          </a:p>
          <a:p>
            <a:pPr algn="ctr"/>
            <a:endParaRPr lang="en-US" sz="800" dirty="0"/>
          </a:p>
          <a:p>
            <a:pPr algn="ctr"/>
            <a:r>
              <a:rPr lang="en-US" sz="800" dirty="0"/>
              <a:t>Generates SQL to execute </a:t>
            </a:r>
            <a:r>
              <a:rPr lang="en-US" sz="800" dirty="0">
                <a:solidFill>
                  <a:srgbClr val="B17ED8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QueryPlan</a:t>
            </a:r>
            <a:r>
              <a:rPr lang="en-US" sz="800" dirty="0"/>
              <a:t> (via Qwen), sanitizes then executes SQL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823C645-2515-192B-C854-507A34F34D39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1678180" y="2287716"/>
            <a:ext cx="552826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89F1476-8289-F0DD-9B6E-4A04F3B111E0}"/>
              </a:ext>
            </a:extLst>
          </p:cNvPr>
          <p:cNvCxnSpPr>
            <a:cxnSpLocks/>
          </p:cNvCxnSpPr>
          <p:nvPr/>
        </p:nvCxnSpPr>
        <p:spPr>
          <a:xfrm flipH="1">
            <a:off x="3259163" y="2287715"/>
            <a:ext cx="1309366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27F5B4B-693B-6867-1F64-A4FD871C749E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8183406" y="4232651"/>
            <a:ext cx="0" cy="68752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0EFA422-E47F-91E3-42D0-2A8BC5CE310A}"/>
              </a:ext>
            </a:extLst>
          </p:cNvPr>
          <p:cNvCxnSpPr>
            <a:cxnSpLocks/>
            <a:stCxn id="13" idx="1"/>
            <a:endCxn id="11" idx="3"/>
          </p:cNvCxnSpPr>
          <p:nvPr/>
        </p:nvCxnSpPr>
        <p:spPr>
          <a:xfrm flipH="1">
            <a:off x="10256487" y="3407248"/>
            <a:ext cx="512878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91024CF-1BBB-6447-AC43-8CCFBE29F66A}"/>
              </a:ext>
            </a:extLst>
          </p:cNvPr>
          <p:cNvCxnSpPr>
            <a:cxnSpLocks/>
          </p:cNvCxnSpPr>
          <p:nvPr/>
        </p:nvCxnSpPr>
        <p:spPr>
          <a:xfrm flipV="1">
            <a:off x="9708766" y="4232651"/>
            <a:ext cx="0" cy="68752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37E65A8-E98B-A3F1-EC69-60F3FB12BFCB}"/>
              </a:ext>
            </a:extLst>
          </p:cNvPr>
          <p:cNvCxnSpPr>
            <a:cxnSpLocks/>
          </p:cNvCxnSpPr>
          <p:nvPr/>
        </p:nvCxnSpPr>
        <p:spPr>
          <a:xfrm flipH="1">
            <a:off x="10657590" y="4232651"/>
            <a:ext cx="231288" cy="20859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9FA540F-0D32-6ABF-F082-1F95536F248C}"/>
              </a:ext>
            </a:extLst>
          </p:cNvPr>
          <p:cNvCxnSpPr>
            <a:cxnSpLocks/>
          </p:cNvCxnSpPr>
          <p:nvPr/>
        </p:nvCxnSpPr>
        <p:spPr>
          <a:xfrm>
            <a:off x="10258677" y="4232651"/>
            <a:ext cx="204729" cy="20859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DD88032-5E17-4F47-AA9F-FBDAC2D2C59F}"/>
              </a:ext>
            </a:extLst>
          </p:cNvPr>
          <p:cNvCxnSpPr>
            <a:cxnSpLocks/>
            <a:stCxn id="11" idx="1"/>
            <a:endCxn id="9" idx="3"/>
          </p:cNvCxnSpPr>
          <p:nvPr/>
        </p:nvCxnSpPr>
        <p:spPr>
          <a:xfrm flipH="1">
            <a:off x="8696285" y="3407248"/>
            <a:ext cx="534444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365C1E3-C6AD-0E59-D654-7A64454F99F0}"/>
              </a:ext>
            </a:extLst>
          </p:cNvPr>
          <p:cNvCxnSpPr>
            <a:cxnSpLocks/>
          </p:cNvCxnSpPr>
          <p:nvPr/>
        </p:nvCxnSpPr>
        <p:spPr>
          <a:xfrm flipV="1">
            <a:off x="11301440" y="4232651"/>
            <a:ext cx="0" cy="68752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A1207485-D60E-FB2A-3919-B3EDA31AD605}"/>
              </a:ext>
            </a:extLst>
          </p:cNvPr>
          <p:cNvSpPr/>
          <p:nvPr/>
        </p:nvSpPr>
        <p:spPr>
          <a:xfrm>
            <a:off x="7800128" y="4920175"/>
            <a:ext cx="1167573" cy="110008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i="1" dirty="0"/>
              <a:t>Parser LLM</a:t>
            </a:r>
          </a:p>
          <a:p>
            <a:pPr algn="ctr"/>
            <a:r>
              <a:rPr lang="en-US" sz="800" b="1" i="1" dirty="0"/>
              <a:t>(Local LLM)</a:t>
            </a:r>
          </a:p>
          <a:p>
            <a:pPr algn="ctr"/>
            <a:endParaRPr lang="en-US" sz="800" b="1" i="1" dirty="0"/>
          </a:p>
          <a:p>
            <a:pPr algn="ctr"/>
            <a:r>
              <a:rPr lang="en-US" sz="900" dirty="0"/>
              <a:t>📚 </a:t>
            </a:r>
            <a:r>
              <a:rPr lang="en-US" sz="900" b="1" u="sng" dirty="0"/>
              <a:t>Qwen2.5-Coder:7b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76C400E-DE7F-DE8B-23CD-DE4F9C59641B}"/>
              </a:ext>
            </a:extLst>
          </p:cNvPr>
          <p:cNvCxnSpPr>
            <a:cxnSpLocks/>
          </p:cNvCxnSpPr>
          <p:nvPr/>
        </p:nvCxnSpPr>
        <p:spPr>
          <a:xfrm flipV="1">
            <a:off x="3260789" y="1146641"/>
            <a:ext cx="1307740" cy="1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3A768D3E-E65E-59D0-A9DE-9B81B3F86D94}"/>
              </a:ext>
            </a:extLst>
          </p:cNvPr>
          <p:cNvSpPr/>
          <p:nvPr/>
        </p:nvSpPr>
        <p:spPr>
          <a:xfrm>
            <a:off x="10186804" y="4441244"/>
            <a:ext cx="721904" cy="404410"/>
          </a:xfrm>
          <a:prstGeom prst="rect">
            <a:avLst/>
          </a:prstGeom>
          <a:solidFill>
            <a:srgbClr val="F7A5A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t"/>
          <a:lstStyle/>
          <a:p>
            <a:pPr algn="ctr"/>
            <a:r>
              <a:rPr lang="en-US" sz="1100" dirty="0"/>
              <a:t>🛢️</a:t>
            </a:r>
            <a:r>
              <a:rPr lang="en-US" sz="900" b="1" dirty="0"/>
              <a:t> </a:t>
            </a:r>
            <a:r>
              <a:rPr lang="en-US" sz="1200" b="1" dirty="0"/>
              <a:t>DB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900" dirty="0"/>
              <a:t>xbrl</a:t>
            </a:r>
          </a:p>
        </p:txBody>
      </p: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68CCE979-38C1-892C-888A-C361A055421E}"/>
              </a:ext>
            </a:extLst>
          </p:cNvPr>
          <p:cNvCxnSpPr>
            <a:cxnSpLocks/>
            <a:stCxn id="11" idx="0"/>
            <a:endCxn id="143" idx="3"/>
          </p:cNvCxnSpPr>
          <p:nvPr/>
        </p:nvCxnSpPr>
        <p:spPr>
          <a:xfrm rot="16200000" flipV="1">
            <a:off x="8685653" y="1523888"/>
            <a:ext cx="1068588" cy="1047323"/>
          </a:xfrm>
          <a:prstGeom prst="curvedConnector2">
            <a:avLst/>
          </a:prstGeom>
          <a:ln w="127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9FFA8364-6776-D3D2-5096-EBE29B8BFD78}"/>
              </a:ext>
            </a:extLst>
          </p:cNvPr>
          <p:cNvSpPr txBox="1"/>
          <p:nvPr/>
        </p:nvSpPr>
        <p:spPr>
          <a:xfrm>
            <a:off x="8712076" y="2038246"/>
            <a:ext cx="687689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100" i="1" dirty="0"/>
              <a:t>Refusal </a:t>
            </a:r>
            <a:r>
              <a:rPr lang="en-US" sz="1100" dirty="0"/>
              <a:t>|</a:t>
            </a:r>
            <a:r>
              <a:rPr lang="en-US" sz="1100" i="1" dirty="0"/>
              <a:t> </a:t>
            </a:r>
          </a:p>
          <a:p>
            <a:pPr algn="r"/>
            <a:r>
              <a:rPr lang="en-US" sz="1100" i="1" dirty="0"/>
              <a:t>Clarification</a:t>
            </a:r>
          </a:p>
        </p:txBody>
      </p:sp>
      <p:cxnSp>
        <p:nvCxnSpPr>
          <p:cNvPr id="113" name="Connector: Elbow 108">
            <a:extLst>
              <a:ext uri="{FF2B5EF4-FFF2-40B4-BE49-F238E27FC236}">
                <a16:creationId xmlns:a16="http://schemas.microsoft.com/office/drawing/2014/main" id="{AE26BF72-4C1B-E05E-E217-85426BF0C49D}"/>
              </a:ext>
            </a:extLst>
          </p:cNvPr>
          <p:cNvCxnSpPr>
            <a:cxnSpLocks/>
            <a:stCxn id="13" idx="0"/>
          </p:cNvCxnSpPr>
          <p:nvPr/>
        </p:nvCxnSpPr>
        <p:spPr>
          <a:xfrm rot="16200000" flipV="1">
            <a:off x="9323179" y="670982"/>
            <a:ext cx="1283969" cy="2537755"/>
          </a:xfrm>
          <a:prstGeom prst="curvedConnector2">
            <a:avLst/>
          </a:prstGeom>
          <a:ln w="127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49CA53C4-D49B-F86E-D5A4-FD5CADAE70DC}"/>
              </a:ext>
            </a:extLst>
          </p:cNvPr>
          <p:cNvSpPr txBox="1"/>
          <p:nvPr/>
        </p:nvSpPr>
        <p:spPr>
          <a:xfrm>
            <a:off x="9219702" y="1118029"/>
            <a:ext cx="61516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dirty="0">
                <a:solidFill>
                  <a:srgbClr val="B17ED8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ResultSet</a:t>
            </a:r>
          </a:p>
        </p:txBody>
      </p:sp>
      <p:sp>
        <p:nvSpPr>
          <p:cNvPr id="117" name="Flowchart: Off-page Connector 116">
            <a:extLst>
              <a:ext uri="{FF2B5EF4-FFF2-40B4-BE49-F238E27FC236}">
                <a16:creationId xmlns:a16="http://schemas.microsoft.com/office/drawing/2014/main" id="{D7C4B127-ED58-CB38-3043-477F8C136243}"/>
              </a:ext>
            </a:extLst>
          </p:cNvPr>
          <p:cNvSpPr/>
          <p:nvPr/>
        </p:nvSpPr>
        <p:spPr>
          <a:xfrm rot="16200000">
            <a:off x="1998780" y="1993941"/>
            <a:ext cx="186884" cy="240280"/>
          </a:xfrm>
          <a:prstGeom prst="flowChartOffpageConnecto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18" name="Flowchart: Off-page Connector 117">
            <a:extLst>
              <a:ext uri="{FF2B5EF4-FFF2-40B4-BE49-F238E27FC236}">
                <a16:creationId xmlns:a16="http://schemas.microsoft.com/office/drawing/2014/main" id="{CC198E2C-579D-69D7-7BE8-AD75D8EE4092}"/>
              </a:ext>
            </a:extLst>
          </p:cNvPr>
          <p:cNvSpPr/>
          <p:nvPr/>
        </p:nvSpPr>
        <p:spPr>
          <a:xfrm rot="16200000">
            <a:off x="4367380" y="1942872"/>
            <a:ext cx="186884" cy="240280"/>
          </a:xfrm>
          <a:prstGeom prst="flowChartOffpageConnecto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19" name="Flowchart: Off-page Connector 118">
            <a:extLst>
              <a:ext uri="{FF2B5EF4-FFF2-40B4-BE49-F238E27FC236}">
                <a16:creationId xmlns:a16="http://schemas.microsoft.com/office/drawing/2014/main" id="{94CB7192-7274-F3D6-30B4-7233CC08C58F}"/>
              </a:ext>
            </a:extLst>
          </p:cNvPr>
          <p:cNvSpPr/>
          <p:nvPr/>
        </p:nvSpPr>
        <p:spPr>
          <a:xfrm rot="16200000">
            <a:off x="7442347" y="3043410"/>
            <a:ext cx="186884" cy="240280"/>
          </a:xfrm>
          <a:prstGeom prst="flowChartOffpageConnecto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120" name="Flowchart: Off-page Connector 119">
            <a:extLst>
              <a:ext uri="{FF2B5EF4-FFF2-40B4-BE49-F238E27FC236}">
                <a16:creationId xmlns:a16="http://schemas.microsoft.com/office/drawing/2014/main" id="{01DB02D4-794E-6EA2-5C1C-E49399D79D95}"/>
              </a:ext>
            </a:extLst>
          </p:cNvPr>
          <p:cNvSpPr/>
          <p:nvPr/>
        </p:nvSpPr>
        <p:spPr>
          <a:xfrm rot="16200000">
            <a:off x="9006120" y="3043409"/>
            <a:ext cx="186884" cy="240280"/>
          </a:xfrm>
          <a:prstGeom prst="flowChartOffpageConnecto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121" name="Flowchart: Off-page Connector 120">
            <a:extLst>
              <a:ext uri="{FF2B5EF4-FFF2-40B4-BE49-F238E27FC236}">
                <a16:creationId xmlns:a16="http://schemas.microsoft.com/office/drawing/2014/main" id="{4E3134F4-88B8-F4FE-19CF-EE627B72415C}"/>
              </a:ext>
            </a:extLst>
          </p:cNvPr>
          <p:cNvSpPr/>
          <p:nvPr/>
        </p:nvSpPr>
        <p:spPr>
          <a:xfrm rot="16200000">
            <a:off x="10540518" y="3043408"/>
            <a:ext cx="186884" cy="240280"/>
          </a:xfrm>
          <a:prstGeom prst="flowChartOffpageConnecto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22" name="Flowchart: Off-page Connector 121">
            <a:extLst>
              <a:ext uri="{FF2B5EF4-FFF2-40B4-BE49-F238E27FC236}">
                <a16:creationId xmlns:a16="http://schemas.microsoft.com/office/drawing/2014/main" id="{473F88A9-2CB3-E503-D874-718B48B13C8E}"/>
              </a:ext>
            </a:extLst>
          </p:cNvPr>
          <p:cNvSpPr/>
          <p:nvPr/>
        </p:nvSpPr>
        <p:spPr>
          <a:xfrm rot="16200000">
            <a:off x="8395553" y="1033332"/>
            <a:ext cx="186884" cy="210161"/>
          </a:xfrm>
          <a:prstGeom prst="flowChartOffpageConnecto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23" name="Flowchart: Off-page Connector 122">
            <a:extLst>
              <a:ext uri="{FF2B5EF4-FFF2-40B4-BE49-F238E27FC236}">
                <a16:creationId xmlns:a16="http://schemas.microsoft.com/office/drawing/2014/main" id="{9BEDBC72-BA05-EBD9-A868-CF9DCC0AD9A0}"/>
              </a:ext>
            </a:extLst>
          </p:cNvPr>
          <p:cNvSpPr/>
          <p:nvPr/>
        </p:nvSpPr>
        <p:spPr>
          <a:xfrm rot="16200000">
            <a:off x="1983719" y="867926"/>
            <a:ext cx="186884" cy="210161"/>
          </a:xfrm>
          <a:prstGeom prst="flowChartOffpageConnecto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125" name="Title 1024">
            <a:extLst>
              <a:ext uri="{FF2B5EF4-FFF2-40B4-BE49-F238E27FC236}">
                <a16:creationId xmlns:a16="http://schemas.microsoft.com/office/drawing/2014/main" id="{068CC61E-01B3-DEF8-1A06-BC2F944CE8A4}"/>
              </a:ext>
            </a:extLst>
          </p:cNvPr>
          <p:cNvSpPr txBox="1">
            <a:spLocks/>
          </p:cNvSpPr>
          <p:nvPr/>
        </p:nvSpPr>
        <p:spPr>
          <a:xfrm>
            <a:off x="115735" y="64032"/>
            <a:ext cx="4615498" cy="47695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Query Phase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A153D90E-A2E5-4404-AD68-B92944BEAE64}"/>
              </a:ext>
            </a:extLst>
          </p:cNvPr>
          <p:cNvSpPr/>
          <p:nvPr/>
        </p:nvSpPr>
        <p:spPr>
          <a:xfrm>
            <a:off x="2236659" y="829460"/>
            <a:ext cx="1022504" cy="189109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/>
              <a:t>Web App</a:t>
            </a:r>
            <a:endParaRPr lang="en-US" sz="1400" dirty="0"/>
          </a:p>
          <a:p>
            <a:pPr algn="ctr"/>
            <a:r>
              <a:rPr lang="en-US" sz="800" dirty="0"/>
              <a:t>(Front End)</a:t>
            </a:r>
          </a:p>
          <a:p>
            <a:pPr algn="ctr"/>
            <a:r>
              <a:rPr lang="en-US" sz="800" u="sng" dirty="0"/>
              <a:t>web/</a:t>
            </a:r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r>
              <a:rPr lang="en-US" sz="800" dirty="0"/>
              <a:t>📚 </a:t>
            </a:r>
            <a:r>
              <a:rPr lang="en-US" sz="800" b="1" u="sng" dirty="0"/>
              <a:t>Angular</a:t>
            </a:r>
            <a:endParaRPr lang="en-US" sz="800" dirty="0"/>
          </a:p>
          <a:p>
            <a:pPr algn="ctr"/>
            <a:r>
              <a:rPr lang="en-US" sz="800" dirty="0"/>
              <a:t>📚 </a:t>
            </a:r>
            <a:r>
              <a:rPr lang="en-US" sz="800" b="1" u="sng" dirty="0"/>
              <a:t>ngrx/signals</a:t>
            </a:r>
            <a:endParaRPr lang="en-US" sz="800" dirty="0"/>
          </a:p>
          <a:p>
            <a:pPr algn="ctr"/>
            <a:endParaRPr lang="en-US" sz="800" dirty="0"/>
          </a:p>
          <a:p>
            <a:pPr algn="ctr"/>
            <a:r>
              <a:rPr lang="en-US" sz="800" dirty="0"/>
              <a:t>Interacts with backend web services 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63A5CFC1-5969-1075-024E-14A656251337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1678180" y="1146642"/>
            <a:ext cx="552826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Flowchart: Off-page Connector 135">
            <a:extLst>
              <a:ext uri="{FF2B5EF4-FFF2-40B4-BE49-F238E27FC236}">
                <a16:creationId xmlns:a16="http://schemas.microsoft.com/office/drawing/2014/main" id="{A1B0BCD8-DCD6-7861-F57A-66F9A0626BD6}"/>
              </a:ext>
            </a:extLst>
          </p:cNvPr>
          <p:cNvSpPr/>
          <p:nvPr/>
        </p:nvSpPr>
        <p:spPr>
          <a:xfrm rot="16200000">
            <a:off x="4343854" y="916049"/>
            <a:ext cx="186884" cy="210161"/>
          </a:xfrm>
          <a:prstGeom prst="flowChartOffpageConnecto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F24B60-2905-0E09-E718-C84C2BFDB1B3}"/>
              </a:ext>
            </a:extLst>
          </p:cNvPr>
          <p:cNvSpPr/>
          <p:nvPr/>
        </p:nvSpPr>
        <p:spPr>
          <a:xfrm>
            <a:off x="3865914" y="746390"/>
            <a:ext cx="122599" cy="224887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HTTP</a:t>
            </a:r>
            <a:endParaRPr lang="en-US" sz="50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38DEB2BA-D85C-50E6-40BC-A6CD7A7ADEEE}"/>
              </a:ext>
            </a:extLst>
          </p:cNvPr>
          <p:cNvSpPr/>
          <p:nvPr/>
        </p:nvSpPr>
        <p:spPr>
          <a:xfrm>
            <a:off x="7673781" y="829460"/>
            <a:ext cx="1022504" cy="136759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/>
              <a:t>Presenter</a:t>
            </a:r>
            <a:endParaRPr lang="en-US" sz="1400" dirty="0"/>
          </a:p>
          <a:p>
            <a:pPr algn="ctr"/>
            <a:r>
              <a:rPr lang="en-US" sz="1100" u="sng" dirty="0"/>
              <a:t>app/presenter/</a:t>
            </a:r>
          </a:p>
          <a:p>
            <a:pPr algn="ctr"/>
            <a:endParaRPr lang="en-US" sz="800" dirty="0"/>
          </a:p>
          <a:p>
            <a:pPr algn="ctr"/>
            <a:r>
              <a:rPr lang="en-US" sz="800" dirty="0"/>
              <a:t>Formats any query result into proper format for display</a:t>
            </a:r>
          </a:p>
        </p:txBody>
      </p: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A6A16BBE-2B6E-7F70-B4BE-7034BADC2191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781341" y="2287715"/>
            <a:ext cx="1889186" cy="111953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7B9890BF-AA75-9B52-CA47-20B28D8B417A}"/>
              </a:ext>
            </a:extLst>
          </p:cNvPr>
          <p:cNvCxnSpPr>
            <a:cxnSpLocks/>
            <a:endCxn id="143" idx="1"/>
          </p:cNvCxnSpPr>
          <p:nvPr/>
        </p:nvCxnSpPr>
        <p:spPr>
          <a:xfrm>
            <a:off x="5781341" y="1513255"/>
            <a:ext cx="1892440" cy="1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Flowchart: Off-page Connector 153">
            <a:extLst>
              <a:ext uri="{FF2B5EF4-FFF2-40B4-BE49-F238E27FC236}">
                <a16:creationId xmlns:a16="http://schemas.microsoft.com/office/drawing/2014/main" id="{A3D4D619-1AF9-A9AD-A963-8280C6167FD0}"/>
              </a:ext>
            </a:extLst>
          </p:cNvPr>
          <p:cNvSpPr/>
          <p:nvPr/>
        </p:nvSpPr>
        <p:spPr>
          <a:xfrm rot="16200000">
            <a:off x="7427288" y="934318"/>
            <a:ext cx="186884" cy="210161"/>
          </a:xfrm>
          <a:prstGeom prst="flowChartOffpageConnecto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05832D6-FBC7-265D-705F-64A8EB21D9EC}"/>
              </a:ext>
            </a:extLst>
          </p:cNvPr>
          <p:cNvSpPr txBox="1"/>
          <p:nvPr/>
        </p:nvSpPr>
        <p:spPr>
          <a:xfrm>
            <a:off x="6187329" y="1297875"/>
            <a:ext cx="816496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dirty="0">
                <a:solidFill>
                  <a:srgbClr val="B17ED8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AnswerView</a:t>
            </a: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CFFBE3C2-AC0C-258A-4C4D-A6CFE921302D}"/>
              </a:ext>
            </a:extLst>
          </p:cNvPr>
          <p:cNvCxnSpPr>
            <a:cxnSpLocks/>
          </p:cNvCxnSpPr>
          <p:nvPr/>
        </p:nvCxnSpPr>
        <p:spPr>
          <a:xfrm flipH="1">
            <a:off x="8451201" y="2197051"/>
            <a:ext cx="1627" cy="384793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Rectangle 182">
            <a:extLst>
              <a:ext uri="{FF2B5EF4-FFF2-40B4-BE49-F238E27FC236}">
                <a16:creationId xmlns:a16="http://schemas.microsoft.com/office/drawing/2014/main" id="{D43E0C22-7646-FF2D-BCA6-8C88A2D3837F}"/>
              </a:ext>
            </a:extLst>
          </p:cNvPr>
          <p:cNvSpPr/>
          <p:nvPr/>
        </p:nvSpPr>
        <p:spPr>
          <a:xfrm>
            <a:off x="4684549" y="3098801"/>
            <a:ext cx="998858" cy="1276986"/>
          </a:xfrm>
          <a:prstGeom prst="rect">
            <a:avLst/>
          </a:prstGeom>
          <a:solidFill>
            <a:srgbClr val="F7A5A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t"/>
          <a:lstStyle/>
          <a:p>
            <a:pPr algn="ctr"/>
            <a:r>
              <a:rPr lang="en-US" sz="1100" dirty="0"/>
              <a:t>🛢️</a:t>
            </a:r>
            <a:r>
              <a:rPr lang="en-US" sz="900" b="1" dirty="0"/>
              <a:t> </a:t>
            </a:r>
            <a:r>
              <a:rPr lang="en-US" sz="1200" b="1" dirty="0"/>
              <a:t>DB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user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oauth_account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access_token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invite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conversation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job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job_trace</a:t>
            </a: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055BC9F6-8C0A-8440-8CB2-B3B3E5CAD35D}"/>
              </a:ext>
            </a:extLst>
          </p:cNvPr>
          <p:cNvCxnSpPr>
            <a:cxnSpLocks/>
            <a:stCxn id="8" idx="2"/>
            <a:endCxn id="183" idx="0"/>
          </p:cNvCxnSpPr>
          <p:nvPr/>
        </p:nvCxnSpPr>
        <p:spPr>
          <a:xfrm>
            <a:off x="5183978" y="2720551"/>
            <a:ext cx="0" cy="37825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737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26172</TotalTime>
  <Words>455</Words>
  <Application>Microsoft Office PowerPoint</Application>
  <PresentationFormat>Widescreen</PresentationFormat>
  <Paragraphs>173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Adobe Gothic Std B</vt:lpstr>
      <vt:lpstr>Arial</vt:lpstr>
      <vt:lpstr>Calibri</vt:lpstr>
      <vt:lpstr>Calibri Light</vt:lpstr>
      <vt:lpstr>Office Theme</vt:lpstr>
      <vt:lpstr>Priming Phase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Shaitani .</dc:creator>
  <cp:lastModifiedBy>Shaitani .</cp:lastModifiedBy>
  <cp:revision>37</cp:revision>
  <dcterms:created xsi:type="dcterms:W3CDTF">2026-08-29T16:39:18Z</dcterms:created>
  <dcterms:modified xsi:type="dcterms:W3CDTF">2026-09-27T23:45:25Z</dcterms:modified>
</cp:coreProperties>
</file>