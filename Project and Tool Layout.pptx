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17ED8"/>
    <a:srgbClr val="B0B0B0"/>
    <a:srgbClr val="F4B183"/>
    <a:srgbClr val="B4C7E7"/>
    <a:srgbClr val="F7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80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72">
            <a:extLst>
              <a:ext uri="{FF2B5EF4-FFF2-40B4-BE49-F238E27FC236}">
                <a16:creationId xmlns:a16="http://schemas.microsoft.com/office/drawing/2014/main" id="{1C37FB3A-8823-595A-E49C-1F3D559F712D}"/>
              </a:ext>
            </a:extLst>
          </p:cNvPr>
          <p:cNvSpPr/>
          <p:nvPr/>
        </p:nvSpPr>
        <p:spPr>
          <a:xfrm>
            <a:off x="3086994" y="770182"/>
            <a:ext cx="3492379" cy="16566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CFF54A-ABDC-829F-D38E-19DC6F0A6EAE}"/>
              </a:ext>
            </a:extLst>
          </p:cNvPr>
          <p:cNvSpPr/>
          <p:nvPr/>
        </p:nvSpPr>
        <p:spPr>
          <a:xfrm>
            <a:off x="7863629" y="2387353"/>
            <a:ext cx="1314542" cy="142696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AC8FDD-2CDB-1421-3C89-7271865A8AA6}"/>
              </a:ext>
            </a:extLst>
          </p:cNvPr>
          <p:cNvSpPr/>
          <p:nvPr/>
        </p:nvSpPr>
        <p:spPr>
          <a:xfrm>
            <a:off x="7863629" y="1169921"/>
            <a:ext cx="1314542" cy="9229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“dpage/pgadmin4”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7922822" y="2837706"/>
            <a:ext cx="1196156" cy="89568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PostgreSQL Server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1470850" y="805194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1498978" y="1953201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1498978" y="3548707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2059632" y="3314789"/>
            <a:ext cx="0" cy="233918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1498978" y="4286400"/>
            <a:ext cx="1121308" cy="9578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2059632" y="4097681"/>
            <a:ext cx="0" cy="188719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1525674" y="1973224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3475005" y="1003342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3501701" y="1023366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5104680" y="1003341"/>
            <a:ext cx="1256225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100" dirty="0"/>
          </a:p>
          <a:p>
            <a:pPr algn="ctr"/>
            <a:endParaRPr lang="en-US" sz="11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5131377" y="1032193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3"/>
            <a:endCxn id="24" idx="1"/>
          </p:cNvCxnSpPr>
          <p:nvPr/>
        </p:nvCxnSpPr>
        <p:spPr>
          <a:xfrm flipV="1">
            <a:off x="4731233" y="1654101"/>
            <a:ext cx="373447" cy="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3457217" y="2588048"/>
            <a:ext cx="1256227" cy="86221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Uses DB Models to create .py scripts to interact with the DB. </a:t>
            </a:r>
          </a:p>
          <a:p>
            <a:pPr algn="ctr"/>
            <a:endParaRPr lang="en-US" sz="700" i="1" dirty="0"/>
          </a:p>
          <a:p>
            <a:pPr algn="ctr"/>
            <a:r>
              <a:rPr lang="en-US" sz="700" i="1" dirty="0"/>
              <a:t>One .py script per revision of the table, so migrations are built in.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3483913" y="2608072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5085932" y="2588048"/>
            <a:ext cx="1257184" cy="86220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Python Scripts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</a:rPr>
              <a:t>📚 </a:t>
            </a:r>
            <a:r>
              <a:rPr lang="en-US" sz="1200" u="sng" dirty="0">
                <a:solidFill>
                  <a:schemeClr val="bg1"/>
                </a:solidFill>
              </a:rPr>
              <a:t>SQLAlchemy</a:t>
            </a:r>
          </a:p>
          <a:p>
            <a:pPr algn="ctr"/>
            <a:r>
              <a:rPr lang="en-US" sz="1100" i="1" dirty="0">
                <a:solidFill>
                  <a:schemeClr val="bg1"/>
                </a:solidFill>
              </a:rPr>
              <a:t>[Core features]</a:t>
            </a:r>
          </a:p>
          <a:p>
            <a:pPr algn="ctr"/>
            <a:endParaRPr lang="en-US" sz="900" dirty="0">
              <a:solidFill>
                <a:schemeClr val="bg1"/>
              </a:solidFill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= create empty tables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3"/>
            <a:endCxn id="39" idx="1"/>
          </p:cNvCxnSpPr>
          <p:nvPr/>
        </p:nvCxnSpPr>
        <p:spPr>
          <a:xfrm flipV="1">
            <a:off x="4713444" y="3019153"/>
            <a:ext cx="372488" cy="1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2620286" y="4512140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3457215" y="3901879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[Core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Pydantic schemas to </a:t>
            </a:r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3483912" y="3921902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940374" y="3901879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6343116" y="3019153"/>
            <a:ext cx="1370627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4847992" y="909312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3218316" y="889750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3223729" y="247445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779944" y="2571623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3199057" y="378762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7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1257268" y="1839608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6632947" y="2828520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7922822" y="763872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5085932" y="3450258"/>
            <a:ext cx="1249962" cy="118721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940374" y="5299724"/>
            <a:ext cx="1454713" cy="135515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data manip. language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0430F05-8A2C-8D80-2161-C4CC2231EF01}"/>
              </a:ext>
            </a:extLst>
          </p:cNvPr>
          <p:cNvSpPr/>
          <p:nvPr/>
        </p:nvSpPr>
        <p:spPr>
          <a:xfrm>
            <a:off x="7923700" y="1550365"/>
            <a:ext cx="1196156" cy="50058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200" dirty="0"/>
              <a:t>DB Web Viewer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</a:t>
            </a:r>
            <a:endParaRPr lang="en-US" sz="1100" dirty="0"/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1CFC8EC-97A6-89F7-7896-FC2523FC381B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8520900" y="2092872"/>
            <a:ext cx="0" cy="29448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1F4102F-EE91-ED5F-D7CB-CA4F588BB5A7}"/>
              </a:ext>
            </a:extLst>
          </p:cNvPr>
          <p:cNvSpPr/>
          <p:nvPr/>
        </p:nvSpPr>
        <p:spPr>
          <a:xfrm>
            <a:off x="8055206" y="3397261"/>
            <a:ext cx="931388" cy="2069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pg-vector</a:t>
            </a:r>
          </a:p>
        </p:txBody>
      </p:sp>
      <p:sp>
        <p:nvSpPr>
          <p:cNvPr id="37" name="Flowchart: Off-page Connector 36">
            <a:extLst>
              <a:ext uri="{FF2B5EF4-FFF2-40B4-BE49-F238E27FC236}">
                <a16:creationId xmlns:a16="http://schemas.microsoft.com/office/drawing/2014/main" id="{A1051958-E2DE-29E1-E221-338CBEA4536B}"/>
              </a:ext>
            </a:extLst>
          </p:cNvPr>
          <p:cNvSpPr/>
          <p:nvPr/>
        </p:nvSpPr>
        <p:spPr>
          <a:xfrm rot="16200000">
            <a:off x="7621979" y="104978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38" name="Flowchart: Off-page Connector 37">
            <a:extLst>
              <a:ext uri="{FF2B5EF4-FFF2-40B4-BE49-F238E27FC236}">
                <a16:creationId xmlns:a16="http://schemas.microsoft.com/office/drawing/2014/main" id="{82D3151C-F370-4949-4E46-2EFDE6393040}"/>
              </a:ext>
            </a:extLst>
          </p:cNvPr>
          <p:cNvSpPr/>
          <p:nvPr/>
        </p:nvSpPr>
        <p:spPr>
          <a:xfrm rot="16200000">
            <a:off x="7621979" y="259693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3D0089-C192-CA16-D91B-29EDF91F0A0B}"/>
              </a:ext>
            </a:extLst>
          </p:cNvPr>
          <p:cNvSpPr/>
          <p:nvPr/>
        </p:nvSpPr>
        <p:spPr>
          <a:xfrm>
            <a:off x="7863629" y="3862711"/>
            <a:ext cx="1314542" cy="7406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7C3EA7-BCBD-F703-4C04-1F10B55FC777}"/>
              </a:ext>
            </a:extLst>
          </p:cNvPr>
          <p:cNvSpPr/>
          <p:nvPr/>
        </p:nvSpPr>
        <p:spPr>
          <a:xfrm>
            <a:off x="7922822" y="4199114"/>
            <a:ext cx="1196156" cy="35606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050" b="1" dirty="0"/>
              <a:t>Test</a:t>
            </a:r>
            <a:r>
              <a:rPr lang="en-US" sz="900" dirty="0"/>
              <a:t> PostgreSQL Server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814015-7DE2-E6CF-83DF-F2CFE2A7AB61}"/>
              </a:ext>
            </a:extLst>
          </p:cNvPr>
          <p:cNvSpPr/>
          <p:nvPr/>
        </p:nvSpPr>
        <p:spPr>
          <a:xfrm>
            <a:off x="8130516" y="4381647"/>
            <a:ext cx="780768" cy="1495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800" dirty="0"/>
              <a:t>📚 </a:t>
            </a:r>
            <a:r>
              <a:rPr lang="en-US" sz="800" b="1" u="sng" dirty="0"/>
              <a:t>pg-vector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E4815B-12EB-5B81-7205-419D7DA693D5}"/>
              </a:ext>
            </a:extLst>
          </p:cNvPr>
          <p:cNvSpPr/>
          <p:nvPr/>
        </p:nvSpPr>
        <p:spPr>
          <a:xfrm>
            <a:off x="9583707" y="2606088"/>
            <a:ext cx="993676" cy="7406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On disk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C8943CF-9BDA-943E-7ABF-BA2E147A52A4}"/>
              </a:ext>
            </a:extLst>
          </p:cNvPr>
          <p:cNvGrpSpPr/>
          <p:nvPr/>
        </p:nvGrpSpPr>
        <p:grpSpPr>
          <a:xfrm>
            <a:off x="9746702" y="2858508"/>
            <a:ext cx="680794" cy="433282"/>
            <a:chOff x="8227377" y="3019807"/>
            <a:chExt cx="680794" cy="785917"/>
          </a:xfrm>
        </p:grpSpPr>
        <p:sp>
          <p:nvSpPr>
            <p:cNvPr id="21" name="Flowchart: Magnetic Disk 20">
              <a:extLst>
                <a:ext uri="{FF2B5EF4-FFF2-40B4-BE49-F238E27FC236}">
                  <a16:creationId xmlns:a16="http://schemas.microsoft.com/office/drawing/2014/main" id="{D916B6ED-0FC3-F870-6017-EB076408A9BA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lowchart: Magnetic Disk 24">
              <a:extLst>
                <a:ext uri="{FF2B5EF4-FFF2-40B4-BE49-F238E27FC236}">
                  <a16:creationId xmlns:a16="http://schemas.microsoft.com/office/drawing/2014/main" id="{CF8DF804-5F62-9364-1A0F-B5B8FB9D3AE2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lowchart: Magnetic Disk 28">
              <a:extLst>
                <a:ext uri="{FF2B5EF4-FFF2-40B4-BE49-F238E27FC236}">
                  <a16:creationId xmlns:a16="http://schemas.microsoft.com/office/drawing/2014/main" id="{A8A091E6-56B1-41BE-00E9-F708DF430EB6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4D0FA54-77BE-D97F-B793-0D61F01A3D24}"/>
              </a:ext>
            </a:extLst>
          </p:cNvPr>
          <p:cNvCxnSpPr>
            <a:cxnSpLocks/>
          </p:cNvCxnSpPr>
          <p:nvPr/>
        </p:nvCxnSpPr>
        <p:spPr>
          <a:xfrm>
            <a:off x="9118978" y="309824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4E17B-8006-1E54-EA84-DCC843A8BAA2}"/>
              </a:ext>
            </a:extLst>
          </p:cNvPr>
          <p:cNvSpPr/>
          <p:nvPr/>
        </p:nvSpPr>
        <p:spPr>
          <a:xfrm>
            <a:off x="7863629" y="4774943"/>
            <a:ext cx="1314542" cy="190445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4279042-094F-6602-009C-0DF3E4513282}"/>
              </a:ext>
            </a:extLst>
          </p:cNvPr>
          <p:cNvSpPr/>
          <p:nvPr/>
        </p:nvSpPr>
        <p:spPr>
          <a:xfrm>
            <a:off x="7922822" y="5225297"/>
            <a:ext cx="1196156" cy="13919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77C000F-3064-393F-A13D-62223B40936B}"/>
              </a:ext>
            </a:extLst>
          </p:cNvPr>
          <p:cNvSpPr/>
          <p:nvPr/>
        </p:nvSpPr>
        <p:spPr>
          <a:xfrm>
            <a:off x="7995594" y="5553355"/>
            <a:ext cx="1050612" cy="33613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nomic-embed-text-v1.5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5663D04-32E6-5B27-2015-8CEE4F7B89B4}"/>
              </a:ext>
            </a:extLst>
          </p:cNvPr>
          <p:cNvSpPr/>
          <p:nvPr/>
        </p:nvSpPr>
        <p:spPr>
          <a:xfrm>
            <a:off x="3457215" y="5531931"/>
            <a:ext cx="2937872" cy="72811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Embedder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Ollama</a:t>
            </a:r>
            <a:r>
              <a:rPr lang="en-US" sz="1100" dirty="0"/>
              <a:t>  📚 </a:t>
            </a:r>
            <a:r>
              <a:rPr lang="en-US" sz="1100" b="1" u="sng" dirty="0"/>
              <a:t>SQLAlchemy</a:t>
            </a:r>
            <a:r>
              <a:rPr lang="en-US" sz="1100" u="sng" dirty="0"/>
              <a:t> </a:t>
            </a:r>
            <a:endParaRPr lang="en-US" u="sng" dirty="0"/>
          </a:p>
          <a:p>
            <a:pPr algn="ctr"/>
            <a:endParaRPr lang="en-US" sz="100" dirty="0"/>
          </a:p>
          <a:p>
            <a:pPr algn="ctr"/>
            <a:r>
              <a:rPr lang="en-US" sz="800" dirty="0"/>
              <a:t>= Inserts vector representations for desired rows in database </a:t>
            </a:r>
          </a:p>
          <a:p>
            <a:pPr algn="ctr"/>
            <a:r>
              <a:rPr lang="en-US" sz="800" dirty="0"/>
              <a:t>using chosen embedding model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1C9CCAC-37F8-DC7C-4604-D6711AF5E90B}"/>
              </a:ext>
            </a:extLst>
          </p:cNvPr>
          <p:cNvSpPr/>
          <p:nvPr/>
        </p:nvSpPr>
        <p:spPr>
          <a:xfrm>
            <a:off x="3483911" y="5551954"/>
            <a:ext cx="393792" cy="10132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2C56A1-944F-954F-2B8C-35C033490727}"/>
              </a:ext>
            </a:extLst>
          </p:cNvPr>
          <p:cNvSpPr/>
          <p:nvPr/>
        </p:nvSpPr>
        <p:spPr>
          <a:xfrm>
            <a:off x="7713743" y="2837708"/>
            <a:ext cx="202062" cy="895686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asyncpg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1ABD79-5421-CDF6-AB3A-BE283788495B}"/>
              </a:ext>
            </a:extLst>
          </p:cNvPr>
          <p:cNvCxnSpPr>
            <a:cxnSpLocks/>
          </p:cNvCxnSpPr>
          <p:nvPr/>
        </p:nvCxnSpPr>
        <p:spPr>
          <a:xfrm flipV="1">
            <a:off x="6395087" y="3151258"/>
            <a:ext cx="1318656" cy="1318793"/>
          </a:xfrm>
          <a:prstGeom prst="bentConnector3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11751A89-E551-A2BD-9E1D-6EBB198937B5}"/>
              </a:ext>
            </a:extLst>
          </p:cNvPr>
          <p:cNvCxnSpPr>
            <a:cxnSpLocks/>
          </p:cNvCxnSpPr>
          <p:nvPr/>
        </p:nvCxnSpPr>
        <p:spPr>
          <a:xfrm flipV="1">
            <a:off x="6395087" y="3303468"/>
            <a:ext cx="1318656" cy="2312605"/>
          </a:xfrm>
          <a:prstGeom prst="bentConnector3">
            <a:avLst>
              <a:gd name="adj1" fmla="val 59906"/>
            </a:avLst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0E25E5C5-8A27-B764-B166-E43986428E9E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6395087" y="5721422"/>
            <a:ext cx="1600507" cy="0"/>
          </a:xfrm>
          <a:prstGeom prst="line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AB55712-B2D3-23FC-BFC7-359CEB972480}"/>
              </a:ext>
            </a:extLst>
          </p:cNvPr>
          <p:cNvSpPr/>
          <p:nvPr/>
        </p:nvSpPr>
        <p:spPr>
          <a:xfrm>
            <a:off x="7995594" y="5955153"/>
            <a:ext cx="1050612" cy="6111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</a:t>
            </a:r>
          </a:p>
        </p:txBody>
      </p:sp>
      <p:sp>
        <p:nvSpPr>
          <p:cNvPr id="131" name="Flowchart: Off-page Connector 130">
            <a:extLst>
              <a:ext uri="{FF2B5EF4-FFF2-40B4-BE49-F238E27FC236}">
                <a16:creationId xmlns:a16="http://schemas.microsoft.com/office/drawing/2014/main" id="{8DB5FFE1-B20F-BC4A-F98A-1DB0CDA11B3B}"/>
              </a:ext>
            </a:extLst>
          </p:cNvPr>
          <p:cNvSpPr/>
          <p:nvPr/>
        </p:nvSpPr>
        <p:spPr>
          <a:xfrm rot="16200000">
            <a:off x="3199057" y="540249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8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9E492C8C-E2EB-4DCC-8FC4-C53AECC1962C}"/>
              </a:ext>
            </a:extLst>
          </p:cNvPr>
          <p:cNvSpPr/>
          <p:nvPr/>
        </p:nvSpPr>
        <p:spPr>
          <a:xfrm>
            <a:off x="9583707" y="5769777"/>
            <a:ext cx="993676" cy="7965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Host GPU</a:t>
            </a:r>
          </a:p>
        </p:txBody>
      </p: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0F362DED-BF34-5AF8-243D-B31EC86503E7}"/>
              </a:ext>
            </a:extLst>
          </p:cNvPr>
          <p:cNvCxnSpPr>
            <a:cxnSpLocks/>
          </p:cNvCxnSpPr>
          <p:nvPr/>
        </p:nvCxnSpPr>
        <p:spPr>
          <a:xfrm>
            <a:off x="9118978" y="626193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4" name="Picture 2" descr="Gpu - Free computer icons">
            <a:extLst>
              <a:ext uri="{FF2B5EF4-FFF2-40B4-BE49-F238E27FC236}">
                <a16:creationId xmlns:a16="http://schemas.microsoft.com/office/drawing/2014/main" id="{720321CC-3759-1DB6-FCD7-CF1E417DC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1515" y="5955153"/>
            <a:ext cx="591168" cy="591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" name="Title 1024">
            <a:extLst>
              <a:ext uri="{FF2B5EF4-FFF2-40B4-BE49-F238E27FC236}">
                <a16:creationId xmlns:a16="http://schemas.microsoft.com/office/drawing/2014/main" id="{D6F6158F-D78B-7FB3-5885-9E394282A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735" y="64032"/>
            <a:ext cx="4615498" cy="476956"/>
          </a:xfrm>
        </p:spPr>
        <p:txBody>
          <a:bodyPr anchor="t">
            <a:noAutofit/>
          </a:bodyPr>
          <a:lstStyle/>
          <a:p>
            <a:r>
              <a:rPr lang="en-US" sz="4000" dirty="0"/>
              <a:t>Priming Phase</a:t>
            </a:r>
          </a:p>
        </p:txBody>
      </p: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E0EE-A8BD-8F30-7418-87BB25146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AEE394A-9CF7-8092-C774-EE074321C810}"/>
              </a:ext>
            </a:extLst>
          </p:cNvPr>
          <p:cNvSpPr/>
          <p:nvPr/>
        </p:nvSpPr>
        <p:spPr>
          <a:xfrm>
            <a:off x="4363385" y="4022191"/>
            <a:ext cx="1054194" cy="16508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b"/>
          <a:lstStyle/>
          <a:p>
            <a:pPr algn="ctr"/>
            <a:r>
              <a:rPr lang="en-US" sz="900" b="1" dirty="0"/>
              <a:t>🐳</a:t>
            </a:r>
          </a:p>
          <a:p>
            <a:pPr algn="ctr"/>
            <a:endParaRPr lang="en-US" sz="200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B9CE4D-708B-E48E-981B-EFC68A40D09E}"/>
              </a:ext>
            </a:extLst>
          </p:cNvPr>
          <p:cNvSpPr/>
          <p:nvPr/>
        </p:nvSpPr>
        <p:spPr>
          <a:xfrm>
            <a:off x="3991324" y="1019045"/>
            <a:ext cx="3582830" cy="25250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“python:3.13-slim”</a:t>
            </a:r>
          </a:p>
          <a:p>
            <a:pPr algn="ctr"/>
            <a:endParaRPr lang="en-US" sz="200" i="1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620D2BF-387D-D4BF-5090-B9D7F5E1A177}"/>
              </a:ext>
            </a:extLst>
          </p:cNvPr>
          <p:cNvSpPr/>
          <p:nvPr/>
        </p:nvSpPr>
        <p:spPr>
          <a:xfrm>
            <a:off x="6393311" y="4022195"/>
            <a:ext cx="4028187" cy="16508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b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  <a:p>
            <a:pPr algn="ctr"/>
            <a:endParaRPr lang="en-US" sz="200" i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3B161CA-3951-5003-8932-A211335401FC}"/>
              </a:ext>
            </a:extLst>
          </p:cNvPr>
          <p:cNvSpPr/>
          <p:nvPr/>
        </p:nvSpPr>
        <p:spPr>
          <a:xfrm>
            <a:off x="6452504" y="4070264"/>
            <a:ext cx="3714012" cy="124927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62CBA80-95B2-D658-D869-139D92552C8F}"/>
              </a:ext>
            </a:extLst>
          </p:cNvPr>
          <p:cNvSpPr/>
          <p:nvPr/>
        </p:nvSpPr>
        <p:spPr>
          <a:xfrm>
            <a:off x="7772580" y="4070263"/>
            <a:ext cx="1020305" cy="102006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dirty="0"/>
              <a:t>Embedding Model</a:t>
            </a:r>
            <a:endParaRPr lang="en-US" sz="900" b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</a:t>
            </a:r>
          </a:p>
          <a:p>
            <a:pPr algn="ctr"/>
            <a:r>
              <a:rPr lang="en-US" sz="900" b="1" u="sng" dirty="0"/>
              <a:t>text-v1.5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09F7108-FF93-609D-A945-2510E83DD8FF}"/>
              </a:ext>
            </a:extLst>
          </p:cNvPr>
          <p:cNvSpPr/>
          <p:nvPr/>
        </p:nvSpPr>
        <p:spPr>
          <a:xfrm>
            <a:off x="8874980" y="4070261"/>
            <a:ext cx="1222081" cy="102006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D6A0B9-4705-2CEA-1EC6-D1806A8968BE}"/>
              </a:ext>
            </a:extLst>
          </p:cNvPr>
          <p:cNvSpPr/>
          <p:nvPr/>
        </p:nvSpPr>
        <p:spPr>
          <a:xfrm>
            <a:off x="10166516" y="4070265"/>
            <a:ext cx="202062" cy="1249274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httpx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7B6516-346C-8990-ACB5-79355B120195}"/>
              </a:ext>
            </a:extLst>
          </p:cNvPr>
          <p:cNvSpPr/>
          <p:nvPr/>
        </p:nvSpPr>
        <p:spPr>
          <a:xfrm>
            <a:off x="562127" y="2634336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Input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B002BE-836F-8408-1F21-4AD91EC21A2B}"/>
              </a:ext>
            </a:extLst>
          </p:cNvPr>
          <p:cNvSpPr/>
          <p:nvPr/>
        </p:nvSpPr>
        <p:spPr>
          <a:xfrm>
            <a:off x="562127" y="1493262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Display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823C645-2515-192B-C854-507A34F34D39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1678180" y="2835021"/>
            <a:ext cx="5528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27F5B4B-693B-6867-1F64-A4FD871C749E}"/>
              </a:ext>
            </a:extLst>
          </p:cNvPr>
          <p:cNvCxnSpPr>
            <a:cxnSpLocks/>
            <a:endCxn id="143" idx="2"/>
          </p:cNvCxnSpPr>
          <p:nvPr/>
        </p:nvCxnSpPr>
        <p:spPr>
          <a:xfrm flipH="1" flipV="1">
            <a:off x="6948754" y="3473508"/>
            <a:ext cx="7718" cy="54507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A1207485-D60E-FB2A-3919-B3EDA31AD605}"/>
              </a:ext>
            </a:extLst>
          </p:cNvPr>
          <p:cNvSpPr/>
          <p:nvPr/>
        </p:nvSpPr>
        <p:spPr>
          <a:xfrm>
            <a:off x="6522912" y="4070262"/>
            <a:ext cx="1167573" cy="102007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Parser LLM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sp>
        <p:nvSpPr>
          <p:cNvPr id="117" name="Flowchart: Off-page Connector 116">
            <a:extLst>
              <a:ext uri="{FF2B5EF4-FFF2-40B4-BE49-F238E27FC236}">
                <a16:creationId xmlns:a16="http://schemas.microsoft.com/office/drawing/2014/main" id="{D7C4B127-ED58-CB38-3043-477F8C136243}"/>
              </a:ext>
            </a:extLst>
          </p:cNvPr>
          <p:cNvSpPr/>
          <p:nvPr/>
        </p:nvSpPr>
        <p:spPr>
          <a:xfrm rot="16200000">
            <a:off x="1998780" y="2541246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18" name="Flowchart: Off-page Connector 117">
            <a:extLst>
              <a:ext uri="{FF2B5EF4-FFF2-40B4-BE49-F238E27FC236}">
                <a16:creationId xmlns:a16="http://schemas.microsoft.com/office/drawing/2014/main" id="{CC198E2C-579D-69D7-7BE8-AD75D8EE4092}"/>
              </a:ext>
            </a:extLst>
          </p:cNvPr>
          <p:cNvSpPr/>
          <p:nvPr/>
        </p:nvSpPr>
        <p:spPr>
          <a:xfrm rot="16200000">
            <a:off x="4062433" y="2490177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23" name="Flowchart: Off-page Connector 122">
            <a:extLst>
              <a:ext uri="{FF2B5EF4-FFF2-40B4-BE49-F238E27FC236}">
                <a16:creationId xmlns:a16="http://schemas.microsoft.com/office/drawing/2014/main" id="{9BEDBC72-BA05-EBD9-A868-CF9DCC0AD9A0}"/>
              </a:ext>
            </a:extLst>
          </p:cNvPr>
          <p:cNvSpPr/>
          <p:nvPr/>
        </p:nvSpPr>
        <p:spPr>
          <a:xfrm rot="16200000">
            <a:off x="1983719" y="1415231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25" name="Title 1024">
            <a:extLst>
              <a:ext uri="{FF2B5EF4-FFF2-40B4-BE49-F238E27FC236}">
                <a16:creationId xmlns:a16="http://schemas.microsoft.com/office/drawing/2014/main" id="{068CC61E-01B3-DEF8-1A06-BC2F944CE8A4}"/>
              </a:ext>
            </a:extLst>
          </p:cNvPr>
          <p:cNvSpPr txBox="1">
            <a:spLocks/>
          </p:cNvSpPr>
          <p:nvPr/>
        </p:nvSpPr>
        <p:spPr>
          <a:xfrm>
            <a:off x="115734" y="64032"/>
            <a:ext cx="5103687" cy="47695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Query Phase (Web App)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153D90E-A2E5-4404-AD68-B92944BEAE64}"/>
              </a:ext>
            </a:extLst>
          </p:cNvPr>
          <p:cNvSpPr/>
          <p:nvPr/>
        </p:nvSpPr>
        <p:spPr>
          <a:xfrm>
            <a:off x="2236659" y="1376765"/>
            <a:ext cx="1022504" cy="2096746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Web Client</a:t>
            </a:r>
            <a:endParaRPr lang="en-US" sz="1400" dirty="0"/>
          </a:p>
          <a:p>
            <a:pPr algn="ctr"/>
            <a:r>
              <a:rPr lang="en-US" sz="800" u="sng" dirty="0"/>
              <a:t>web/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Angular 22</a:t>
            </a:r>
            <a:endParaRPr lang="en-US" sz="800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ngrx/signals</a:t>
            </a:r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ng-apexcharts </a:t>
            </a:r>
            <a:br>
              <a:rPr lang="en-US" sz="800" b="1" u="sng" dirty="0"/>
            </a:br>
            <a:endParaRPr lang="en-US" sz="8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Interacts user with the web services </a:t>
            </a: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63A5CFC1-5969-1075-024E-14A656251337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1678180" y="1693947"/>
            <a:ext cx="5528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Flowchart: Off-page Connector 135">
            <a:extLst>
              <a:ext uri="{FF2B5EF4-FFF2-40B4-BE49-F238E27FC236}">
                <a16:creationId xmlns:a16="http://schemas.microsoft.com/office/drawing/2014/main" id="{A1B0BCD8-DCD6-7861-F57A-66F9A0626BD6}"/>
              </a:ext>
            </a:extLst>
          </p:cNvPr>
          <p:cNvSpPr/>
          <p:nvPr/>
        </p:nvSpPr>
        <p:spPr>
          <a:xfrm rot="16200000">
            <a:off x="4045019" y="1369910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38DEB2BA-D85C-50E6-40BC-A6CD7A7ADEEE}"/>
              </a:ext>
            </a:extLst>
          </p:cNvPr>
          <p:cNvSpPr/>
          <p:nvPr/>
        </p:nvSpPr>
        <p:spPr>
          <a:xfrm>
            <a:off x="6393311" y="1376765"/>
            <a:ext cx="1110885" cy="2096743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Query Pipeline</a:t>
            </a:r>
            <a:endParaRPr lang="en-US" sz="14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Takes a query string and produces an answer meant to be returned to the user</a:t>
            </a:r>
          </a:p>
          <a:p>
            <a:pPr algn="ctr"/>
            <a:endParaRPr lang="en-US" sz="800" dirty="0"/>
          </a:p>
          <a:p>
            <a:pPr algn="ctr"/>
            <a:endParaRPr lang="en-US" sz="800" dirty="0"/>
          </a:p>
          <a:p>
            <a:pPr algn="ctr"/>
            <a:endParaRPr lang="en-US" sz="800" dirty="0"/>
          </a:p>
          <a:p>
            <a:pPr algn="ctr"/>
            <a:endParaRPr lang="en-US" sz="800" dirty="0"/>
          </a:p>
        </p:txBody>
      </p:sp>
      <p:sp>
        <p:nvSpPr>
          <p:cNvPr id="154" name="Flowchart: Off-page Connector 153">
            <a:extLst>
              <a:ext uri="{FF2B5EF4-FFF2-40B4-BE49-F238E27FC236}">
                <a16:creationId xmlns:a16="http://schemas.microsoft.com/office/drawing/2014/main" id="{A3D4D619-1AF9-A9AD-A963-8280C6167FD0}"/>
              </a:ext>
            </a:extLst>
          </p:cNvPr>
          <p:cNvSpPr/>
          <p:nvPr/>
        </p:nvSpPr>
        <p:spPr>
          <a:xfrm rot="16200000">
            <a:off x="6472356" y="1369911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505832D6-FBC7-265D-705F-64A8EB21D9EC}"/>
              </a:ext>
            </a:extLst>
          </p:cNvPr>
          <p:cNvSpPr txBox="1"/>
          <p:nvPr/>
        </p:nvSpPr>
        <p:spPr>
          <a:xfrm>
            <a:off x="5644221" y="1724493"/>
            <a:ext cx="81649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Outcome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D43E0C22-7646-FF2D-BCA6-8C88A2D3837F}"/>
              </a:ext>
            </a:extLst>
          </p:cNvPr>
          <p:cNvSpPr/>
          <p:nvPr/>
        </p:nvSpPr>
        <p:spPr>
          <a:xfrm>
            <a:off x="4392218" y="4070261"/>
            <a:ext cx="998858" cy="1410974"/>
          </a:xfrm>
          <a:prstGeom prst="rect">
            <a:avLst/>
          </a:prstGeom>
          <a:solidFill>
            <a:srgbClr val="F4B18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0" bIns="0" rtlCol="0" anchor="t"/>
          <a:lstStyle/>
          <a:p>
            <a:pPr algn="ctr"/>
            <a:r>
              <a:rPr lang="en-US" sz="1100" dirty="0"/>
              <a:t>🛢️</a:t>
            </a:r>
            <a:r>
              <a:rPr lang="en-US" sz="900" b="1" dirty="0"/>
              <a:t> </a:t>
            </a:r>
            <a:r>
              <a:rPr lang="en-US" sz="1200" b="1" dirty="0"/>
              <a:t>DB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user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oauth_account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access_token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invite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conversation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job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job_trace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FB64D13-631E-C589-C4ED-A89D01281540}"/>
              </a:ext>
            </a:extLst>
          </p:cNvPr>
          <p:cNvSpPr txBox="1"/>
          <p:nvPr/>
        </p:nvSpPr>
        <p:spPr>
          <a:xfrm>
            <a:off x="5565437" y="2634336"/>
            <a:ext cx="737772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query string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A941F4F-B015-3346-7BDB-4BC9B9B87C6A}"/>
              </a:ext>
            </a:extLst>
          </p:cNvPr>
          <p:cNvSpPr/>
          <p:nvPr/>
        </p:nvSpPr>
        <p:spPr>
          <a:xfrm>
            <a:off x="4285400" y="1376765"/>
            <a:ext cx="1194727" cy="210035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Web Server</a:t>
            </a:r>
            <a:endParaRPr lang="en-US" sz="1400" dirty="0"/>
          </a:p>
          <a:p>
            <a:pPr algn="ctr"/>
            <a:r>
              <a:rPr lang="en-US" sz="1100" u="sng" dirty="0"/>
              <a:t>app/api/</a:t>
            </a:r>
          </a:p>
          <a:p>
            <a:pPr algn="ctr"/>
            <a:endParaRPr lang="en-US" sz="1100" u="sng" dirty="0"/>
          </a:p>
          <a:p>
            <a:pPr algn="ctr"/>
            <a:r>
              <a:rPr lang="en-US" sz="800" dirty="0"/>
              <a:t>📚</a:t>
            </a:r>
            <a:r>
              <a:rPr lang="en-US" sz="1100" dirty="0"/>
              <a:t> </a:t>
            </a:r>
            <a:r>
              <a:rPr lang="en-US" sz="800" b="1" u="sng" dirty="0"/>
              <a:t>uvicorn</a:t>
            </a:r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FastAPI </a:t>
            </a:r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FastAPI Users</a:t>
            </a:r>
          </a:p>
          <a:p>
            <a:pPr algn="ctr"/>
            <a:r>
              <a:rPr lang="en-US" sz="800" dirty="0"/>
              <a:t>📚</a:t>
            </a:r>
            <a:r>
              <a:rPr lang="en-US" sz="800" b="1" u="sng" dirty="0"/>
              <a:t>openapi-typescript</a:t>
            </a:r>
          </a:p>
          <a:p>
            <a:pPr algn="ctr"/>
            <a:r>
              <a:rPr lang="en-US" sz="800" b="1" dirty="0"/>
              <a:t> </a:t>
            </a:r>
            <a:r>
              <a:rPr lang="en-US" sz="800" dirty="0"/>
              <a:t>📚 </a:t>
            </a:r>
            <a:r>
              <a:rPr lang="en-US" sz="800" b="1" u="sng" dirty="0"/>
              <a:t>httpx-oauth</a:t>
            </a:r>
          </a:p>
          <a:p>
            <a:pPr algn="ctr"/>
            <a:endParaRPr lang="en-US" sz="8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Exposes REST API services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7B9890BF-AA75-9B52-CA47-20B28D8B417A}"/>
              </a:ext>
            </a:extLst>
          </p:cNvPr>
          <p:cNvCxnSpPr>
            <a:cxnSpLocks/>
          </p:cNvCxnSpPr>
          <p:nvPr/>
        </p:nvCxnSpPr>
        <p:spPr>
          <a:xfrm>
            <a:off x="5476394" y="1906884"/>
            <a:ext cx="916917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055BC9F6-8C0A-8440-8CB2-B3B3E5CAD35D}"/>
              </a:ext>
            </a:extLst>
          </p:cNvPr>
          <p:cNvCxnSpPr>
            <a:cxnSpLocks/>
            <a:stCxn id="72" idx="2"/>
            <a:endCxn id="16" idx="0"/>
          </p:cNvCxnSpPr>
          <p:nvPr/>
        </p:nvCxnSpPr>
        <p:spPr>
          <a:xfrm>
            <a:off x="4882764" y="3477117"/>
            <a:ext cx="7718" cy="54507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89F1476-8289-F0DD-9B6E-4A04F3B111E0}"/>
              </a:ext>
            </a:extLst>
          </p:cNvPr>
          <p:cNvCxnSpPr>
            <a:cxnSpLocks/>
          </p:cNvCxnSpPr>
          <p:nvPr/>
        </p:nvCxnSpPr>
        <p:spPr>
          <a:xfrm flipH="1">
            <a:off x="3259163" y="2835020"/>
            <a:ext cx="1016852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76C400E-DE7F-DE8B-23CD-DE4F9C59641B}"/>
              </a:ext>
            </a:extLst>
          </p:cNvPr>
          <p:cNvCxnSpPr>
            <a:cxnSpLocks/>
          </p:cNvCxnSpPr>
          <p:nvPr/>
        </p:nvCxnSpPr>
        <p:spPr>
          <a:xfrm>
            <a:off x="3260789" y="1693947"/>
            <a:ext cx="10152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20F24B60-2905-0E09-E718-C84C2BFDB1B3}"/>
              </a:ext>
            </a:extLst>
          </p:cNvPr>
          <p:cNvSpPr/>
          <p:nvPr/>
        </p:nvSpPr>
        <p:spPr>
          <a:xfrm>
            <a:off x="3591753" y="1376765"/>
            <a:ext cx="131182" cy="2096745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/>
              <a:t>HTTP</a:t>
            </a:r>
            <a:endParaRPr lang="en-US" sz="5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E1018F5-4A75-6D58-6DB4-E7F753803B71}"/>
              </a:ext>
            </a:extLst>
          </p:cNvPr>
          <p:cNvGrpSpPr/>
          <p:nvPr/>
        </p:nvGrpSpPr>
        <p:grpSpPr>
          <a:xfrm>
            <a:off x="8000203" y="1376765"/>
            <a:ext cx="780332" cy="424557"/>
            <a:chOff x="8977718" y="4467817"/>
            <a:chExt cx="780332" cy="424557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6555E47-F4F0-E310-C381-EBE0E8A67088}"/>
                </a:ext>
              </a:extLst>
            </p:cNvPr>
            <p:cNvSpPr/>
            <p:nvPr/>
          </p:nvSpPr>
          <p:spPr>
            <a:xfrm>
              <a:off x="8977718" y="4467817"/>
              <a:ext cx="780332" cy="42455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5720" rIns="0" bIns="0" rtlCol="0" anchor="ctr"/>
            <a:lstStyle/>
            <a:p>
              <a:r>
                <a:rPr lang="en-US" sz="900" b="1" dirty="0"/>
                <a:t>🐳</a:t>
              </a:r>
            </a:p>
            <a:p>
              <a:pPr algn="ctr"/>
              <a:endParaRPr lang="en-US" sz="200" i="1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EF93897-39CC-878E-B9D7-F294A939278E}"/>
                </a:ext>
              </a:extLst>
            </p:cNvPr>
            <p:cNvSpPr/>
            <p:nvPr/>
          </p:nvSpPr>
          <p:spPr>
            <a:xfrm>
              <a:off x="9154560" y="4493215"/>
              <a:ext cx="579731" cy="372461"/>
            </a:xfrm>
            <a:prstGeom prst="rect">
              <a:avLst/>
            </a:prstGeom>
            <a:solidFill>
              <a:srgbClr val="F4B18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5720" rIns="0" bIns="0" rtlCol="0" anchor="t"/>
            <a:lstStyle/>
            <a:p>
              <a:pPr algn="ctr"/>
              <a:r>
                <a:rPr lang="en-US" sz="1100" dirty="0"/>
                <a:t>🛢️</a:t>
              </a:r>
              <a:r>
                <a:rPr lang="en-US" sz="900" b="1" dirty="0"/>
                <a:t> </a:t>
              </a:r>
              <a:r>
                <a:rPr lang="en-US" sz="1200" b="1" dirty="0"/>
                <a:t>DB</a:t>
              </a:r>
            </a:p>
            <a:p>
              <a:pPr marL="171450" indent="-91440">
                <a:buFont typeface="Arial" panose="020B0604020202020204" pitchFamily="34" charset="0"/>
                <a:buChar char="•"/>
              </a:pPr>
              <a:r>
                <a:rPr lang="en-US" sz="900" dirty="0"/>
                <a:t>xbrl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6A4713F-5E88-B7D3-0663-9307B4B51563}"/>
              </a:ext>
            </a:extLst>
          </p:cNvPr>
          <p:cNvCxnSpPr>
            <a:cxnSpLocks/>
          </p:cNvCxnSpPr>
          <p:nvPr/>
        </p:nvCxnSpPr>
        <p:spPr>
          <a:xfrm flipH="1">
            <a:off x="5483381" y="2835020"/>
            <a:ext cx="909930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AD8693A-2225-9F20-4278-50FD31AD2C77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7504196" y="1588393"/>
            <a:ext cx="496007" cy="6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8737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C19C9-B69E-A21D-EA73-F65929C00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Rectangle 148">
            <a:extLst>
              <a:ext uri="{FF2B5EF4-FFF2-40B4-BE49-F238E27FC236}">
                <a16:creationId xmlns:a16="http://schemas.microsoft.com/office/drawing/2014/main" id="{FC10E233-D5E2-651A-1038-DCBEB7367256}"/>
              </a:ext>
            </a:extLst>
          </p:cNvPr>
          <p:cNvSpPr/>
          <p:nvPr/>
        </p:nvSpPr>
        <p:spPr>
          <a:xfrm>
            <a:off x="1302897" y="1034541"/>
            <a:ext cx="9349530" cy="2729851"/>
          </a:xfrm>
          <a:prstGeom prst="rect">
            <a:avLst/>
          </a:prstGeom>
          <a:solidFill>
            <a:srgbClr val="B17ED8">
              <a:alpha val="3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Query Pipeline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79C5CE47-1E8E-0C99-067C-C5B392C14A2E}"/>
              </a:ext>
            </a:extLst>
          </p:cNvPr>
          <p:cNvSpPr/>
          <p:nvPr/>
        </p:nvSpPr>
        <p:spPr>
          <a:xfrm>
            <a:off x="4126489" y="1735056"/>
            <a:ext cx="6406921" cy="1691989"/>
          </a:xfrm>
          <a:prstGeom prst="rect">
            <a:avLst/>
          </a:prstGeom>
          <a:solidFill>
            <a:schemeClr val="bg1">
              <a:alpha val="3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600" dirty="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6DB44C7-7895-8DDF-DAFC-DEFEF8F7178B}"/>
              </a:ext>
            </a:extLst>
          </p:cNvPr>
          <p:cNvSpPr txBox="1"/>
          <p:nvPr/>
        </p:nvSpPr>
        <p:spPr>
          <a:xfrm>
            <a:off x="3139381" y="1537574"/>
            <a:ext cx="9497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AnswerView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Refusal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AskRecord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03F9E9-32FA-82BB-BEE9-63DFD82299FF}"/>
              </a:ext>
            </a:extLst>
          </p:cNvPr>
          <p:cNvSpPr txBox="1"/>
          <p:nvPr/>
        </p:nvSpPr>
        <p:spPr>
          <a:xfrm>
            <a:off x="-27740" y="3111381"/>
            <a:ext cx="1330636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Query String</a:t>
            </a:r>
          </a:p>
        </p:txBody>
      </p:sp>
      <p:sp>
        <p:nvSpPr>
          <p:cNvPr id="8" name="Title 1024">
            <a:extLst>
              <a:ext uri="{FF2B5EF4-FFF2-40B4-BE49-F238E27FC236}">
                <a16:creationId xmlns:a16="http://schemas.microsoft.com/office/drawing/2014/main" id="{EDFDF07F-6649-2322-EA71-954A0A2B68B1}"/>
              </a:ext>
            </a:extLst>
          </p:cNvPr>
          <p:cNvSpPr txBox="1">
            <a:spLocks/>
          </p:cNvSpPr>
          <p:nvPr/>
        </p:nvSpPr>
        <p:spPr>
          <a:xfrm>
            <a:off x="115734" y="64032"/>
            <a:ext cx="6631754" cy="47695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Query Phase (Query Pipeline)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1DC958C-D4FA-DCDD-139A-67A8C909CAEA}"/>
              </a:ext>
            </a:extLst>
          </p:cNvPr>
          <p:cNvSpPr/>
          <p:nvPr/>
        </p:nvSpPr>
        <p:spPr>
          <a:xfrm>
            <a:off x="1883458" y="1502537"/>
            <a:ext cx="1074329" cy="210034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Job Chain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Manages pipeline for query response. 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Compiles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Outcome</a:t>
            </a:r>
            <a:r>
              <a:rPr lang="en-US" sz="800" dirty="0"/>
              <a:t> from answers, refusals, and clarifications.</a:t>
            </a:r>
            <a:endParaRPr lang="en-US" sz="1600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54153D7-C55D-54D0-9FFC-9393D9882ABA}"/>
              </a:ext>
            </a:extLst>
          </p:cNvPr>
          <p:cNvCxnSpPr>
            <a:cxnSpLocks/>
          </p:cNvCxnSpPr>
          <p:nvPr/>
        </p:nvCxnSpPr>
        <p:spPr>
          <a:xfrm flipH="1">
            <a:off x="1046589" y="3196020"/>
            <a:ext cx="835607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1351D387-E38A-B197-5008-2F88EDCFA812}"/>
              </a:ext>
            </a:extLst>
          </p:cNvPr>
          <p:cNvSpPr txBox="1"/>
          <p:nvPr/>
        </p:nvSpPr>
        <p:spPr>
          <a:xfrm>
            <a:off x="362030" y="1927809"/>
            <a:ext cx="81649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Outcome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74DC7D7-33A0-A995-F27E-B00D4774DD4C}"/>
              </a:ext>
            </a:extLst>
          </p:cNvPr>
          <p:cNvCxnSpPr>
            <a:cxnSpLocks/>
          </p:cNvCxnSpPr>
          <p:nvPr/>
        </p:nvCxnSpPr>
        <p:spPr>
          <a:xfrm>
            <a:off x="1046589" y="2008601"/>
            <a:ext cx="835607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0C56EF47-A4ED-F0F2-A51A-EF1B100C8689}"/>
              </a:ext>
            </a:extLst>
          </p:cNvPr>
          <p:cNvSpPr/>
          <p:nvPr/>
        </p:nvSpPr>
        <p:spPr>
          <a:xfrm>
            <a:off x="9266583" y="1882438"/>
            <a:ext cx="1101061" cy="141012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Presenter</a:t>
            </a:r>
            <a:endParaRPr lang="en-US" sz="1400" dirty="0"/>
          </a:p>
          <a:p>
            <a:pPr algn="ctr"/>
            <a:r>
              <a:rPr lang="en-US" sz="1100" u="sng" dirty="0"/>
              <a:t>app/presenter/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Formats results for viewing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79EAFD57-6D17-2C34-F219-9BD0FABD8E29}"/>
              </a:ext>
            </a:extLst>
          </p:cNvPr>
          <p:cNvSpPr/>
          <p:nvPr/>
        </p:nvSpPr>
        <p:spPr>
          <a:xfrm>
            <a:off x="4312076" y="1882438"/>
            <a:ext cx="1102254" cy="141012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Parser</a:t>
            </a:r>
            <a:endParaRPr lang="en-US" sz="1100" dirty="0"/>
          </a:p>
          <a:p>
            <a:pPr algn="ctr"/>
            <a:r>
              <a:rPr lang="en-US" sz="1100" u="sng" dirty="0"/>
              <a:t>app/parser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Converts user string to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  <a:r>
              <a:rPr lang="en-US" sz="800" dirty="0"/>
              <a:t> object </a:t>
            </a:r>
          </a:p>
          <a:p>
            <a:pPr algn="ctr"/>
            <a:r>
              <a:rPr lang="en-US" sz="800" dirty="0"/>
              <a:t>(via Qwen)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50886A4E-E86C-428F-612D-C74CE6466DE7}"/>
              </a:ext>
            </a:extLst>
          </p:cNvPr>
          <p:cNvSpPr/>
          <p:nvPr/>
        </p:nvSpPr>
        <p:spPr>
          <a:xfrm>
            <a:off x="5932835" y="1882438"/>
            <a:ext cx="1102254" cy="141012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Mapper</a:t>
            </a:r>
            <a:endParaRPr lang="en-US" sz="1100" dirty="0"/>
          </a:p>
          <a:p>
            <a:pPr algn="ctr"/>
            <a:r>
              <a:rPr lang="en-US" sz="1100" u="sng" dirty="0"/>
              <a:t>app/semantic</a:t>
            </a:r>
          </a:p>
          <a:p>
            <a:pPr algn="ctr"/>
            <a:endParaRPr lang="en-US" sz="800" dirty="0"/>
          </a:p>
          <a:p>
            <a:pPr algn="ctr"/>
            <a:r>
              <a:rPr lang="en-US" sz="700" dirty="0"/>
              <a:t>Normalizes </a:t>
            </a:r>
            <a:r>
              <a:rPr lang="en-US" sz="7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  <a:r>
              <a:rPr lang="en-US" sz="700" dirty="0"/>
              <a:t> (via aliases, embedding distances, etc…) to what is retrievable from the database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305B2E4-C5C8-9D29-7F0C-C63FBEE98E0D}"/>
              </a:ext>
            </a:extLst>
          </p:cNvPr>
          <p:cNvSpPr/>
          <p:nvPr/>
        </p:nvSpPr>
        <p:spPr>
          <a:xfrm>
            <a:off x="7588964" y="1882438"/>
            <a:ext cx="1094086" cy="141012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Query</a:t>
            </a:r>
            <a:br>
              <a:rPr lang="en-US" sz="1600" dirty="0"/>
            </a:br>
            <a:r>
              <a:rPr lang="en-US" sz="1600" dirty="0"/>
              <a:t>Executor</a:t>
            </a:r>
            <a:endParaRPr lang="en-US" sz="1400" dirty="0"/>
          </a:p>
          <a:p>
            <a:pPr algn="ctr"/>
            <a:r>
              <a:rPr lang="en-US" sz="1100" u="sng" dirty="0"/>
              <a:t>app/retrieval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Generates SQL to execute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</a:t>
            </a:r>
            <a:r>
              <a:rPr lang="en-US" sz="800" dirty="0"/>
              <a:t> (via Qwen), sanitizes then executes SQL</a:t>
            </a: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526B9B01-14C7-4EA9-2BF8-16F291CA728B}"/>
              </a:ext>
            </a:extLst>
          </p:cNvPr>
          <p:cNvCxnSpPr>
            <a:cxnSpLocks/>
            <a:stCxn id="100" idx="1"/>
            <a:endCxn id="99" idx="3"/>
          </p:cNvCxnSpPr>
          <p:nvPr/>
        </p:nvCxnSpPr>
        <p:spPr>
          <a:xfrm flipH="1">
            <a:off x="7035089" y="2587501"/>
            <a:ext cx="553875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52D95B39-4184-507F-6CDC-3A9A0D40555D}"/>
              </a:ext>
            </a:extLst>
          </p:cNvPr>
          <p:cNvCxnSpPr>
            <a:cxnSpLocks/>
            <a:stCxn id="99" idx="1"/>
            <a:endCxn id="98" idx="3"/>
          </p:cNvCxnSpPr>
          <p:nvPr/>
        </p:nvCxnSpPr>
        <p:spPr>
          <a:xfrm flipH="1">
            <a:off x="5414330" y="2587501"/>
            <a:ext cx="518505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EB5FCE78-0C7F-DC8A-1BC1-3BE31142800C}"/>
              </a:ext>
            </a:extLst>
          </p:cNvPr>
          <p:cNvSpPr txBox="1"/>
          <p:nvPr/>
        </p:nvSpPr>
        <p:spPr>
          <a:xfrm>
            <a:off x="7069957" y="2427092"/>
            <a:ext cx="615163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3580DDF-EF18-2F5B-FEF1-4B4FDF01DAA4}"/>
              </a:ext>
            </a:extLst>
          </p:cNvPr>
          <p:cNvSpPr txBox="1"/>
          <p:nvPr/>
        </p:nvSpPr>
        <p:spPr>
          <a:xfrm>
            <a:off x="5514092" y="2427167"/>
            <a:ext cx="346693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C41C8D15-08E1-B59C-AD42-44A99A8B3675}"/>
              </a:ext>
            </a:extLst>
          </p:cNvPr>
          <p:cNvCxnSpPr>
            <a:cxnSpLocks/>
          </p:cNvCxnSpPr>
          <p:nvPr/>
        </p:nvCxnSpPr>
        <p:spPr>
          <a:xfrm flipH="1">
            <a:off x="8682157" y="2585880"/>
            <a:ext cx="5844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438F6DBD-DA3E-B858-D65A-4EAC4420210F}"/>
              </a:ext>
            </a:extLst>
          </p:cNvPr>
          <p:cNvSpPr txBox="1"/>
          <p:nvPr/>
        </p:nvSpPr>
        <p:spPr>
          <a:xfrm>
            <a:off x="8717025" y="2425471"/>
            <a:ext cx="615163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ResultSet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357D60AF-37F0-18F2-6712-57B5468B443B}"/>
              </a:ext>
            </a:extLst>
          </p:cNvPr>
          <p:cNvCxnSpPr>
            <a:cxnSpLocks/>
          </p:cNvCxnSpPr>
          <p:nvPr/>
        </p:nvCxnSpPr>
        <p:spPr>
          <a:xfrm>
            <a:off x="2957787" y="2008600"/>
            <a:ext cx="1168702" cy="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A9562065-B2DB-5424-8209-2E6AD267DD08}"/>
              </a:ext>
            </a:extLst>
          </p:cNvPr>
          <p:cNvCxnSpPr>
            <a:cxnSpLocks/>
          </p:cNvCxnSpPr>
          <p:nvPr/>
        </p:nvCxnSpPr>
        <p:spPr>
          <a:xfrm>
            <a:off x="2957787" y="3196019"/>
            <a:ext cx="1168702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C1384186-620F-14A6-A147-03D5B321C543}"/>
              </a:ext>
            </a:extLst>
          </p:cNvPr>
          <p:cNvSpPr txBox="1"/>
          <p:nvPr/>
        </p:nvSpPr>
        <p:spPr>
          <a:xfrm>
            <a:off x="3321095" y="3196019"/>
            <a:ext cx="503037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Query</a:t>
            </a:r>
          </a:p>
          <a:p>
            <a:pPr algn="ctr"/>
            <a:r>
              <a:rPr lang="en-US" dirty="0"/>
              <a:t>String</a:t>
            </a:r>
          </a:p>
        </p:txBody>
      </p:sp>
      <p:sp>
        <p:nvSpPr>
          <p:cNvPr id="131" name="Flowchart: Off-page Connector 130">
            <a:extLst>
              <a:ext uri="{FF2B5EF4-FFF2-40B4-BE49-F238E27FC236}">
                <a16:creationId xmlns:a16="http://schemas.microsoft.com/office/drawing/2014/main" id="{326A38D6-2ACC-CD3A-719A-B4C908A9A4AD}"/>
              </a:ext>
            </a:extLst>
          </p:cNvPr>
          <p:cNvSpPr/>
          <p:nvPr/>
        </p:nvSpPr>
        <p:spPr>
          <a:xfrm rot="16200000">
            <a:off x="1621026" y="2892143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5E639E39-B3A4-01ED-988B-718A368346BE}"/>
              </a:ext>
            </a:extLst>
          </p:cNvPr>
          <p:cNvSpPr/>
          <p:nvPr/>
        </p:nvSpPr>
        <p:spPr>
          <a:xfrm rot="16200000">
            <a:off x="7518123" y="1844331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F05350B0-5BD2-7A59-7FA5-D942D9417DB4}"/>
              </a:ext>
            </a:extLst>
          </p:cNvPr>
          <p:cNvSpPr/>
          <p:nvPr/>
        </p:nvSpPr>
        <p:spPr>
          <a:xfrm rot="16200000">
            <a:off x="5870446" y="1844331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35" name="Flowchart: Off-page Connector 134">
            <a:extLst>
              <a:ext uri="{FF2B5EF4-FFF2-40B4-BE49-F238E27FC236}">
                <a16:creationId xmlns:a16="http://schemas.microsoft.com/office/drawing/2014/main" id="{9FC44CE4-17CF-A95B-CBF1-1E3607ED01CF}"/>
              </a:ext>
            </a:extLst>
          </p:cNvPr>
          <p:cNvSpPr/>
          <p:nvPr/>
        </p:nvSpPr>
        <p:spPr>
          <a:xfrm rot="16200000">
            <a:off x="4214640" y="1844332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37" name="Flowchart: Off-page Connector 136">
            <a:extLst>
              <a:ext uri="{FF2B5EF4-FFF2-40B4-BE49-F238E27FC236}">
                <a16:creationId xmlns:a16="http://schemas.microsoft.com/office/drawing/2014/main" id="{5ABECD12-6462-9C9C-9279-3CBD2EDAE57E}"/>
              </a:ext>
            </a:extLst>
          </p:cNvPr>
          <p:cNvSpPr/>
          <p:nvPr/>
        </p:nvSpPr>
        <p:spPr>
          <a:xfrm>
            <a:off x="3479171" y="1268120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154" name="Flowchart: Off-page Connector 153">
            <a:extLst>
              <a:ext uri="{FF2B5EF4-FFF2-40B4-BE49-F238E27FC236}">
                <a16:creationId xmlns:a16="http://schemas.microsoft.com/office/drawing/2014/main" id="{E85C4C68-30E6-2816-1340-D29C5B1FD405}"/>
              </a:ext>
            </a:extLst>
          </p:cNvPr>
          <p:cNvSpPr/>
          <p:nvPr/>
        </p:nvSpPr>
        <p:spPr>
          <a:xfrm rot="16200000">
            <a:off x="9192071" y="1844331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170" name="Flowchart: Off-page Connector 169">
            <a:extLst>
              <a:ext uri="{FF2B5EF4-FFF2-40B4-BE49-F238E27FC236}">
                <a16:creationId xmlns:a16="http://schemas.microsoft.com/office/drawing/2014/main" id="{F0F81F5A-6138-7379-514D-1EC2C93DE62E}"/>
              </a:ext>
            </a:extLst>
          </p:cNvPr>
          <p:cNvSpPr/>
          <p:nvPr/>
        </p:nvSpPr>
        <p:spPr>
          <a:xfrm>
            <a:off x="553758" y="1694983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8</a:t>
            </a:r>
          </a:p>
        </p:txBody>
      </p:sp>
      <p:sp>
        <p:nvSpPr>
          <p:cNvPr id="171" name="Flowchart: Off-page Connector 170">
            <a:extLst>
              <a:ext uri="{FF2B5EF4-FFF2-40B4-BE49-F238E27FC236}">
                <a16:creationId xmlns:a16="http://schemas.microsoft.com/office/drawing/2014/main" id="{14306686-A043-2F61-D21D-D555F01B689C}"/>
              </a:ext>
            </a:extLst>
          </p:cNvPr>
          <p:cNvSpPr/>
          <p:nvPr/>
        </p:nvSpPr>
        <p:spPr>
          <a:xfrm>
            <a:off x="3479171" y="2955615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199952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28835</TotalTime>
  <Words>521</Words>
  <Application>Microsoft Office PowerPoint</Application>
  <PresentationFormat>Widescreen</PresentationFormat>
  <Paragraphs>199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Adobe Gothic Std B</vt:lpstr>
      <vt:lpstr>Arial</vt:lpstr>
      <vt:lpstr>Calibri</vt:lpstr>
      <vt:lpstr>Calibri Light</vt:lpstr>
      <vt:lpstr>Office Theme</vt:lpstr>
      <vt:lpstr>Priming Phase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55</cp:revision>
  <dcterms:created xsi:type="dcterms:W3CDTF">2026-08-29T16:39:18Z</dcterms:created>
  <dcterms:modified xsi:type="dcterms:W3CDTF">2026-09-30T01:28:09Z</dcterms:modified>
</cp:coreProperties>
</file>